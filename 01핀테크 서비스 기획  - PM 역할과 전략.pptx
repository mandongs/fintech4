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73" r:id="rId1"/>
  </p:sldMasterIdLst>
  <p:notesMasterIdLst>
    <p:notesMasterId r:id="rId2"/>
  </p:notesMasterIdLst>
  <p:sldIdLst>
    <p:sldId id="256" r:id="rId3"/>
    <p:sldId id="310" r:id="rId4"/>
    <p:sldId id="318" r:id="rId5"/>
    <p:sldId id="319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259" r:id="rId15"/>
    <p:sldId id="288" r:id="rId16"/>
    <p:sldId id="333" r:id="rId17"/>
    <p:sldId id="334" r:id="rId18"/>
    <p:sldId id="336" r:id="rId19"/>
    <p:sldId id="337" r:id="rId20"/>
    <p:sldId id="290" r:id="rId21"/>
    <p:sldId id="339" r:id="rId22"/>
    <p:sldId id="292" r:id="rId23"/>
    <p:sldId id="293" r:id="rId24"/>
    <p:sldId id="294" r:id="rId25"/>
    <p:sldId id="340" r:id="rId26"/>
    <p:sldId id="301" r:id="rId27"/>
    <p:sldId id="341" r:id="rId28"/>
    <p:sldId id="297" r:id="rId29"/>
    <p:sldId id="380" r:id="rId30"/>
    <p:sldId id="381" r:id="rId31"/>
    <p:sldId id="388" r:id="rId32"/>
    <p:sldId id="391" r:id="rId33"/>
    <p:sldId id="382" r:id="rId34"/>
    <p:sldId id="383" r:id="rId35"/>
    <p:sldId id="384" r:id="rId36"/>
    <p:sldId id="385" r:id="rId37"/>
    <p:sldId id="386" r:id="rId38"/>
    <p:sldId id="387" r:id="rId39"/>
    <p:sldId id="390" r:id="rId40"/>
    <p:sldId id="379" r:id="rId41"/>
    <p:sldId id="342" r:id="rId42"/>
    <p:sldId id="265" r:id="rId43"/>
    <p:sldId id="267" r:id="rId44"/>
    <p:sldId id="302" r:id="rId45"/>
    <p:sldId id="268" r:id="rId46"/>
    <p:sldId id="344" r:id="rId47"/>
    <p:sldId id="269" r:id="rId48"/>
    <p:sldId id="270" r:id="rId49"/>
    <p:sldId id="346" r:id="rId50"/>
    <p:sldId id="303" r:id="rId51"/>
    <p:sldId id="347" r:id="rId52"/>
    <p:sldId id="275" r:id="rId53"/>
    <p:sldId id="348" r:id="rId54"/>
    <p:sldId id="304" r:id="rId55"/>
    <p:sldId id="349" r:id="rId56"/>
    <p:sldId id="276" r:id="rId57"/>
    <p:sldId id="305" r:id="rId58"/>
    <p:sldId id="350" r:id="rId59"/>
    <p:sldId id="351" r:id="rId60"/>
    <p:sldId id="271" r:id="rId61"/>
    <p:sldId id="352" r:id="rId62"/>
    <p:sldId id="273" r:id="rId63"/>
    <p:sldId id="353" r:id="rId64"/>
    <p:sldId id="274" r:id="rId65"/>
    <p:sldId id="272" r:id="rId66"/>
    <p:sldId id="354" r:id="rId67"/>
    <p:sldId id="355" r:id="rId68"/>
    <p:sldId id="306" r:id="rId69"/>
    <p:sldId id="307" r:id="rId70"/>
    <p:sldId id="358" r:id="rId71"/>
    <p:sldId id="357" r:id="rId72"/>
    <p:sldId id="360" r:id="rId73"/>
    <p:sldId id="359" r:id="rId74"/>
    <p:sldId id="370" r:id="rId75"/>
    <p:sldId id="371" r:id="rId76"/>
    <p:sldId id="372" r:id="rId77"/>
    <p:sldId id="363" r:id="rId78"/>
    <p:sldId id="373" r:id="rId79"/>
    <p:sldId id="264" r:id="rId80"/>
    <p:sldId id="365" r:id="rId81"/>
    <p:sldId id="366" r:id="rId82"/>
    <p:sldId id="367" r:id="rId83"/>
    <p:sldId id="364" r:id="rId84"/>
    <p:sldId id="369" r:id="rId85"/>
    <p:sldId id="375" r:id="rId86"/>
    <p:sldId id="374" r:id="rId87"/>
    <p:sldId id="345" r:id="rId88"/>
    <p:sldId id="368" r:id="rId89"/>
    <p:sldId id="278" r:id="rId90"/>
    <p:sldId id="279" r:id="rId91"/>
    <p:sldId id="311" r:id="rId92"/>
    <p:sldId id="312" r:id="rId93"/>
    <p:sldId id="314" r:id="rId94"/>
    <p:sldId id="315" r:id="rId95"/>
    <p:sldId id="317" r:id="rId96"/>
    <p:sldId id="316" r:id="rId97"/>
    <p:sldId id="392" r:id="rId9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138F972D-3A02-497A-9D08-DF27CF173CB4}" styleName="Generic Style 1- Body/Background Dark Color 1">
    <a:tblBg>
      <a:fillRef idx="2">
        <a:schemeClr val="dk1"/>
      </a:fillRef>
      <a:effectRef idx="2">
        <a:schemeClr val="dk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dk1">
                  <a:shade val="61000"/>
                  <a:satMod val="130000"/>
                </a:schemeClr>
              </a:gs>
              <a:gs pos="50000">
                <a:schemeClr val="dk1">
                  <a:shade val="93000"/>
                  <a:satMod val="130000"/>
                </a:schemeClr>
              </a:gs>
              <a:gs pos="100000">
                <a:schemeClr val="dk1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  <a:tblStyle styleId="{CDE67981-C926-4AC7-AA08-ACFD1CD1FBA1}" styleName="Normal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40000" cmpd="sng">
              <a:solidFill>
                <a:schemeClr val="accent1"/>
              </a:solidFill>
            </a:ln>
          </a:left>
          <a:right>
            <a:ln w="40000" cmpd="sng">
              <a:solidFill>
                <a:schemeClr val="accent1"/>
              </a:solidFill>
            </a:ln>
          </a:right>
          <a:top>
            <a:ln w="40000" cmpd="sng">
              <a:solidFill>
                <a:schemeClr val="accent1"/>
              </a:solidFill>
            </a:ln>
          </a:top>
          <a:bottom>
            <a:ln w="400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5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5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>
          <a:shade val="80000"/>
        </a:schemeClr>
      </a:tcTxStyle>
      <a:tcStyle>
        <a:tcBdr>
          <a:bottom>
            <a:ln w="35400" cmpd="sng">
              <a:solidFill>
                <a:schemeClr val="accent1">
                  <a:shade val="80000"/>
                </a:schemeClr>
              </a:solidFill>
            </a:ln>
          </a:bottom>
        </a:tcBdr>
        <a:fill>
          <a:solidFill>
            <a:schemeClr val="accent1">
              <a:tint val="20000"/>
            </a:schemeClr>
          </a:solidFill>
        </a:fill>
      </a:tcStyle>
    </a:firstRow>
  </a:tblStyle>
  <a:tblStyle styleId="{1EDF2F87-84AD-4230-966E-E561DF79DAAB}" styleName="Generic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Ref idx="1">
              <a:schemeClr val="l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lt1"/>
            </a:lnRef>
          </a:top>
          <a:bottom>
            <a:lnRef idx="1">
              <a:schemeClr val="lt1"/>
            </a:lnRef>
          </a:bottom>
        </a:tcBdr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lt1"/>
            </a:lnRef>
          </a:left>
          <a:right>
            <a:lnRef idx="1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lt1"/>
            </a:lnRef>
          </a:left>
          <a:right>
            <a:lnRef idx="2">
              <a:schemeClr val="lt1"/>
            </a:lnRef>
          </a:right>
          <a:top>
            <a:lnRef idx="1">
              <a:schemeClr val="lt1"/>
            </a:lnRef>
          </a:top>
          <a:bottom>
            <a:lnRef idx="1">
              <a:schemeClr val="lt1"/>
            </a:lnRef>
          </a:bottom>
          <a:insideH>
            <a:lnRef idx="1">
              <a:schemeClr val="l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lt1"/>
            </a:lnRef>
          </a:left>
          <a:right>
            <a:lnRef idx="1">
              <a:schemeClr val="lt1"/>
            </a:lnRef>
          </a:right>
          <a:top>
            <a:lnRef idx="2">
              <a:schemeClr val="l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3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gradFill rotWithShape="1">
            <a:gsLst>
              <a:gs pos="0">
                <a:schemeClr val="accent1">
                  <a:shade val="61000"/>
                  <a:satMod val="130000"/>
                </a:schemeClr>
              </a:gs>
              <a:gs pos="5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9000"/>
                  <a:satMod val="135000"/>
                </a:schemeClr>
              </a:gs>
            </a:gsLst>
            <a:lin ang="16200000" scaled="0"/>
          </a:gra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1254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1617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00" Type="http://schemas.openxmlformats.org/officeDocument/2006/relationships/viewProps" Target="viewProps.xml"  /><Relationship Id="rId101" Type="http://schemas.openxmlformats.org/officeDocument/2006/relationships/theme" Target="theme/theme1.xml"  /><Relationship Id="rId102" Type="http://schemas.openxmlformats.org/officeDocument/2006/relationships/tableStyles" Target="tableStyles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slide" Target="slides/slide49.xml"  /><Relationship Id="rId52" Type="http://schemas.openxmlformats.org/officeDocument/2006/relationships/slide" Target="slides/slide50.xml"  /><Relationship Id="rId53" Type="http://schemas.openxmlformats.org/officeDocument/2006/relationships/slide" Target="slides/slide51.xml"  /><Relationship Id="rId54" Type="http://schemas.openxmlformats.org/officeDocument/2006/relationships/slide" Target="slides/slide52.xml"  /><Relationship Id="rId55" Type="http://schemas.openxmlformats.org/officeDocument/2006/relationships/slide" Target="slides/slide53.xml"  /><Relationship Id="rId56" Type="http://schemas.openxmlformats.org/officeDocument/2006/relationships/slide" Target="slides/slide54.xml"  /><Relationship Id="rId57" Type="http://schemas.openxmlformats.org/officeDocument/2006/relationships/slide" Target="slides/slide55.xml"  /><Relationship Id="rId58" Type="http://schemas.openxmlformats.org/officeDocument/2006/relationships/slide" Target="slides/slide56.xml"  /><Relationship Id="rId59" Type="http://schemas.openxmlformats.org/officeDocument/2006/relationships/slide" Target="slides/slide57.xml"  /><Relationship Id="rId6" Type="http://schemas.openxmlformats.org/officeDocument/2006/relationships/slide" Target="slides/slide4.xml"  /><Relationship Id="rId60" Type="http://schemas.openxmlformats.org/officeDocument/2006/relationships/slide" Target="slides/slide58.xml"  /><Relationship Id="rId61" Type="http://schemas.openxmlformats.org/officeDocument/2006/relationships/slide" Target="slides/slide59.xml"  /><Relationship Id="rId62" Type="http://schemas.openxmlformats.org/officeDocument/2006/relationships/slide" Target="slides/slide60.xml"  /><Relationship Id="rId63" Type="http://schemas.openxmlformats.org/officeDocument/2006/relationships/slide" Target="slides/slide61.xml"  /><Relationship Id="rId64" Type="http://schemas.openxmlformats.org/officeDocument/2006/relationships/slide" Target="slides/slide62.xml"  /><Relationship Id="rId65" Type="http://schemas.openxmlformats.org/officeDocument/2006/relationships/slide" Target="slides/slide63.xml"  /><Relationship Id="rId66" Type="http://schemas.openxmlformats.org/officeDocument/2006/relationships/slide" Target="slides/slide64.xml"  /><Relationship Id="rId67" Type="http://schemas.openxmlformats.org/officeDocument/2006/relationships/slide" Target="slides/slide65.xml"  /><Relationship Id="rId68" Type="http://schemas.openxmlformats.org/officeDocument/2006/relationships/slide" Target="slides/slide66.xml"  /><Relationship Id="rId69" Type="http://schemas.openxmlformats.org/officeDocument/2006/relationships/slide" Target="slides/slide67.xml"  /><Relationship Id="rId7" Type="http://schemas.openxmlformats.org/officeDocument/2006/relationships/slide" Target="slides/slide5.xml"  /><Relationship Id="rId70" Type="http://schemas.openxmlformats.org/officeDocument/2006/relationships/slide" Target="slides/slide68.xml"  /><Relationship Id="rId71" Type="http://schemas.openxmlformats.org/officeDocument/2006/relationships/slide" Target="slides/slide69.xml"  /><Relationship Id="rId72" Type="http://schemas.openxmlformats.org/officeDocument/2006/relationships/slide" Target="slides/slide70.xml"  /><Relationship Id="rId73" Type="http://schemas.openxmlformats.org/officeDocument/2006/relationships/slide" Target="slides/slide71.xml"  /><Relationship Id="rId74" Type="http://schemas.openxmlformats.org/officeDocument/2006/relationships/slide" Target="slides/slide72.xml"  /><Relationship Id="rId75" Type="http://schemas.openxmlformats.org/officeDocument/2006/relationships/slide" Target="slides/slide73.xml"  /><Relationship Id="rId76" Type="http://schemas.openxmlformats.org/officeDocument/2006/relationships/slide" Target="slides/slide74.xml"  /><Relationship Id="rId77" Type="http://schemas.openxmlformats.org/officeDocument/2006/relationships/slide" Target="slides/slide75.xml"  /><Relationship Id="rId78" Type="http://schemas.openxmlformats.org/officeDocument/2006/relationships/slide" Target="slides/slide76.xml"  /><Relationship Id="rId79" Type="http://schemas.openxmlformats.org/officeDocument/2006/relationships/slide" Target="slides/slide77.xml"  /><Relationship Id="rId8" Type="http://schemas.openxmlformats.org/officeDocument/2006/relationships/slide" Target="slides/slide6.xml"  /><Relationship Id="rId80" Type="http://schemas.openxmlformats.org/officeDocument/2006/relationships/slide" Target="slides/slide78.xml"  /><Relationship Id="rId81" Type="http://schemas.openxmlformats.org/officeDocument/2006/relationships/slide" Target="slides/slide79.xml"  /><Relationship Id="rId82" Type="http://schemas.openxmlformats.org/officeDocument/2006/relationships/slide" Target="slides/slide80.xml"  /><Relationship Id="rId83" Type="http://schemas.openxmlformats.org/officeDocument/2006/relationships/slide" Target="slides/slide81.xml"  /><Relationship Id="rId84" Type="http://schemas.openxmlformats.org/officeDocument/2006/relationships/slide" Target="slides/slide82.xml"  /><Relationship Id="rId85" Type="http://schemas.openxmlformats.org/officeDocument/2006/relationships/slide" Target="slides/slide83.xml"  /><Relationship Id="rId86" Type="http://schemas.openxmlformats.org/officeDocument/2006/relationships/slide" Target="slides/slide84.xml"  /><Relationship Id="rId87" Type="http://schemas.openxmlformats.org/officeDocument/2006/relationships/slide" Target="slides/slide85.xml"  /><Relationship Id="rId88" Type="http://schemas.openxmlformats.org/officeDocument/2006/relationships/slide" Target="slides/slide86.xml"  /><Relationship Id="rId89" Type="http://schemas.openxmlformats.org/officeDocument/2006/relationships/slide" Target="slides/slide87.xml"  /><Relationship Id="rId9" Type="http://schemas.openxmlformats.org/officeDocument/2006/relationships/slide" Target="slides/slide7.xml"  /><Relationship Id="rId90" Type="http://schemas.openxmlformats.org/officeDocument/2006/relationships/slide" Target="slides/slide88.xml"  /><Relationship Id="rId91" Type="http://schemas.openxmlformats.org/officeDocument/2006/relationships/slide" Target="slides/slide89.xml"  /><Relationship Id="rId92" Type="http://schemas.openxmlformats.org/officeDocument/2006/relationships/slide" Target="slides/slide90.xml"  /><Relationship Id="rId93" Type="http://schemas.openxmlformats.org/officeDocument/2006/relationships/slide" Target="slides/slide91.xml"  /><Relationship Id="rId94" Type="http://schemas.openxmlformats.org/officeDocument/2006/relationships/slide" Target="slides/slide92.xml"  /><Relationship Id="rId95" Type="http://schemas.openxmlformats.org/officeDocument/2006/relationships/slide" Target="slides/slide93.xml"  /><Relationship Id="rId96" Type="http://schemas.openxmlformats.org/officeDocument/2006/relationships/slide" Target="slides/slide94.xml"  /><Relationship Id="rId97" Type="http://schemas.openxmlformats.org/officeDocument/2006/relationships/slide" Target="slides/slide95.xml"  /><Relationship Id="rId98" Type="http://schemas.openxmlformats.org/officeDocument/2006/relationships/slide" Target="slides/slide96.xml"  /><Relationship Id="rId99" Type="http://schemas.openxmlformats.org/officeDocument/2006/relationships/presProps" Target="presProps.xml"  /></Relationships>
</file>

<file path=ppt/diagrams/colors1.xml><?xml version="1.0" encoding="utf-8"?>
<dgm:colorsDef xmlns:r="http://schemas.openxmlformats.org/officeDocument/2006/relationships" xmlns:a="http://schemas.openxmlformats.org/drawingml/2006/main" xmlns:dgm="http://schemas.openxmlformats.org/drawingml/2006/diagram" xmlns:dsp="http://schemas.microsoft.com/office/drawing/2008/diagram" uniqueId="urn:hancom.com/office/diagram/2020/4/colors/fill_1" minVer="http://schemas.openxmlformats.org/drawingml/2006/diagram">
  <dgm:title val="Fill - Accent 1"/>
  <dgm:title lang="ko-KR" val="채우기 - 강조색 1"/>
  <dgm:desc val=""/>
  <dgm:catLst>
    <dgm:cat type="fill" pri="111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r="http://schemas.openxmlformats.org/officeDocument/2006/relationships" xmlns:a="http://schemas.openxmlformats.org/drawingml/2006/main" xmlns:dgm="http://schemas.openxmlformats.org/drawingml/2006/diagram" xmlns:dsp="http://schemas.microsoft.com/office/drawing/2008/diagram" uniqueId="urn:hancom.com/office/diagram/2020/4/colors/fill_1" minVer="http://schemas.openxmlformats.org/drawingml/2006/diagram">
  <dgm:title val="Fill - Accent 1"/>
  <dgm:title lang="ko-KR" val="채우기 - 강조색 1"/>
  <dgm:desc val=""/>
  <dgm:catLst>
    <dgm:cat type="fill" pri="111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r="http://schemas.openxmlformats.org/officeDocument/2006/relationships" xmlns:a="http://schemas.openxmlformats.org/drawingml/2006/main" xmlns:dgm="http://schemas.openxmlformats.org/drawingml/2006/diagram" xmlns:dsp="http://schemas.microsoft.com/office/drawing/2008/diagram">
  <dgm:ptLst>
    <dgm:pt modelId="{D6DD0578-834E-463E-8D4B-797B947B7E8C}" type="doc">
      <dgm:prSet loTypeId="urn:hancom.com/office/diagram/2020/3/layout/timeline_1" loCatId="process" qsTypeId="urn:hancom.com/office/diagram/2020/4/quickstyle/fill_1" qsCatId="simple" csTypeId="urn:hancom.com/office/diagram/2020/4/colors/fill_1" csCatId="fill" phldr="1"/>
      <dgm:spPr/>
      <dgm:t>
        <a:bodyPr/>
        <a:lstStyle/>
        <a:p>
          <a:pPr latinLnBrk="1"/>
          <a:endParaRPr lang="ko-KR" altLang="en-US"/>
        </a:p>
      </dgm:t>
    </dgm:pt>
    <dgm:pt modelId="{E0B28088-8E0C-41D0-91D5-245A57C6B499}">
      <dgm:prSet phldrT="[내용]" phldr="0"/>
      <dgm:spPr/>
      <dgm:t>
        <a:bodyPr/>
        <a:lstStyle/>
        <a:p>
          <a:pPr latinLnBrk="1"/>
          <a:endParaRPr lang="ko-KR" altLang="en-US"/>
        </a:p>
      </dgm:t>
    </dgm:pt>
    <dgm:pt modelId="{C7C20941-12B0-4434-ABED-E4EB4E652549}" type="parTrans" cxnId="{D1D4EC96-0093-4A86-BADF-C0F474ABBC69}"/>
    <dgm:pt modelId="{94B4F296-5618-44A0-A0D6-D91876618FE8}" type="sibTrans" cxnId="{D1D4EC96-0093-4A86-BADF-C0F474ABBC69}"/>
    <dgm:pt modelId="{155930CF-7C8F-4B70-9AFE-FF2BE39BD871}">
      <dgm:prSet phldrT="[내용]" phldr="0"/>
      <dgm:spPr/>
      <dgm:t>
        <a:bodyPr/>
        <a:lstStyle/>
        <a:p>
          <a:pPr latinLnBrk="1"/>
          <a:endParaRPr lang="ko-KR" altLang="en-US"/>
        </a:p>
      </dgm:t>
    </dgm:pt>
    <dgm:pt modelId="{127A760F-F248-47F3-938D-1C483B06A673}" type="parTrans" cxnId="{7DE30716-D902-4B68-B384-2ED3DF1BDDCF}"/>
    <dgm:pt modelId="{5B9EE953-6E35-4641-A4F0-4047EB690296}" type="sibTrans" cxnId="{7DE30716-D902-4B68-B384-2ED3DF1BDDCF}"/>
    <dgm:pt modelId="{3598290D-AF82-4595-A19E-12BE1CF5C243}">
      <dgm:prSet phldrT="[내용]" phldr="0"/>
      <dgm:spPr/>
      <dgm:t>
        <a:bodyPr/>
        <a:lstStyle/>
        <a:p>
          <a:pPr latinLnBrk="1"/>
          <a:endParaRPr lang="ko-KR" altLang="en-US"/>
        </a:p>
      </dgm:t>
    </dgm:pt>
    <dgm:pt modelId="{173E3D89-E4A2-4DAB-8444-C8FEF961521C}" type="parTrans" cxnId="{59F4BF57-F2CF-464B-A828-CE64C2D6D872}"/>
    <dgm:pt modelId="{4FC04E0B-0425-42B3-9CF1-FEDC63D3F8FE}" type="sibTrans" cxnId="{59F4BF57-F2CF-464B-A828-CE64C2D6D872}"/>
    <dgm:pt modelId="{1E8F8E50-E3DA-4010-9E55-421D55186132}">
      <dgm:prSet phldrT="[내용]" phldr="0"/>
      <dgm:spPr/>
      <dgm:t>
        <a:bodyPr/>
        <a:lstStyle/>
        <a:p>
          <a:pPr latinLnBrk="1"/>
          <a:endParaRPr lang="ko-KR" altLang="en-US"/>
        </a:p>
      </dgm:t>
    </dgm:pt>
    <dgm:pt modelId="{37FA26B1-F6B4-4993-BC96-F64E73B8B608}" type="parTrans" cxnId="{6699CD2C-2BA1-4F32-9A72-E79763775996}"/>
    <dgm:pt modelId="{67B37F7E-04DC-44A1-8CA5-3ECDB3ACF583}" type="sibTrans" cxnId="{6699CD2C-2BA1-4F32-9A72-E79763775996}"/>
    <dgm:pt modelId="{28EB24B6-1D1B-449A-8420-1E7A619B781C}" type="pres">
      <dgm:prSet presAssocID="{D6DD0578-834E-463E-8D4B-797B947B7E8C}" presName="Name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D52AFB4-625D-40D4-B309-6F219EBCE826}" type="pres">
      <dgm:prSet presAssocID="{D6DD0578-834E-463E-8D4B-797B947B7E8C}" presName="arrow" presStyleLbl="bgShp" presStyleIdx="0" presStyleCnt="1"/>
      <dgm:spPr/>
      <dgm:t>
        <a:bodyPr/>
        <a:lstStyle/>
        <a:p>
          <a:pPr latinLnBrk="1"/>
          <a:endParaRPr lang="ko-KR" altLang="en-US"/>
        </a:p>
      </dgm:t>
    </dgm:pt>
    <dgm:pt modelId="{A0A81547-AD91-45ED-980C-DF2BDD62F81D}" type="pres">
      <dgm:prSet presAssocID="{D6DD0578-834E-463E-8D4B-797B947B7E8C}" presName="points"/>
      <dgm:spPr/>
      <dgm:t>
        <a:bodyPr/>
        <a:lstStyle/>
        <a:p>
          <a:pPr latinLnBrk="1"/>
          <a:endParaRPr lang="ko-KR" altLang="en-US"/>
        </a:p>
      </dgm:t>
    </dgm:pt>
    <dgm:pt modelId="{5FB0407D-B93A-4D34-BDE8-D046B86D6CB0}" type="pres">
      <dgm:prSet presAssocID="{E0B28088-8E0C-41D0-91D5-245A57C6B499}" presName="compositeA"/>
      <dgm:spPr/>
      <dgm:t>
        <a:bodyPr/>
        <a:lstStyle/>
        <a:p>
          <a:pPr latinLnBrk="1"/>
          <a:endParaRPr lang="ko-KR" altLang="en-US"/>
        </a:p>
      </dgm:t>
    </dgm:pt>
    <dgm:pt modelId="{B54E86B7-5E4F-41ED-83F9-6BD8C04AF75B}" type="pres">
      <dgm:prSet presAssocID="{E0B28088-8E0C-41D0-91D5-245A57C6B499}" presName="textA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C64C26E-A304-491D-9FCB-073F5C666C1D}" type="pres">
      <dgm:prSet presAssocID="{E0B28088-8E0C-41D0-91D5-245A57C6B499}" presName="barA" presStyleLbl="align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77D29952-E83E-4993-B3F8-A3795A8EDE38}" type="pres">
      <dgm:prSet presAssocID="{E0B28088-8E0C-41D0-91D5-245A57C6B499}" presName="circleA"/>
      <dgm:spPr/>
      <dgm:t>
        <a:bodyPr/>
        <a:lstStyle/>
        <a:p>
          <a:pPr latinLnBrk="1"/>
          <a:endParaRPr lang="ko-KR" altLang="en-US"/>
        </a:p>
      </dgm:t>
    </dgm:pt>
    <dgm:pt modelId="{8C62B7FA-DC60-4B27-9DCD-122612542AD7}" type="pres">
      <dgm:prSet presAssocID="{E0B28088-8E0C-41D0-91D5-245A57C6B499}" presName="spaceA"/>
      <dgm:spPr/>
      <dgm:t>
        <a:bodyPr/>
        <a:lstStyle/>
        <a:p>
          <a:pPr latinLnBrk="1"/>
          <a:endParaRPr lang="ko-KR" altLang="en-US"/>
        </a:p>
      </dgm:t>
    </dgm:pt>
    <dgm:pt modelId="{CD90E4A7-259D-4BD2-8C83-9BD5E2EB54F2}" type="pres">
      <dgm:prSet presAssocID="{94B4F296-5618-44A0-A0D6-D91876618FE8}" presName="space"/>
      <dgm:spPr/>
      <dgm:t>
        <a:bodyPr/>
        <a:lstStyle/>
        <a:p>
          <a:pPr latinLnBrk="1"/>
          <a:endParaRPr lang="ko-KR" altLang="en-US"/>
        </a:p>
      </dgm:t>
    </dgm:pt>
    <dgm:pt modelId="{CB4D18CF-CB40-4861-874E-D97A3DB29A6B}" type="pres">
      <dgm:prSet presAssocID="{155930CF-7C8F-4B70-9AFE-FF2BE39BD871}" presName="compositeB"/>
      <dgm:spPr/>
      <dgm:t>
        <a:bodyPr/>
        <a:lstStyle/>
        <a:p>
          <a:pPr latinLnBrk="1"/>
          <a:endParaRPr lang="ko-KR" altLang="en-US"/>
        </a:p>
      </dgm:t>
    </dgm:pt>
    <dgm:pt modelId="{BD9257E6-3793-4BCC-876F-D81A55CD2982}" type="pres">
      <dgm:prSet presAssocID="{155930CF-7C8F-4B70-9AFE-FF2BE39BD871}" presName="textB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6D0ED15-BC70-4902-A8D2-F32FFD7EE45C}" type="pres">
      <dgm:prSet presAssocID="{155930CF-7C8F-4B70-9AFE-FF2BE39BD871}" presName="barB" presStyleLbl="align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9FDD9197-F0B4-4540-9C09-82F2D6481BCB}" type="pres">
      <dgm:prSet presAssocID="{155930CF-7C8F-4B70-9AFE-FF2BE39BD871}" presName="circleB"/>
      <dgm:spPr/>
      <dgm:t>
        <a:bodyPr/>
        <a:lstStyle/>
        <a:p>
          <a:pPr latinLnBrk="1"/>
          <a:endParaRPr lang="ko-KR" altLang="en-US"/>
        </a:p>
      </dgm:t>
    </dgm:pt>
    <dgm:pt modelId="{A0C5C286-87EC-4357-99F5-F2A3460F02A5}" type="pres">
      <dgm:prSet presAssocID="{155930CF-7C8F-4B70-9AFE-FF2BE39BD871}" presName="spaceB"/>
      <dgm:spPr/>
      <dgm:t>
        <a:bodyPr/>
        <a:lstStyle/>
        <a:p>
          <a:pPr latinLnBrk="1"/>
          <a:endParaRPr lang="ko-KR" altLang="en-US"/>
        </a:p>
      </dgm:t>
    </dgm:pt>
    <dgm:pt modelId="{E528154F-2F1C-45A9-BCFD-351CFB5E7689}" type="pres">
      <dgm:prSet presAssocID="{5B9EE953-6E35-4641-A4F0-4047EB690296}" presName="space"/>
      <dgm:spPr/>
      <dgm:t>
        <a:bodyPr/>
        <a:lstStyle/>
        <a:p>
          <a:pPr latinLnBrk="1"/>
          <a:endParaRPr lang="ko-KR" altLang="en-US"/>
        </a:p>
      </dgm:t>
    </dgm:pt>
    <dgm:pt modelId="{C8F9A825-3F32-4260-89E5-2BC4B07939CC}" type="pres">
      <dgm:prSet presAssocID="{3598290D-AF82-4595-A19E-12BE1CF5C243}" presName="compositeA"/>
      <dgm:spPr/>
      <dgm:t>
        <a:bodyPr/>
        <a:lstStyle/>
        <a:p>
          <a:pPr latinLnBrk="1"/>
          <a:endParaRPr lang="ko-KR" altLang="en-US"/>
        </a:p>
      </dgm:t>
    </dgm:pt>
    <dgm:pt modelId="{77C2D720-6EDF-44E8-9E6E-2E13099560C3}" type="pres">
      <dgm:prSet presAssocID="{3598290D-AF82-4595-A19E-12BE1CF5C243}" presName="textA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71240DA-59F5-47A3-AC87-4C411B8B123A}" type="pres">
      <dgm:prSet presAssocID="{3598290D-AF82-4595-A19E-12BE1CF5C243}" presName="barA" presStyleLbl="align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6A87F185-ED60-4B57-A2B5-779E25271607}" type="pres">
      <dgm:prSet presAssocID="{3598290D-AF82-4595-A19E-12BE1CF5C243}" presName="circleA"/>
      <dgm:spPr/>
      <dgm:t>
        <a:bodyPr/>
        <a:lstStyle/>
        <a:p>
          <a:pPr latinLnBrk="1"/>
          <a:endParaRPr lang="ko-KR" altLang="en-US"/>
        </a:p>
      </dgm:t>
    </dgm:pt>
    <dgm:pt modelId="{91CAB268-7A1D-4028-AC7C-1E33946007C5}" type="pres">
      <dgm:prSet presAssocID="{3598290D-AF82-4595-A19E-12BE1CF5C243}" presName="spaceA"/>
      <dgm:spPr/>
      <dgm:t>
        <a:bodyPr/>
        <a:lstStyle/>
        <a:p>
          <a:pPr latinLnBrk="1"/>
          <a:endParaRPr lang="ko-KR" altLang="en-US"/>
        </a:p>
      </dgm:t>
    </dgm:pt>
    <dgm:pt modelId="{FC0ACB6E-F7A3-41D0-9D1D-A3C36C952D36}" type="pres">
      <dgm:prSet presAssocID="{4FC04E0B-0425-42B3-9CF1-FEDC63D3F8FE}" presName="space"/>
      <dgm:spPr/>
      <dgm:t>
        <a:bodyPr/>
        <a:lstStyle/>
        <a:p>
          <a:pPr latinLnBrk="1"/>
          <a:endParaRPr lang="ko-KR" altLang="en-US"/>
        </a:p>
      </dgm:t>
    </dgm:pt>
    <dgm:pt modelId="{894218F5-0A05-40DA-B51C-9697CD69542E}" type="pres">
      <dgm:prSet presAssocID="{1E8F8E50-E3DA-4010-9E55-421D55186132}" presName="compositeB"/>
      <dgm:spPr/>
      <dgm:t>
        <a:bodyPr/>
        <a:lstStyle/>
        <a:p>
          <a:pPr latinLnBrk="1"/>
          <a:endParaRPr lang="ko-KR" altLang="en-US"/>
        </a:p>
      </dgm:t>
    </dgm:pt>
    <dgm:pt modelId="{E04A29F7-48C5-4457-A676-EB809A1B79B0}" type="pres">
      <dgm:prSet presAssocID="{1E8F8E50-E3DA-4010-9E55-421D55186132}" presName="textB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A162D0B-EE48-4F54-B225-1F6F29CEC32F}" type="pres">
      <dgm:prSet presAssocID="{1E8F8E50-E3DA-4010-9E55-421D55186132}" presName="barB" presStyleLbl="alignNode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00B8256D-1C6A-477C-9D53-A4613B38ED7A}" type="pres">
      <dgm:prSet presAssocID="{1E8F8E50-E3DA-4010-9E55-421D55186132}" presName="circleB"/>
      <dgm:spPr/>
      <dgm:t>
        <a:bodyPr/>
        <a:lstStyle/>
        <a:p>
          <a:pPr latinLnBrk="1"/>
          <a:endParaRPr lang="ko-KR" altLang="en-US"/>
        </a:p>
      </dgm:t>
    </dgm:pt>
    <dgm:pt modelId="{5C310059-2ECB-469C-B1D1-00C3AEE6BEDC}" type="pres">
      <dgm:prSet presAssocID="{1E8F8E50-E3DA-4010-9E55-421D55186132}" presName="spaceB"/>
      <dgm:spPr/>
      <dgm:t>
        <a:bodyPr/>
        <a:lstStyle/>
        <a:p>
          <a:pPr latinLnBrk="1"/>
          <a:endParaRPr lang="ko-KR" altLang="en-US"/>
        </a:p>
      </dgm:t>
    </dgm:pt>
  </dgm:ptLst>
  <dgm:cxnLst>
    <dgm:cxn modelId="{D1D4EC96-0093-4A86-BADF-C0F474ABBC69}" srcId="{D6DD0578-834E-463E-8D4B-797B947B7E8C}" destId="{E0B28088-8E0C-41D0-91D5-245A57C6B499}" srcOrd="0" destOrd="0" parTransId="{C7C20941-12B0-4434-ABED-E4EB4E652549}" sibTransId="{94B4F296-5618-44A0-A0D6-D91876618FE8}"/>
    <dgm:cxn modelId="{7DE30716-D902-4B68-B384-2ED3DF1BDDCF}" srcId="{D6DD0578-834E-463E-8D4B-797B947B7E8C}" destId="{155930CF-7C8F-4B70-9AFE-FF2BE39BD871}" srcOrd="1" destOrd="0" parTransId="{127A760F-F248-47F3-938D-1C483B06A673}" sibTransId="{5B9EE953-6E35-4641-A4F0-4047EB690296}"/>
    <dgm:cxn modelId="{59F4BF57-F2CF-464B-A828-CE64C2D6D872}" srcId="{D6DD0578-834E-463E-8D4B-797B947B7E8C}" destId="{3598290D-AF82-4595-A19E-12BE1CF5C243}" srcOrd="2" destOrd="0" parTransId="{173E3D89-E4A2-4DAB-8444-C8FEF961521C}" sibTransId="{4FC04E0B-0425-42B3-9CF1-FEDC63D3F8FE}"/>
    <dgm:cxn modelId="{6699CD2C-2BA1-4F32-9A72-E79763775996}" srcId="{D6DD0578-834E-463E-8D4B-797B947B7E8C}" destId="{1E8F8E50-E3DA-4010-9E55-421D55186132}" srcOrd="3" destOrd="0" parTransId="{37FA26B1-F6B4-4993-BC96-F64E73B8B608}" sibTransId="{67B37F7E-04DC-44A1-8CA5-3ECDB3ACF583}"/>
    <dgm:cxn modelId="{09A5F2EE-B07C-4D6F-8D40-966560B8F617}" type="presParOf" srcId="{28EB24B6-1D1B-449A-8420-1E7A619B781C}" destId="{BD52AFB4-625D-40D4-B309-6F219EBCE826}" srcOrd="0" destOrd="0" presId="urn:hancom.com/office/diagram/2020/3/layout/timeline_1"/>
    <dgm:cxn modelId="{931049ED-6539-4547-942B-AB671E7891B1}" type="presParOf" srcId="{28EB24B6-1D1B-449A-8420-1E7A619B781C}" destId="{A0A81547-AD91-45ED-980C-DF2BDD62F81D}" srcOrd="1" destOrd="0" presId="urn:hancom.com/office/diagram/2020/3/layout/timeline_1"/>
    <dgm:cxn modelId="{2E1D924C-AB35-4F79-A5F3-3CECCC268CC4}" type="presParOf" srcId="{A0A81547-AD91-45ED-980C-DF2BDD62F81D}" destId="{5FB0407D-B93A-4D34-BDE8-D046B86D6CB0}" srcOrd="0" destOrd="0" presId="urn:hancom.com/office/diagram/2020/3/layout/timeline_1"/>
    <dgm:cxn modelId="{199BEA45-1AE8-4B23-9699-2346566D3DA4}" type="presParOf" srcId="{5FB0407D-B93A-4D34-BDE8-D046B86D6CB0}" destId="{B54E86B7-5E4F-41ED-83F9-6BD8C04AF75B}" srcOrd="0" destOrd="0" presId="urn:hancom.com/office/diagram/2020/3/layout/timeline_1"/>
    <dgm:cxn modelId="{D7784447-4C33-4F93-B91C-4E573400D3AF}" type="presParOf" srcId="{5FB0407D-B93A-4D34-BDE8-D046B86D6CB0}" destId="{3C64C26E-A304-491D-9FCB-073F5C666C1D}" srcOrd="1" destOrd="0" presId="urn:hancom.com/office/diagram/2020/3/layout/timeline_1"/>
    <dgm:cxn modelId="{0E177B9F-E856-4BA2-A2A6-4CFC0F89D014}" type="presParOf" srcId="{5FB0407D-B93A-4D34-BDE8-D046B86D6CB0}" destId="{77D29952-E83E-4993-B3F8-A3795A8EDE38}" srcOrd="2" destOrd="0" presId="urn:hancom.com/office/diagram/2020/3/layout/timeline_1"/>
    <dgm:cxn modelId="{74B8D42D-6A50-482D-8910-69A25E109615}" type="presParOf" srcId="{5FB0407D-B93A-4D34-BDE8-D046B86D6CB0}" destId="{8C62B7FA-DC60-4B27-9DCD-122612542AD7}" srcOrd="3" destOrd="0" presId="urn:hancom.com/office/diagram/2020/3/layout/timeline_1"/>
    <dgm:cxn modelId="{A36D93D5-DFB5-4E04-9B2A-C2F4663C9884}" type="presParOf" srcId="{A0A81547-AD91-45ED-980C-DF2BDD62F81D}" destId="{CD90E4A7-259D-4BD2-8C83-9BD5E2EB54F2}" srcOrd="1" destOrd="0" presId="urn:hancom.com/office/diagram/2020/3/layout/timeline_1"/>
    <dgm:cxn modelId="{46C53E09-152C-4807-B130-BC193707A18E}" type="presParOf" srcId="{A0A81547-AD91-45ED-980C-DF2BDD62F81D}" destId="{CB4D18CF-CB40-4861-874E-D97A3DB29A6B}" srcOrd="2" destOrd="0" presId="urn:hancom.com/office/diagram/2020/3/layout/timeline_1"/>
    <dgm:cxn modelId="{A27625EA-708B-43E4-A1A6-8FD07AADE0E1}" type="presParOf" srcId="{CB4D18CF-CB40-4861-874E-D97A3DB29A6B}" destId="{BD9257E6-3793-4BCC-876F-D81A55CD2982}" srcOrd="0" destOrd="0" presId="urn:hancom.com/office/diagram/2020/3/layout/timeline_1"/>
    <dgm:cxn modelId="{69B0AC2C-25E3-4F17-8AE2-6FD6D5A8B4A4}" type="presParOf" srcId="{CB4D18CF-CB40-4861-874E-D97A3DB29A6B}" destId="{06D0ED15-BC70-4902-A8D2-F32FFD7EE45C}" srcOrd="1" destOrd="0" presId="urn:hancom.com/office/diagram/2020/3/layout/timeline_1"/>
    <dgm:cxn modelId="{815B5CEA-5C85-46AB-911C-0B0F2E74FE54}" type="presParOf" srcId="{CB4D18CF-CB40-4861-874E-D97A3DB29A6B}" destId="{9FDD9197-F0B4-4540-9C09-82F2D6481BCB}" srcOrd="2" destOrd="0" presId="urn:hancom.com/office/diagram/2020/3/layout/timeline_1"/>
    <dgm:cxn modelId="{B1F93D55-B138-43BB-84FC-442152C563E4}" type="presParOf" srcId="{CB4D18CF-CB40-4861-874E-D97A3DB29A6B}" destId="{A0C5C286-87EC-4357-99F5-F2A3460F02A5}" srcOrd="3" destOrd="0" presId="urn:hancom.com/office/diagram/2020/3/layout/timeline_1"/>
    <dgm:cxn modelId="{7A3F8E39-EED2-415A-9BFC-26C635129DFE}" type="presParOf" srcId="{A0A81547-AD91-45ED-980C-DF2BDD62F81D}" destId="{E528154F-2F1C-45A9-BCFD-351CFB5E7689}" srcOrd="3" destOrd="0" presId="urn:hancom.com/office/diagram/2020/3/layout/timeline_1"/>
    <dgm:cxn modelId="{D2ACD662-6A40-43C3-96FB-0EDA9D2616D1}" type="presParOf" srcId="{A0A81547-AD91-45ED-980C-DF2BDD62F81D}" destId="{C8F9A825-3F32-4260-89E5-2BC4B07939CC}" srcOrd="4" destOrd="0" presId="urn:hancom.com/office/diagram/2020/3/layout/timeline_1"/>
    <dgm:cxn modelId="{BADB2280-590F-4A6D-B5EE-3D0F82FDB61E}" type="presParOf" srcId="{C8F9A825-3F32-4260-89E5-2BC4B07939CC}" destId="{77C2D720-6EDF-44E8-9E6E-2E13099560C3}" srcOrd="0" destOrd="0" presId="urn:hancom.com/office/diagram/2020/3/layout/timeline_1"/>
    <dgm:cxn modelId="{16183548-382F-4B42-A0F9-3BE6A93A020C}" type="presParOf" srcId="{C8F9A825-3F32-4260-89E5-2BC4B07939CC}" destId="{071240DA-59F5-47A3-AC87-4C411B8B123A}" srcOrd="1" destOrd="0" presId="urn:hancom.com/office/diagram/2020/3/layout/timeline_1"/>
    <dgm:cxn modelId="{43AC266B-BDFE-4EE2-8027-9D84D15936BC}" type="presParOf" srcId="{C8F9A825-3F32-4260-89E5-2BC4B07939CC}" destId="{6A87F185-ED60-4B57-A2B5-779E25271607}" srcOrd="2" destOrd="0" presId="urn:hancom.com/office/diagram/2020/3/layout/timeline_1"/>
    <dgm:cxn modelId="{47C4E22C-42FF-475B-B6A1-577AA69D1B11}" type="presParOf" srcId="{C8F9A825-3F32-4260-89E5-2BC4B07939CC}" destId="{91CAB268-7A1D-4028-AC7C-1E33946007C5}" srcOrd="3" destOrd="0" presId="urn:hancom.com/office/diagram/2020/3/layout/timeline_1"/>
    <dgm:cxn modelId="{B3D1C8F8-E697-4C10-B125-AD02CFE886E0}" type="presParOf" srcId="{A0A81547-AD91-45ED-980C-DF2BDD62F81D}" destId="{FC0ACB6E-F7A3-41D0-9D1D-A3C36C952D36}" srcOrd="5" destOrd="0" presId="urn:hancom.com/office/diagram/2020/3/layout/timeline_1"/>
    <dgm:cxn modelId="{1389A54C-6B9E-4DB5-99A2-0E62A1ABC463}" type="presParOf" srcId="{A0A81547-AD91-45ED-980C-DF2BDD62F81D}" destId="{894218F5-0A05-40DA-B51C-9697CD69542E}" srcOrd="6" destOrd="0" presId="urn:hancom.com/office/diagram/2020/3/layout/timeline_1"/>
    <dgm:cxn modelId="{9589F1C4-346E-4888-A233-8C8EAFE33A39}" type="presParOf" srcId="{894218F5-0A05-40DA-B51C-9697CD69542E}" destId="{E04A29F7-48C5-4457-A676-EB809A1B79B0}" srcOrd="0" destOrd="0" presId="urn:hancom.com/office/diagram/2020/3/layout/timeline_1"/>
    <dgm:cxn modelId="{EDAB708C-2898-4E4B-82A2-D44307D20B54}" type="presParOf" srcId="{894218F5-0A05-40DA-B51C-9697CD69542E}" destId="{8A162D0B-EE48-4F54-B225-1F6F29CEC32F}" srcOrd="1" destOrd="0" presId="urn:hancom.com/office/diagram/2020/3/layout/timeline_1"/>
    <dgm:cxn modelId="{9428F03E-39B6-4ED5-9525-DBA2B4D16082}" type="presParOf" srcId="{894218F5-0A05-40DA-B51C-9697CD69542E}" destId="{00B8256D-1C6A-477C-9D53-A4613B38ED7A}" srcOrd="2" destOrd="0" presId="urn:hancom.com/office/diagram/2020/3/layout/timeline_1"/>
    <dgm:cxn modelId="{32A9AE7E-C4E2-459C-88D6-072C4859434B}" type="presParOf" srcId="{894218F5-0A05-40DA-B51C-9697CD69542E}" destId="{5C310059-2ECB-469C-B1D1-00C3AEE6BEDC}" srcOrd="3" destOrd="0" presId="urn:hancom.com/office/diagram/2020/3/layout/timeline_1"/>
    <dgm:cxn modelId="{95FF5A4B-A455-4F8A-83A7-F0D483F8A06C}" type="presOf" srcId="{D6DD0578-834E-463E-8D4B-797B947B7E8C}" destId="{28EB24B6-1D1B-449A-8420-1E7A619B781C}" srcOrd="0" destOrd="0" presId="urn:hancom.com/office/diagram/2020/3/layout/timeline_1"/>
    <dgm:cxn modelId="{CEA944FB-10AF-4363-827F-9D3D497A0B88}" type="presOf" srcId="{E0B28088-8E0C-41D0-91D5-245A57C6B499}" destId="{B54E86B7-5E4F-41ED-83F9-6BD8C04AF75B}" srcOrd="0" destOrd="0" presId="urn:hancom.com/office/diagram/2020/3/layout/timeline_1"/>
    <dgm:cxn modelId="{E54D959F-0AA7-45E5-AE93-C4CBD2FDEFC8}" type="presOf" srcId="{155930CF-7C8F-4B70-9AFE-FF2BE39BD871}" destId="{BD9257E6-3793-4BCC-876F-D81A55CD2982}" srcOrd="0" destOrd="0" presId="urn:hancom.com/office/diagram/2020/3/layout/timeline_1"/>
    <dgm:cxn modelId="{3A126397-CF6B-4A85-808B-9E7BADAB81AA}" type="presOf" srcId="{3598290D-AF82-4595-A19E-12BE1CF5C243}" destId="{77C2D720-6EDF-44E8-9E6E-2E13099560C3}" srcOrd="0" destOrd="0" presId="urn:hancom.com/office/diagram/2020/3/layout/timeline_1"/>
    <dgm:cxn modelId="{7FA0F05B-D118-4323-B8CB-46F3C6BD3508}" type="presOf" srcId="{1E8F8E50-E3DA-4010-9E55-421D55186132}" destId="{E04A29F7-48C5-4457-A676-EB809A1B79B0}" srcOrd="0" destOrd="0" presId="urn:hancom.com/office/diagram/2020/3/layout/timeline_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r="http://schemas.openxmlformats.org/officeDocument/2006/relationships" xmlns:a="http://schemas.openxmlformats.org/drawingml/2006/main" xmlns:dgm="http://schemas.openxmlformats.org/drawingml/2006/diagram" xmlns:dsp="http://schemas.microsoft.com/office/drawing/2008/diagram">
  <dgm:ptLst>
    <dgm:pt modelId="{D6DD0578-834E-463E-8D4B-797B947B7E8C}" type="doc">
      <dgm:prSet loTypeId="urn:hancom.com/office/diagram/2020/3/layout/timeline_1" loCatId="process" qsTypeId="urn:hancom.com/office/diagram/2020/4/quickstyle/fill_1" qsCatId="simple" csTypeId="urn:hancom.com/office/diagram/2020/4/colors/fill_1" csCatId="fill" phldr="1"/>
      <dgm:spPr/>
      <dgm:t>
        <a:bodyPr/>
        <a:lstStyle/>
        <a:p>
          <a:pPr latinLnBrk="1"/>
          <a:endParaRPr lang="ko-KR" altLang="en-US"/>
        </a:p>
      </dgm:t>
    </dgm:pt>
    <dgm:pt modelId="{E0B28088-8E0C-41D0-91D5-245A57C6B499}">
      <dgm:prSet phldrT="[내용]" phldr="0"/>
      <dgm:spPr/>
      <dgm:t>
        <a:bodyPr/>
        <a:lstStyle/>
        <a:p>
          <a:pPr latinLnBrk="1"/>
          <a:endParaRPr lang="ko-KR" altLang="en-US"/>
        </a:p>
      </dgm:t>
    </dgm:pt>
    <dgm:pt modelId="{C7C20941-12B0-4434-ABED-E4EB4E652549}" type="parTrans" cxnId="{D1D4EC96-0093-4A86-BADF-C0F474ABBC69}"/>
    <dgm:pt modelId="{94B4F296-5618-44A0-A0D6-D91876618FE8}" type="sibTrans" cxnId="{D1D4EC96-0093-4A86-BADF-C0F474ABBC69}"/>
    <dgm:pt modelId="{155930CF-7C8F-4B70-9AFE-FF2BE39BD871}">
      <dgm:prSet phldrT="[내용]" phldr="0"/>
      <dgm:spPr/>
      <dgm:t>
        <a:bodyPr/>
        <a:lstStyle/>
        <a:p>
          <a:pPr latinLnBrk="1"/>
          <a:endParaRPr lang="ko-KR" altLang="en-US"/>
        </a:p>
      </dgm:t>
    </dgm:pt>
    <dgm:pt modelId="{127A760F-F248-47F3-938D-1C483B06A673}" type="parTrans" cxnId="{7DE30716-D902-4B68-B384-2ED3DF1BDDCF}"/>
    <dgm:pt modelId="{5B9EE953-6E35-4641-A4F0-4047EB690296}" type="sibTrans" cxnId="{7DE30716-D902-4B68-B384-2ED3DF1BDDCF}"/>
    <dgm:pt modelId="{3598290D-AF82-4595-A19E-12BE1CF5C243}">
      <dgm:prSet phldrT="[내용]" phldr="0"/>
      <dgm:spPr/>
      <dgm:t>
        <a:bodyPr/>
        <a:lstStyle/>
        <a:p>
          <a:pPr latinLnBrk="1"/>
          <a:endParaRPr lang="ko-KR" altLang="en-US"/>
        </a:p>
      </dgm:t>
    </dgm:pt>
    <dgm:pt modelId="{173E3D89-E4A2-4DAB-8444-C8FEF961521C}" type="parTrans" cxnId="{59F4BF57-F2CF-464B-A828-CE64C2D6D872}"/>
    <dgm:pt modelId="{4FC04E0B-0425-42B3-9CF1-FEDC63D3F8FE}" type="sibTrans" cxnId="{59F4BF57-F2CF-464B-A828-CE64C2D6D872}"/>
    <dgm:pt modelId="{1E8F8E50-E3DA-4010-9E55-421D55186132}">
      <dgm:prSet phldrT="[내용]" phldr="0"/>
      <dgm:spPr/>
      <dgm:t>
        <a:bodyPr/>
        <a:lstStyle/>
        <a:p>
          <a:pPr latinLnBrk="1"/>
          <a:endParaRPr lang="ko-KR" altLang="en-US"/>
        </a:p>
      </dgm:t>
    </dgm:pt>
    <dgm:pt modelId="{37FA26B1-F6B4-4993-BC96-F64E73B8B608}" type="parTrans" cxnId="{6699CD2C-2BA1-4F32-9A72-E79763775996}"/>
    <dgm:pt modelId="{67B37F7E-04DC-44A1-8CA5-3ECDB3ACF583}" type="sibTrans" cxnId="{6699CD2C-2BA1-4F32-9A72-E79763775996}"/>
    <dgm:pt modelId="{28EB24B6-1D1B-449A-8420-1E7A619B781C}" type="pres">
      <dgm:prSet presAssocID="{D6DD0578-834E-463E-8D4B-797B947B7E8C}" presName="Name0">
        <dgm:presLayoutVars>
          <dgm:dir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D52AFB4-625D-40D4-B309-6F219EBCE826}" type="pres">
      <dgm:prSet presAssocID="{D6DD0578-834E-463E-8D4B-797B947B7E8C}" presName="arrow" presStyleLbl="bgShp" presStyleIdx="0" presStyleCnt="1"/>
      <dgm:spPr/>
      <dgm:t>
        <a:bodyPr/>
        <a:lstStyle/>
        <a:p>
          <a:pPr latinLnBrk="1"/>
          <a:endParaRPr lang="ko-KR" altLang="en-US"/>
        </a:p>
      </dgm:t>
    </dgm:pt>
    <dgm:pt modelId="{A0A81547-AD91-45ED-980C-DF2BDD62F81D}" type="pres">
      <dgm:prSet presAssocID="{D6DD0578-834E-463E-8D4B-797B947B7E8C}" presName="points"/>
      <dgm:spPr/>
      <dgm:t>
        <a:bodyPr/>
        <a:lstStyle/>
        <a:p>
          <a:pPr latinLnBrk="1"/>
          <a:endParaRPr lang="ko-KR" altLang="en-US"/>
        </a:p>
      </dgm:t>
    </dgm:pt>
    <dgm:pt modelId="{5FB0407D-B93A-4D34-BDE8-D046B86D6CB0}" type="pres">
      <dgm:prSet presAssocID="{E0B28088-8E0C-41D0-91D5-245A57C6B499}" presName="compositeA"/>
      <dgm:spPr/>
      <dgm:t>
        <a:bodyPr/>
        <a:lstStyle/>
        <a:p>
          <a:pPr latinLnBrk="1"/>
          <a:endParaRPr lang="ko-KR" altLang="en-US"/>
        </a:p>
      </dgm:t>
    </dgm:pt>
    <dgm:pt modelId="{B54E86B7-5E4F-41ED-83F9-6BD8C04AF75B}" type="pres">
      <dgm:prSet presAssocID="{E0B28088-8E0C-41D0-91D5-245A57C6B499}" presName="textA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C64C26E-A304-491D-9FCB-073F5C666C1D}" type="pres">
      <dgm:prSet presAssocID="{E0B28088-8E0C-41D0-91D5-245A57C6B499}" presName="barA" presStyleLbl="align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77D29952-E83E-4993-B3F8-A3795A8EDE38}" type="pres">
      <dgm:prSet presAssocID="{E0B28088-8E0C-41D0-91D5-245A57C6B499}" presName="circleA"/>
      <dgm:spPr/>
      <dgm:t>
        <a:bodyPr/>
        <a:lstStyle/>
        <a:p>
          <a:pPr latinLnBrk="1"/>
          <a:endParaRPr lang="ko-KR" altLang="en-US"/>
        </a:p>
      </dgm:t>
    </dgm:pt>
    <dgm:pt modelId="{8C62B7FA-DC60-4B27-9DCD-122612542AD7}" type="pres">
      <dgm:prSet presAssocID="{E0B28088-8E0C-41D0-91D5-245A57C6B499}" presName="spaceA"/>
      <dgm:spPr/>
      <dgm:t>
        <a:bodyPr/>
        <a:lstStyle/>
        <a:p>
          <a:pPr latinLnBrk="1"/>
          <a:endParaRPr lang="ko-KR" altLang="en-US"/>
        </a:p>
      </dgm:t>
    </dgm:pt>
    <dgm:pt modelId="{CD90E4A7-259D-4BD2-8C83-9BD5E2EB54F2}" type="pres">
      <dgm:prSet presAssocID="{94B4F296-5618-44A0-A0D6-D91876618FE8}" presName="space"/>
      <dgm:spPr/>
      <dgm:t>
        <a:bodyPr/>
        <a:lstStyle/>
        <a:p>
          <a:pPr latinLnBrk="1"/>
          <a:endParaRPr lang="ko-KR" altLang="en-US"/>
        </a:p>
      </dgm:t>
    </dgm:pt>
    <dgm:pt modelId="{CB4D18CF-CB40-4861-874E-D97A3DB29A6B}" type="pres">
      <dgm:prSet presAssocID="{155930CF-7C8F-4B70-9AFE-FF2BE39BD871}" presName="compositeB"/>
      <dgm:spPr/>
      <dgm:t>
        <a:bodyPr/>
        <a:lstStyle/>
        <a:p>
          <a:pPr latinLnBrk="1"/>
          <a:endParaRPr lang="ko-KR" altLang="en-US"/>
        </a:p>
      </dgm:t>
    </dgm:pt>
    <dgm:pt modelId="{BD9257E6-3793-4BCC-876F-D81A55CD2982}" type="pres">
      <dgm:prSet presAssocID="{155930CF-7C8F-4B70-9AFE-FF2BE39BD871}" presName="textB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6D0ED15-BC70-4902-A8D2-F32FFD7EE45C}" type="pres">
      <dgm:prSet presAssocID="{155930CF-7C8F-4B70-9AFE-FF2BE39BD871}" presName="barB" presStyleLbl="align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9FDD9197-F0B4-4540-9C09-82F2D6481BCB}" type="pres">
      <dgm:prSet presAssocID="{155930CF-7C8F-4B70-9AFE-FF2BE39BD871}" presName="circleB"/>
      <dgm:spPr/>
      <dgm:t>
        <a:bodyPr/>
        <a:lstStyle/>
        <a:p>
          <a:pPr latinLnBrk="1"/>
          <a:endParaRPr lang="ko-KR" altLang="en-US"/>
        </a:p>
      </dgm:t>
    </dgm:pt>
    <dgm:pt modelId="{A0C5C286-87EC-4357-99F5-F2A3460F02A5}" type="pres">
      <dgm:prSet presAssocID="{155930CF-7C8F-4B70-9AFE-FF2BE39BD871}" presName="spaceB"/>
      <dgm:spPr/>
      <dgm:t>
        <a:bodyPr/>
        <a:lstStyle/>
        <a:p>
          <a:pPr latinLnBrk="1"/>
          <a:endParaRPr lang="ko-KR" altLang="en-US"/>
        </a:p>
      </dgm:t>
    </dgm:pt>
    <dgm:pt modelId="{E528154F-2F1C-45A9-BCFD-351CFB5E7689}" type="pres">
      <dgm:prSet presAssocID="{5B9EE953-6E35-4641-A4F0-4047EB690296}" presName="space"/>
      <dgm:spPr/>
      <dgm:t>
        <a:bodyPr/>
        <a:lstStyle/>
        <a:p>
          <a:pPr latinLnBrk="1"/>
          <a:endParaRPr lang="ko-KR" altLang="en-US"/>
        </a:p>
      </dgm:t>
    </dgm:pt>
    <dgm:pt modelId="{C8F9A825-3F32-4260-89E5-2BC4B07939CC}" type="pres">
      <dgm:prSet presAssocID="{3598290D-AF82-4595-A19E-12BE1CF5C243}" presName="compositeA"/>
      <dgm:spPr/>
      <dgm:t>
        <a:bodyPr/>
        <a:lstStyle/>
        <a:p>
          <a:pPr latinLnBrk="1"/>
          <a:endParaRPr lang="ko-KR" altLang="en-US"/>
        </a:p>
      </dgm:t>
    </dgm:pt>
    <dgm:pt modelId="{77C2D720-6EDF-44E8-9E6E-2E13099560C3}" type="pres">
      <dgm:prSet presAssocID="{3598290D-AF82-4595-A19E-12BE1CF5C243}" presName="textA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71240DA-59F5-47A3-AC87-4C411B8B123A}" type="pres">
      <dgm:prSet presAssocID="{3598290D-AF82-4595-A19E-12BE1CF5C243}" presName="barA" presStyleLbl="align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6A87F185-ED60-4B57-A2B5-779E25271607}" type="pres">
      <dgm:prSet presAssocID="{3598290D-AF82-4595-A19E-12BE1CF5C243}" presName="circleA"/>
      <dgm:spPr/>
      <dgm:t>
        <a:bodyPr/>
        <a:lstStyle/>
        <a:p>
          <a:pPr latinLnBrk="1"/>
          <a:endParaRPr lang="ko-KR" altLang="en-US"/>
        </a:p>
      </dgm:t>
    </dgm:pt>
    <dgm:pt modelId="{91CAB268-7A1D-4028-AC7C-1E33946007C5}" type="pres">
      <dgm:prSet presAssocID="{3598290D-AF82-4595-A19E-12BE1CF5C243}" presName="spaceA"/>
      <dgm:spPr/>
      <dgm:t>
        <a:bodyPr/>
        <a:lstStyle/>
        <a:p>
          <a:pPr latinLnBrk="1"/>
          <a:endParaRPr lang="ko-KR" altLang="en-US"/>
        </a:p>
      </dgm:t>
    </dgm:pt>
    <dgm:pt modelId="{FC0ACB6E-F7A3-41D0-9D1D-A3C36C952D36}" type="pres">
      <dgm:prSet presAssocID="{4FC04E0B-0425-42B3-9CF1-FEDC63D3F8FE}" presName="space"/>
      <dgm:spPr/>
      <dgm:t>
        <a:bodyPr/>
        <a:lstStyle/>
        <a:p>
          <a:pPr latinLnBrk="1"/>
          <a:endParaRPr lang="ko-KR" altLang="en-US"/>
        </a:p>
      </dgm:t>
    </dgm:pt>
    <dgm:pt modelId="{894218F5-0A05-40DA-B51C-9697CD69542E}" type="pres">
      <dgm:prSet presAssocID="{1E8F8E50-E3DA-4010-9E55-421D55186132}" presName="compositeB"/>
      <dgm:spPr/>
      <dgm:t>
        <a:bodyPr/>
        <a:lstStyle/>
        <a:p>
          <a:pPr latinLnBrk="1"/>
          <a:endParaRPr lang="ko-KR" altLang="en-US"/>
        </a:p>
      </dgm:t>
    </dgm:pt>
    <dgm:pt modelId="{E04A29F7-48C5-4457-A676-EB809A1B79B0}" type="pres">
      <dgm:prSet presAssocID="{1E8F8E50-E3DA-4010-9E55-421D55186132}" presName="textB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A162D0B-EE48-4F54-B225-1F6F29CEC32F}" type="pres">
      <dgm:prSet presAssocID="{1E8F8E50-E3DA-4010-9E55-421D55186132}" presName="barB" presStyleLbl="alignNode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00B8256D-1C6A-477C-9D53-A4613B38ED7A}" type="pres">
      <dgm:prSet presAssocID="{1E8F8E50-E3DA-4010-9E55-421D55186132}" presName="circleB"/>
      <dgm:spPr/>
      <dgm:t>
        <a:bodyPr/>
        <a:lstStyle/>
        <a:p>
          <a:pPr latinLnBrk="1"/>
          <a:endParaRPr lang="ko-KR" altLang="en-US"/>
        </a:p>
      </dgm:t>
    </dgm:pt>
    <dgm:pt modelId="{5C310059-2ECB-469C-B1D1-00C3AEE6BEDC}" type="pres">
      <dgm:prSet presAssocID="{1E8F8E50-E3DA-4010-9E55-421D55186132}" presName="spaceB"/>
      <dgm:spPr/>
      <dgm:t>
        <a:bodyPr/>
        <a:lstStyle/>
        <a:p>
          <a:pPr latinLnBrk="1"/>
          <a:endParaRPr lang="ko-KR" altLang="en-US"/>
        </a:p>
      </dgm:t>
    </dgm:pt>
  </dgm:ptLst>
  <dgm:cxnLst>
    <dgm:cxn modelId="{D1D4EC96-0093-4A86-BADF-C0F474ABBC69}" srcId="{D6DD0578-834E-463E-8D4B-797B947B7E8C}" destId="{E0B28088-8E0C-41D0-91D5-245A57C6B499}" srcOrd="0" destOrd="0" parTransId="{C7C20941-12B0-4434-ABED-E4EB4E652549}" sibTransId="{94B4F296-5618-44A0-A0D6-D91876618FE8}"/>
    <dgm:cxn modelId="{7DE30716-D902-4B68-B384-2ED3DF1BDDCF}" srcId="{D6DD0578-834E-463E-8D4B-797B947B7E8C}" destId="{155930CF-7C8F-4B70-9AFE-FF2BE39BD871}" srcOrd="1" destOrd="0" parTransId="{127A760F-F248-47F3-938D-1C483B06A673}" sibTransId="{5B9EE953-6E35-4641-A4F0-4047EB690296}"/>
    <dgm:cxn modelId="{59F4BF57-F2CF-464B-A828-CE64C2D6D872}" srcId="{D6DD0578-834E-463E-8D4B-797B947B7E8C}" destId="{3598290D-AF82-4595-A19E-12BE1CF5C243}" srcOrd="2" destOrd="0" parTransId="{173E3D89-E4A2-4DAB-8444-C8FEF961521C}" sibTransId="{4FC04E0B-0425-42B3-9CF1-FEDC63D3F8FE}"/>
    <dgm:cxn modelId="{6699CD2C-2BA1-4F32-9A72-E79763775996}" srcId="{D6DD0578-834E-463E-8D4B-797B947B7E8C}" destId="{1E8F8E50-E3DA-4010-9E55-421D55186132}" srcOrd="3" destOrd="0" parTransId="{37FA26B1-F6B4-4993-BC96-F64E73B8B608}" sibTransId="{67B37F7E-04DC-44A1-8CA5-3ECDB3ACF583}"/>
    <dgm:cxn modelId="{09A5F2EE-B07C-4D6F-8D40-966560B8F617}" type="presParOf" srcId="{28EB24B6-1D1B-449A-8420-1E7A619B781C}" destId="{BD52AFB4-625D-40D4-B309-6F219EBCE826}" srcOrd="0" destOrd="0" presId="urn:hancom.com/office/diagram/2020/3/layout/timeline_1"/>
    <dgm:cxn modelId="{931049ED-6539-4547-942B-AB671E7891B1}" type="presParOf" srcId="{28EB24B6-1D1B-449A-8420-1E7A619B781C}" destId="{A0A81547-AD91-45ED-980C-DF2BDD62F81D}" srcOrd="1" destOrd="0" presId="urn:hancom.com/office/diagram/2020/3/layout/timeline_1"/>
    <dgm:cxn modelId="{2E1D924C-AB35-4F79-A5F3-3CECCC268CC4}" type="presParOf" srcId="{A0A81547-AD91-45ED-980C-DF2BDD62F81D}" destId="{5FB0407D-B93A-4D34-BDE8-D046B86D6CB0}" srcOrd="0" destOrd="0" presId="urn:hancom.com/office/diagram/2020/3/layout/timeline_1"/>
    <dgm:cxn modelId="{199BEA45-1AE8-4B23-9699-2346566D3DA4}" type="presParOf" srcId="{5FB0407D-B93A-4D34-BDE8-D046B86D6CB0}" destId="{B54E86B7-5E4F-41ED-83F9-6BD8C04AF75B}" srcOrd="0" destOrd="0" presId="urn:hancom.com/office/diagram/2020/3/layout/timeline_1"/>
    <dgm:cxn modelId="{D7784447-4C33-4F93-B91C-4E573400D3AF}" type="presParOf" srcId="{5FB0407D-B93A-4D34-BDE8-D046B86D6CB0}" destId="{3C64C26E-A304-491D-9FCB-073F5C666C1D}" srcOrd="1" destOrd="0" presId="urn:hancom.com/office/diagram/2020/3/layout/timeline_1"/>
    <dgm:cxn modelId="{0E177B9F-E856-4BA2-A2A6-4CFC0F89D014}" type="presParOf" srcId="{5FB0407D-B93A-4D34-BDE8-D046B86D6CB0}" destId="{77D29952-E83E-4993-B3F8-A3795A8EDE38}" srcOrd="2" destOrd="0" presId="urn:hancom.com/office/diagram/2020/3/layout/timeline_1"/>
    <dgm:cxn modelId="{74B8D42D-6A50-482D-8910-69A25E109615}" type="presParOf" srcId="{5FB0407D-B93A-4D34-BDE8-D046B86D6CB0}" destId="{8C62B7FA-DC60-4B27-9DCD-122612542AD7}" srcOrd="3" destOrd="0" presId="urn:hancom.com/office/diagram/2020/3/layout/timeline_1"/>
    <dgm:cxn modelId="{A36D93D5-DFB5-4E04-9B2A-C2F4663C9884}" type="presParOf" srcId="{A0A81547-AD91-45ED-980C-DF2BDD62F81D}" destId="{CD90E4A7-259D-4BD2-8C83-9BD5E2EB54F2}" srcOrd="1" destOrd="0" presId="urn:hancom.com/office/diagram/2020/3/layout/timeline_1"/>
    <dgm:cxn modelId="{46C53E09-152C-4807-B130-BC193707A18E}" type="presParOf" srcId="{A0A81547-AD91-45ED-980C-DF2BDD62F81D}" destId="{CB4D18CF-CB40-4861-874E-D97A3DB29A6B}" srcOrd="2" destOrd="0" presId="urn:hancom.com/office/diagram/2020/3/layout/timeline_1"/>
    <dgm:cxn modelId="{A27625EA-708B-43E4-A1A6-8FD07AADE0E1}" type="presParOf" srcId="{CB4D18CF-CB40-4861-874E-D97A3DB29A6B}" destId="{BD9257E6-3793-4BCC-876F-D81A55CD2982}" srcOrd="0" destOrd="0" presId="urn:hancom.com/office/diagram/2020/3/layout/timeline_1"/>
    <dgm:cxn modelId="{69B0AC2C-25E3-4F17-8AE2-6FD6D5A8B4A4}" type="presParOf" srcId="{CB4D18CF-CB40-4861-874E-D97A3DB29A6B}" destId="{06D0ED15-BC70-4902-A8D2-F32FFD7EE45C}" srcOrd="1" destOrd="0" presId="urn:hancom.com/office/diagram/2020/3/layout/timeline_1"/>
    <dgm:cxn modelId="{815B5CEA-5C85-46AB-911C-0B0F2E74FE54}" type="presParOf" srcId="{CB4D18CF-CB40-4861-874E-D97A3DB29A6B}" destId="{9FDD9197-F0B4-4540-9C09-82F2D6481BCB}" srcOrd="2" destOrd="0" presId="urn:hancom.com/office/diagram/2020/3/layout/timeline_1"/>
    <dgm:cxn modelId="{B1F93D55-B138-43BB-84FC-442152C563E4}" type="presParOf" srcId="{CB4D18CF-CB40-4861-874E-D97A3DB29A6B}" destId="{A0C5C286-87EC-4357-99F5-F2A3460F02A5}" srcOrd="3" destOrd="0" presId="urn:hancom.com/office/diagram/2020/3/layout/timeline_1"/>
    <dgm:cxn modelId="{7A3F8E39-EED2-415A-9BFC-26C635129DFE}" type="presParOf" srcId="{A0A81547-AD91-45ED-980C-DF2BDD62F81D}" destId="{E528154F-2F1C-45A9-BCFD-351CFB5E7689}" srcOrd="3" destOrd="0" presId="urn:hancom.com/office/diagram/2020/3/layout/timeline_1"/>
    <dgm:cxn modelId="{D2ACD662-6A40-43C3-96FB-0EDA9D2616D1}" type="presParOf" srcId="{A0A81547-AD91-45ED-980C-DF2BDD62F81D}" destId="{C8F9A825-3F32-4260-89E5-2BC4B07939CC}" srcOrd="4" destOrd="0" presId="urn:hancom.com/office/diagram/2020/3/layout/timeline_1"/>
    <dgm:cxn modelId="{BADB2280-590F-4A6D-B5EE-3D0F82FDB61E}" type="presParOf" srcId="{C8F9A825-3F32-4260-89E5-2BC4B07939CC}" destId="{77C2D720-6EDF-44E8-9E6E-2E13099560C3}" srcOrd="0" destOrd="0" presId="urn:hancom.com/office/diagram/2020/3/layout/timeline_1"/>
    <dgm:cxn modelId="{16183548-382F-4B42-A0F9-3BE6A93A020C}" type="presParOf" srcId="{C8F9A825-3F32-4260-89E5-2BC4B07939CC}" destId="{071240DA-59F5-47A3-AC87-4C411B8B123A}" srcOrd="1" destOrd="0" presId="urn:hancom.com/office/diagram/2020/3/layout/timeline_1"/>
    <dgm:cxn modelId="{43AC266B-BDFE-4EE2-8027-9D84D15936BC}" type="presParOf" srcId="{C8F9A825-3F32-4260-89E5-2BC4B07939CC}" destId="{6A87F185-ED60-4B57-A2B5-779E25271607}" srcOrd="2" destOrd="0" presId="urn:hancom.com/office/diagram/2020/3/layout/timeline_1"/>
    <dgm:cxn modelId="{47C4E22C-42FF-475B-B6A1-577AA69D1B11}" type="presParOf" srcId="{C8F9A825-3F32-4260-89E5-2BC4B07939CC}" destId="{91CAB268-7A1D-4028-AC7C-1E33946007C5}" srcOrd="3" destOrd="0" presId="urn:hancom.com/office/diagram/2020/3/layout/timeline_1"/>
    <dgm:cxn modelId="{B3D1C8F8-E697-4C10-B125-AD02CFE886E0}" type="presParOf" srcId="{A0A81547-AD91-45ED-980C-DF2BDD62F81D}" destId="{FC0ACB6E-F7A3-41D0-9D1D-A3C36C952D36}" srcOrd="5" destOrd="0" presId="urn:hancom.com/office/diagram/2020/3/layout/timeline_1"/>
    <dgm:cxn modelId="{1389A54C-6B9E-4DB5-99A2-0E62A1ABC463}" type="presParOf" srcId="{A0A81547-AD91-45ED-980C-DF2BDD62F81D}" destId="{894218F5-0A05-40DA-B51C-9697CD69542E}" srcOrd="6" destOrd="0" presId="urn:hancom.com/office/diagram/2020/3/layout/timeline_1"/>
    <dgm:cxn modelId="{9589F1C4-346E-4888-A233-8C8EAFE33A39}" type="presParOf" srcId="{894218F5-0A05-40DA-B51C-9697CD69542E}" destId="{E04A29F7-48C5-4457-A676-EB809A1B79B0}" srcOrd="0" destOrd="0" presId="urn:hancom.com/office/diagram/2020/3/layout/timeline_1"/>
    <dgm:cxn modelId="{EDAB708C-2898-4E4B-82A2-D44307D20B54}" type="presParOf" srcId="{894218F5-0A05-40DA-B51C-9697CD69542E}" destId="{8A162D0B-EE48-4F54-B225-1F6F29CEC32F}" srcOrd="1" destOrd="0" presId="urn:hancom.com/office/diagram/2020/3/layout/timeline_1"/>
    <dgm:cxn modelId="{9428F03E-39B6-4ED5-9525-DBA2B4D16082}" type="presParOf" srcId="{894218F5-0A05-40DA-B51C-9697CD69542E}" destId="{00B8256D-1C6A-477C-9D53-A4613B38ED7A}" srcOrd="2" destOrd="0" presId="urn:hancom.com/office/diagram/2020/3/layout/timeline_1"/>
    <dgm:cxn modelId="{32A9AE7E-C4E2-459C-88D6-072C4859434B}" type="presParOf" srcId="{894218F5-0A05-40DA-B51C-9697CD69542E}" destId="{5C310059-2ECB-469C-B1D1-00C3AEE6BEDC}" srcOrd="3" destOrd="0" presId="urn:hancom.com/office/diagram/2020/3/layout/timeline_1"/>
    <dgm:cxn modelId="{95FF5A4B-A455-4F8A-83A7-F0D483F8A06C}" type="presOf" srcId="{D6DD0578-834E-463E-8D4B-797B947B7E8C}" destId="{28EB24B6-1D1B-449A-8420-1E7A619B781C}" srcOrd="0" destOrd="0" presId="urn:hancom.com/office/diagram/2020/3/layout/timeline_1"/>
    <dgm:cxn modelId="{CEA944FB-10AF-4363-827F-9D3D497A0B88}" type="presOf" srcId="{E0B28088-8E0C-41D0-91D5-245A57C6B499}" destId="{B54E86B7-5E4F-41ED-83F9-6BD8C04AF75B}" srcOrd="0" destOrd="0" presId="urn:hancom.com/office/diagram/2020/3/layout/timeline_1"/>
    <dgm:cxn modelId="{E54D959F-0AA7-45E5-AE93-C4CBD2FDEFC8}" type="presOf" srcId="{155930CF-7C8F-4B70-9AFE-FF2BE39BD871}" destId="{BD9257E6-3793-4BCC-876F-D81A55CD2982}" srcOrd="0" destOrd="0" presId="urn:hancom.com/office/diagram/2020/3/layout/timeline_1"/>
    <dgm:cxn modelId="{3A126397-CF6B-4A85-808B-9E7BADAB81AA}" type="presOf" srcId="{3598290D-AF82-4595-A19E-12BE1CF5C243}" destId="{77C2D720-6EDF-44E8-9E6E-2E13099560C3}" srcOrd="0" destOrd="0" presId="urn:hancom.com/office/diagram/2020/3/layout/timeline_1"/>
    <dgm:cxn modelId="{7FA0F05B-D118-4323-B8CB-46F3C6BD3508}" type="presOf" srcId="{1E8F8E50-E3DA-4010-9E55-421D55186132}" destId="{E04A29F7-48C5-4457-A676-EB809A1B79B0}" srcOrd="0" destOrd="0" presId="urn:hancom.com/office/diagram/2020/3/layout/timeline_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layout1.xml><?xml version="1.0" encoding="utf-8"?>
<dgm:layoutDef xmlns:r="http://schemas.openxmlformats.org/officeDocument/2006/relationships" xmlns:a="http://schemas.openxmlformats.org/drawingml/2006/main" xmlns:dgm="http://schemas.openxmlformats.org/drawingml/2006/diagram" xmlns:dsp="http://schemas.microsoft.com/office/drawing/2008/diagram" uniqueId="urn:hancom.com/office/diagram/2020/3/layout/timeline_1" minVer="http://schemas.openxmlformats.org/drawingml/2006/diagram" defStyle="">
  <dgm:title val="Timeline Bar"/>
  <dgm:title lang="ko-KR" val="시간 흐름 막대형"/>
  <dgm:desc val="Works well for showing flows, steps or timeline in a task, or process."/>
  <dgm:desc lang="ko-KR" val="작업 또는 프로세스의 흐름, 단계 또는 시간을 표시하는 데 적합합니다."/>
  <dgm:catLst>
    <dgm:cat type="process" pri="111000"/>
    <dgm:cat type="convert" pri="10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type="none"/>
    <dgm:presOf/>
    <dgm:constrLst>
      <dgm:constr type="w" for="ch" forName="arrow" refType="w"/>
      <dgm:constr type="h" for="ch" forName="arrow" refType="h" fact="0.050"/>
      <dgm:constr type="ctrY" for="ch" forName="arrow" refType="h" fact="0.500"/>
      <dgm:constr type="w" for="ch" forName="points" refType="w"/>
      <dgm:constr type="h" for="ch" forName="points" refType="h"/>
    </dgm:constrLst>
    <dgm:ruleLst/>
    <dgm:layoutNode name="arrow" styleLbl="bgShp">
      <dgm:alg type="sp"/>
      <dgm:shape type="chevron"/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type="none"/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32.000"/>
        <dgm:constr type="w" for="ch" forName="space" refType="w" refFor="ch" refForName="compositeA" op="equ" fact="0.050"/>
      </dgm:constrLst>
      <dgm:ruleLst/>
      <dgm:forEach name="Name10" axis="ch" ptType="node">
        <dgm:choose name="Name11">
          <dgm:if name="Name12" axis="self" ptType="node" func="posOdd" arg="none" op="equ" val="1">
            <dgm:layoutNode name="compositeA">
              <dgm:alg type="composite"/>
              <dgm:shape type="none"/>
              <dgm:presOf/>
              <dgm:constrLst>
                <dgm:constr type="w" for="ch" forName="textA" refType="w"/>
                <dgm:constr type="h" for="ch" forName="textA" refType="h" fact="0.450"/>
                <dgm:constr type="t" for="ch" forName="textA"/>
                <dgm:constr type="l" for="ch" forName="textA"/>
                <dgm:constr type="h" for="ch" forName="circleA" refType="h" fact="0.025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00"/>
                <dgm:constr type="ctrX" for="ch" forName="circleA" refType="w" refFor="ch" refForName="textA" fact="0.500"/>
                <dgm:constr type="h" for="ch" forName="barA" refType="h" fact="0.038"/>
                <dgm:constr type="w" for="ch" forName="barA"/>
                <dgm:constr type="ctrX" for="ch" forName="barA" refType="w" refFor="ch" refForName="textA" fact="0.500"/>
                <dgm:constr type="b" for="ch" forName="barA" refType="t" refFor="ch" refForName="circleA"/>
                <dgm:constr type="w" for="ch" forName="spaceA" refType="w"/>
                <dgm:constr type="h" for="ch" forName="spaceA" refType="h" fact="0.450"/>
                <dgm:constr type="b" for="ch" forName="spaceA" refType="h"/>
                <dgm:constr type="l" for="ch" forName="spaceA"/>
              </dgm:constrLst>
              <dgm:ruleLst/>
              <dgm:layoutNode name="textA" styleLbl="alignAcc1">
                <dgm:varLst>
                  <dgm:bulletEnabled val="1"/>
                </dgm:varLst>
                <dgm:alg type="tx">
                  <dgm:param type="txAnchorHorzCh" val="ctr"/>
                  <dgm:param type="txAnchorVert" val="b"/>
                  <dgm:param type="txAnchorVertCh" val="b"/>
                </dgm:alg>
                <dgm:shape type="roundRect"/>
                <dgm:presOf axis="desOrSelf" ptType="node"/>
                <dgm:constrLst/>
                <dgm:ruleLst>
                  <dgm:rule type="primFontSz" val="5.000" fact="NaN" max="NaN"/>
                </dgm:ruleLst>
              </dgm:layoutNode>
              <dgm:layoutNode name="barA" styleLbl="alignNode1">
                <dgm:alg type="sp"/>
                <dgm:shape type="line"/>
                <dgm:presOf/>
                <dgm:constrLst/>
                <dgm:ruleLst/>
              </dgm:layoutNode>
              <dgm:layoutNode name="circleA">
                <dgm:alg type="sp"/>
                <dgm:shape type="ellipse"/>
                <dgm:presOf/>
                <dgm:constrLst/>
                <dgm:ruleLst/>
              </dgm:layoutNode>
              <dgm:layoutNode name="spaceA">
                <dgm:alg type="sp"/>
                <dgm:shape type="none"/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type="none"/>
              <dgm:presOf/>
              <dgm:constrLst>
                <dgm:constr type="w" for="ch" forName="textB" refType="w"/>
                <dgm:constr type="h" for="ch" forName="textB" refType="h" fact="0.450"/>
                <dgm:constr type="b" for="ch" forName="textB" refType="h"/>
                <dgm:constr type="l" for="ch" forName="textB"/>
                <dgm:constr type="h" for="ch" forName="circleB" refType="h" fact="0.025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00"/>
                <dgm:constr type="ctrX" for="ch" forName="circleB" refType="w" refFor="ch" refForName="textB" fact="0.500"/>
                <dgm:constr type="h" for="ch" forName="barB" refType="h" fact="0.038"/>
                <dgm:constr type="w" for="ch" forName="barB"/>
                <dgm:constr type="ctrX" for="ch" forName="barB" refType="w" refFor="ch" refForName="textB" fact="0.500"/>
                <dgm:constr type="t" for="ch" forName="barB" refType="b" refFor="ch" refForName="circleB"/>
                <dgm:constr type="w" for="ch" forName="spaceB" refType="w"/>
                <dgm:constr type="h" for="ch" forName="spaceB" refType="h" fact="0.450"/>
                <dgm:constr type="t" for="ch" forName="spaceB"/>
                <dgm:constr type="l" for="ch" forName="spaceB"/>
              </dgm:constrLst>
              <dgm:ruleLst/>
              <dgm:layoutNode name="textB" styleLbl="alignAcc1">
                <dgm:varLst>
                  <dgm:bulletEnabled val="1"/>
                </dgm:varLst>
                <dgm:alg type="tx">
                  <dgm:param type="txAnchorHorzCh" val="ctr"/>
                  <dgm:param type="txAnchorVert" val="t"/>
                  <dgm:param type="txAnchorVertCh" val="t"/>
                </dgm:alg>
                <dgm:shape type="roundRect"/>
                <dgm:presOf axis="desOrSelf" ptType="node"/>
                <dgm:constrLst/>
                <dgm:ruleLst>
                  <dgm:rule type="primFontSz" val="5.000" fact="NaN" max="NaN"/>
                </dgm:ruleLst>
              </dgm:layoutNode>
              <dgm:layoutNode name="barB" styleLbl="alignNode1">
                <dgm:alg type="sp"/>
                <dgm:shape type="line"/>
                <dgm:presOf/>
                <dgm:constrLst/>
                <dgm:ruleLst/>
              </dgm:layoutNode>
              <dgm:layoutNode name="circleB">
                <dgm:alg type="sp"/>
                <dgm:shape type="ellipse"/>
                <dgm:presOf/>
                <dgm:constrLst/>
                <dgm:ruleLst/>
              </dgm:layoutNode>
              <dgm:layoutNode name="spaceB">
                <dgm:alg type="sp"/>
                <dgm:shape type="none"/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type="none"/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r="http://schemas.openxmlformats.org/officeDocument/2006/relationships" xmlns:a="http://schemas.openxmlformats.org/drawingml/2006/main" xmlns:dgm="http://schemas.openxmlformats.org/drawingml/2006/diagram" xmlns:dsp="http://schemas.microsoft.com/office/drawing/2008/diagram" uniqueId="urn:hancom.com/office/diagram/2020/3/layout/timeline_1" minVer="http://schemas.openxmlformats.org/drawingml/2006/diagram" defStyle="">
  <dgm:title val="Timeline Bar"/>
  <dgm:title lang="ko-KR" val="시간 흐름 막대형"/>
  <dgm:desc val="Works well for showing flows, steps or timeline in a task, or process."/>
  <dgm:desc lang="ko-KR" val="작업 또는 프로세스의 흐름, 단계 또는 시간을 표시하는 데 적합합니다."/>
  <dgm:catLst>
    <dgm:cat type="process" pri="111000"/>
    <dgm:cat type="convert" pri="10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type="none"/>
    <dgm:presOf/>
    <dgm:constrLst>
      <dgm:constr type="w" for="ch" forName="arrow" refType="w"/>
      <dgm:constr type="h" for="ch" forName="arrow" refType="h" fact="0.050"/>
      <dgm:constr type="ctrY" for="ch" forName="arrow" refType="h" fact="0.500"/>
      <dgm:constr type="w" for="ch" forName="points" refType="w"/>
      <dgm:constr type="h" for="ch" forName="points" refType="h"/>
    </dgm:constrLst>
    <dgm:ruleLst/>
    <dgm:layoutNode name="arrow" styleLbl="bgShp">
      <dgm:alg type="sp"/>
      <dgm:shape type="chevron"/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type="none"/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32.000"/>
        <dgm:constr type="w" for="ch" forName="space" refType="w" refFor="ch" refForName="compositeA" op="equ" fact="0.050"/>
      </dgm:constrLst>
      <dgm:ruleLst/>
      <dgm:forEach name="Name10" axis="ch" ptType="node">
        <dgm:choose name="Name11">
          <dgm:if name="Name12" axis="self" ptType="node" func="posOdd" arg="none" op="equ" val="1">
            <dgm:layoutNode name="compositeA">
              <dgm:alg type="composite"/>
              <dgm:shape type="none"/>
              <dgm:presOf/>
              <dgm:constrLst>
                <dgm:constr type="w" for="ch" forName="textA" refType="w"/>
                <dgm:constr type="h" for="ch" forName="textA" refType="h" fact="0.450"/>
                <dgm:constr type="t" for="ch" forName="textA"/>
                <dgm:constr type="l" for="ch" forName="textA"/>
                <dgm:constr type="h" for="ch" forName="circleA" refType="h" fact="0.025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00"/>
                <dgm:constr type="ctrX" for="ch" forName="circleA" refType="w" refFor="ch" refForName="textA" fact="0.500"/>
                <dgm:constr type="h" for="ch" forName="barA" refType="h" fact="0.038"/>
                <dgm:constr type="w" for="ch" forName="barA"/>
                <dgm:constr type="ctrX" for="ch" forName="barA" refType="w" refFor="ch" refForName="textA" fact="0.500"/>
                <dgm:constr type="b" for="ch" forName="barA" refType="t" refFor="ch" refForName="circleA"/>
                <dgm:constr type="w" for="ch" forName="spaceA" refType="w"/>
                <dgm:constr type="h" for="ch" forName="spaceA" refType="h" fact="0.450"/>
                <dgm:constr type="b" for="ch" forName="spaceA" refType="h"/>
                <dgm:constr type="l" for="ch" forName="spaceA"/>
              </dgm:constrLst>
              <dgm:ruleLst/>
              <dgm:layoutNode name="textA" styleLbl="alignAcc1">
                <dgm:varLst>
                  <dgm:bulletEnabled val="1"/>
                </dgm:varLst>
                <dgm:alg type="tx">
                  <dgm:param type="txAnchorHorzCh" val="ctr"/>
                  <dgm:param type="txAnchorVert" val="b"/>
                  <dgm:param type="txAnchorVertCh" val="b"/>
                </dgm:alg>
                <dgm:shape type="roundRect"/>
                <dgm:presOf axis="desOrSelf" ptType="node"/>
                <dgm:constrLst/>
                <dgm:ruleLst>
                  <dgm:rule type="primFontSz" val="5.000" fact="NaN" max="NaN"/>
                </dgm:ruleLst>
              </dgm:layoutNode>
              <dgm:layoutNode name="barA" styleLbl="alignNode1">
                <dgm:alg type="sp"/>
                <dgm:shape type="line"/>
                <dgm:presOf/>
                <dgm:constrLst/>
                <dgm:ruleLst/>
              </dgm:layoutNode>
              <dgm:layoutNode name="circleA">
                <dgm:alg type="sp"/>
                <dgm:shape type="ellipse"/>
                <dgm:presOf/>
                <dgm:constrLst/>
                <dgm:ruleLst/>
              </dgm:layoutNode>
              <dgm:layoutNode name="spaceA">
                <dgm:alg type="sp"/>
                <dgm:shape type="none"/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type="none"/>
              <dgm:presOf/>
              <dgm:constrLst>
                <dgm:constr type="w" for="ch" forName="textB" refType="w"/>
                <dgm:constr type="h" for="ch" forName="textB" refType="h" fact="0.450"/>
                <dgm:constr type="b" for="ch" forName="textB" refType="h"/>
                <dgm:constr type="l" for="ch" forName="textB"/>
                <dgm:constr type="h" for="ch" forName="circleB" refType="h" fact="0.025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00"/>
                <dgm:constr type="ctrX" for="ch" forName="circleB" refType="w" refFor="ch" refForName="textB" fact="0.500"/>
                <dgm:constr type="h" for="ch" forName="barB" refType="h" fact="0.038"/>
                <dgm:constr type="w" for="ch" forName="barB"/>
                <dgm:constr type="ctrX" for="ch" forName="barB" refType="w" refFor="ch" refForName="textB" fact="0.500"/>
                <dgm:constr type="t" for="ch" forName="barB" refType="b" refFor="ch" refForName="circleB"/>
                <dgm:constr type="w" for="ch" forName="spaceB" refType="w"/>
                <dgm:constr type="h" for="ch" forName="spaceB" refType="h" fact="0.450"/>
                <dgm:constr type="t" for="ch" forName="spaceB"/>
                <dgm:constr type="l" for="ch" forName="spaceB"/>
              </dgm:constrLst>
              <dgm:ruleLst/>
              <dgm:layoutNode name="textB" styleLbl="alignAcc1">
                <dgm:varLst>
                  <dgm:bulletEnabled val="1"/>
                </dgm:varLst>
                <dgm:alg type="tx">
                  <dgm:param type="txAnchorHorzCh" val="ctr"/>
                  <dgm:param type="txAnchorVert" val="t"/>
                  <dgm:param type="txAnchorVertCh" val="t"/>
                </dgm:alg>
                <dgm:shape type="roundRect"/>
                <dgm:presOf axis="desOrSelf" ptType="node"/>
                <dgm:constrLst/>
                <dgm:ruleLst>
                  <dgm:rule type="primFontSz" val="5.000" fact="NaN" max="NaN"/>
                </dgm:ruleLst>
              </dgm:layoutNode>
              <dgm:layoutNode name="barB" styleLbl="alignNode1">
                <dgm:alg type="sp"/>
                <dgm:shape type="line"/>
                <dgm:presOf/>
                <dgm:constrLst/>
                <dgm:ruleLst/>
              </dgm:layoutNode>
              <dgm:layoutNode name="circleB">
                <dgm:alg type="sp"/>
                <dgm:shape type="ellipse"/>
                <dgm:presOf/>
                <dgm:constrLst/>
                <dgm:ruleLst/>
              </dgm:layoutNode>
              <dgm:layoutNode name="spaceB">
                <dgm:alg type="sp"/>
                <dgm:shape type="none"/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type="none"/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r="http://schemas.openxmlformats.org/officeDocument/2006/relationships" xmlns:a="http://schemas.openxmlformats.org/drawingml/2006/main" xmlns:dgm="http://schemas.openxmlformats.org/drawingml/2006/diagram" xmlns:dsp="http://schemas.microsoft.com/office/drawing/2008/diagram" uniqueId="urn:hancom.com/office/diagram/2020/4/quickstyle/fill_1" minVer="http://schemas.openxmlformats.org/drawingml/2006/diagram">
  <dgm:title val="Solid Fill"/>
  <dgm:title lang="ko-KR" val="단색 채우기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sib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tr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r="http://schemas.openxmlformats.org/officeDocument/2006/relationships" xmlns:a="http://schemas.openxmlformats.org/drawingml/2006/main" xmlns:dgm="http://schemas.openxmlformats.org/drawingml/2006/diagram" xmlns:dsp="http://schemas.microsoft.com/office/drawing/2008/diagram" uniqueId="urn:hancom.com/office/diagram/2020/4/quickstyle/fill_1" minVer="http://schemas.openxmlformats.org/drawingml/2006/diagram">
  <dgm:title val="Solid Fill"/>
  <dgm:title lang="ko-KR" val="단색 채우기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sib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tr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5333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69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71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72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73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4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5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974816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028027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57683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5811630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22224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422991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6651209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-9524" y="2723"/>
            <a:ext cx="935609" cy="3319404"/>
          </a:xfrm>
          <a:custGeom>
            <a:avLst/>
            <a:gdLst/>
            <a:cxnLst>
              <a:cxn ang="0">
                <a:pos x="0" y="0"/>
              </a:cxn>
              <a:cxn ang="0">
                <a:pos x="0" y="708"/>
              </a:cxn>
              <a:cxn ang="0">
                <a:pos x="986" y="7114"/>
              </a:cxn>
              <a:cxn ang="0">
                <a:pos x="1537" y="7266"/>
              </a:cxn>
              <a:cxn ang="0">
                <a:pos x="62" y="0"/>
              </a:cxn>
              <a:cxn ang="0">
                <a:pos x="0" y="0"/>
              </a:cxn>
            </a:cxnLst>
            <a:rect l="0" t="0" r="r" b="b"/>
            <a:pathLst>
              <a:path w="1537" h="7266">
                <a:moveTo>
                  <a:pt x="0" y="0"/>
                </a:moveTo>
                <a:lnTo>
                  <a:pt x="0" y="708"/>
                </a:lnTo>
                <a:lnTo>
                  <a:pt x="986" y="7114"/>
                </a:lnTo>
                <a:lnTo>
                  <a:pt x="1537" y="7266"/>
                </a:lnTo>
                <a:lnTo>
                  <a:pt x="62" y="0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9" name=""/>
          <p:cNvSpPr/>
          <p:nvPr/>
        </p:nvSpPr>
        <p:spPr>
          <a:xfrm flipH="1">
            <a:off x="5480312" y="158916"/>
            <a:ext cx="3662348" cy="1206954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0" name=""/>
          <p:cNvSpPr/>
          <p:nvPr/>
        </p:nvSpPr>
        <p:spPr>
          <a:xfrm flipH="1">
            <a:off x="882" y="0"/>
            <a:ext cx="9147172" cy="907358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1" name=""/>
          <p:cNvSpPr/>
          <p:nvPr/>
        </p:nvSpPr>
        <p:spPr>
          <a:xfrm>
            <a:off x="0" y="234822"/>
            <a:ext cx="5486399" cy="1529587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  <a:gd name="connsiteX0" fmla="*/ 5486400 w 5486400"/>
              <a:gd name="connsiteY0" fmla="*/ 1085850 h 2676075"/>
              <a:gd name="connsiteX1" fmla="*/ 0 w 5486400"/>
              <a:gd name="connsiteY1" fmla="*/ 0 h 2676075"/>
              <a:gd name="connsiteX2" fmla="*/ 0 w 5486400"/>
              <a:gd name="connsiteY2" fmla="*/ 95250 h 2676075"/>
              <a:gd name="connsiteX3" fmla="*/ 604863 w 5486400"/>
              <a:gd name="connsiteY3" fmla="*/ 2676075 h 2676075"/>
              <a:gd name="connsiteX4" fmla="*/ 5486400 w 5486400"/>
              <a:gd name="connsiteY4" fmla="*/ 1085850 h 2676075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0 w 5486400"/>
              <a:gd name="connsiteY2" fmla="*/ 95250 h 2582198"/>
              <a:gd name="connsiteX3" fmla="*/ 892927 w 5486400"/>
              <a:gd name="connsiteY3" fmla="*/ 2582198 h 2582198"/>
              <a:gd name="connsiteX4" fmla="*/ 5486400 w 5486400"/>
              <a:gd name="connsiteY4" fmla="*/ 1085850 h 2582198"/>
              <a:gd name="connsiteX0" fmla="*/ 5486400 w 5486400"/>
              <a:gd name="connsiteY0" fmla="*/ 1085850 h 2582198"/>
              <a:gd name="connsiteX1" fmla="*/ 0 w 5486400"/>
              <a:gd name="connsiteY1" fmla="*/ 0 h 2582198"/>
              <a:gd name="connsiteX2" fmla="*/ 892927 w 5486400"/>
              <a:gd name="connsiteY2" fmla="*/ 2582198 h 2582198"/>
              <a:gd name="connsiteX3" fmla="*/ 5486400 w 5486400"/>
              <a:gd name="connsiteY3" fmla="*/ 1085850 h 2582198"/>
              <a:gd name="connsiteX0" fmla="*/ 5486400 w 5486400"/>
              <a:gd name="connsiteY0" fmla="*/ 1085850 h 2481754"/>
              <a:gd name="connsiteX1" fmla="*/ 0 w 5486400"/>
              <a:gd name="connsiteY1" fmla="*/ 0 h 2481754"/>
              <a:gd name="connsiteX2" fmla="*/ 870728 w 5486400"/>
              <a:gd name="connsiteY2" fmla="*/ 2481754 h 2481754"/>
              <a:gd name="connsiteX3" fmla="*/ 5486400 w 5486400"/>
              <a:gd name="connsiteY3" fmla="*/ 1085850 h 2481754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0" h="2481754">
                <a:moveTo>
                  <a:pt x="5486400" y="1085850"/>
                </a:moveTo>
                <a:lnTo>
                  <a:pt x="0" y="0"/>
                </a:lnTo>
                <a:lnTo>
                  <a:pt x="870728" y="2481754"/>
                </a:lnTo>
                <a:lnTo>
                  <a:pt x="5486400" y="1085850"/>
                </a:ln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2" name=""/>
          <p:cNvSpPr/>
          <p:nvPr/>
        </p:nvSpPr>
        <p:spPr>
          <a:xfrm rot="16200000" flipH="1">
            <a:off x="-351864" y="496386"/>
            <a:ext cx="2060826" cy="1074153"/>
          </a:xfrm>
          <a:custGeom>
            <a:avLst/>
            <a:gdLst>
              <a:gd name="connsiteX0" fmla="*/ 0 w 2715"/>
              <a:gd name="connsiteY0" fmla="*/ 0 h 1458"/>
              <a:gd name="connsiteX1" fmla="*/ 0 w 2715"/>
              <a:gd name="connsiteY1" fmla="*/ 1458 h 1458"/>
              <a:gd name="connsiteX2" fmla="*/ 2715 w 2715"/>
              <a:gd name="connsiteY2" fmla="*/ 909 h 1458"/>
              <a:gd name="connsiteX3" fmla="*/ 0 w 2715"/>
              <a:gd name="connsiteY3" fmla="*/ 0 h 145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5" h="1458">
                <a:moveTo>
                  <a:pt x="0" y="0"/>
                </a:moveTo>
                <a:lnTo>
                  <a:pt x="0" y="1458"/>
                </a:lnTo>
                <a:lnTo>
                  <a:pt x="2715" y="909"/>
                </a:lnTo>
                <a:lnTo>
                  <a:pt x="0" y="0"/>
                </a:ln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3" name=""/>
          <p:cNvSpPr/>
          <p:nvPr/>
        </p:nvSpPr>
        <p:spPr>
          <a:xfrm rot="16200000" flipH="1">
            <a:off x="-2169719" y="2169835"/>
            <a:ext cx="5147169" cy="807521"/>
          </a:xfrm>
          <a:custGeom>
            <a:avLst/>
            <a:gdLst>
              <a:gd name="connsiteX0" fmla="*/ 6774 w 6774"/>
              <a:gd name="connsiteY0" fmla="*/ 0 h 1097"/>
              <a:gd name="connsiteX1" fmla="*/ 0 w 6774"/>
              <a:gd name="connsiteY1" fmla="*/ 0 h 1097"/>
              <a:gd name="connsiteX2" fmla="*/ 0 w 6774"/>
              <a:gd name="connsiteY2" fmla="*/ 194 h 1097"/>
              <a:gd name="connsiteX3" fmla="*/ 2700 w 6774"/>
              <a:gd name="connsiteY3" fmla="*/ 1097 h 1097"/>
              <a:gd name="connsiteX4" fmla="*/ 6774 w 6774"/>
              <a:gd name="connsiteY4" fmla="*/ 282 h 1097"/>
              <a:gd name="connsiteX5" fmla="*/ 6774 w 6774"/>
              <a:gd name="connsiteY5" fmla="*/ 0 h 109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74" h="1097">
                <a:moveTo>
                  <a:pt x="6774" y="0"/>
                </a:moveTo>
                <a:lnTo>
                  <a:pt x="0" y="0"/>
                </a:lnTo>
                <a:lnTo>
                  <a:pt x="0" y="194"/>
                </a:lnTo>
                <a:lnTo>
                  <a:pt x="2700" y="1097"/>
                </a:lnTo>
                <a:lnTo>
                  <a:pt x="6774" y="282"/>
                </a:lnTo>
                <a:lnTo>
                  <a:pt x="6774" y="0"/>
                </a:lnTo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4" name=""/>
          <p:cNvSpPr/>
          <p:nvPr/>
        </p:nvSpPr>
        <p:spPr>
          <a:xfrm rot="16200000">
            <a:off x="-629370" y="2898745"/>
            <a:ext cx="3087230" cy="1410651"/>
          </a:xfrm>
          <a:custGeom>
            <a:avLst/>
            <a:gdLst>
              <a:gd name="connsiteX0" fmla="*/ 5486400 w 5486400"/>
              <a:gd name="connsiteY0" fmla="*/ 1085850 h 2571750"/>
              <a:gd name="connsiteX1" fmla="*/ 0 w 5486400"/>
              <a:gd name="connsiteY1" fmla="*/ 0 h 2571750"/>
              <a:gd name="connsiteX2" fmla="*/ 0 w 5486400"/>
              <a:gd name="connsiteY2" fmla="*/ 95250 h 2571750"/>
              <a:gd name="connsiteX3" fmla="*/ 923925 w 5486400"/>
              <a:gd name="connsiteY3" fmla="*/ 2571750 h 2571750"/>
              <a:gd name="connsiteX4" fmla="*/ 5486400 w 5486400"/>
              <a:gd name="connsiteY4" fmla="*/ 1085850 h 257175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0" h="2571750">
                <a:moveTo>
                  <a:pt x="5486400" y="1085850"/>
                </a:moveTo>
                <a:lnTo>
                  <a:pt x="0" y="0"/>
                </a:lnTo>
                <a:lnTo>
                  <a:pt x="0" y="95250"/>
                </a:lnTo>
                <a:lnTo>
                  <a:pt x="923925" y="2571750"/>
                </a:lnTo>
                <a:lnTo>
                  <a:pt x="5486400" y="1085850"/>
                </a:lnTo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5" name=""/>
          <p:cNvSpPr/>
          <p:nvPr/>
        </p:nvSpPr>
        <p:spPr>
          <a:xfrm rot="16200000">
            <a:off x="926060" y="3788086"/>
            <a:ext cx="671565" cy="2048276"/>
          </a:xfrm>
          <a:custGeom>
            <a:avLst/>
            <a:gdLst>
              <a:gd name="connsiteX0" fmla="*/ 0 w 571472"/>
              <a:gd name="connsiteY0" fmla="*/ 3000396 h 3000396"/>
              <a:gd name="connsiteX1" fmla="*/ 0 w 571472"/>
              <a:gd name="connsiteY1" fmla="*/ 0 h 3000396"/>
              <a:gd name="connsiteX2" fmla="*/ 571472 w 571472"/>
              <a:gd name="connsiteY2" fmla="*/ 3000396 h 3000396"/>
              <a:gd name="connsiteX3" fmla="*/ 0 w 571472"/>
              <a:gd name="connsiteY3" fmla="*/ 3000396 h 3000396"/>
              <a:gd name="connsiteX0" fmla="*/ 0 w 928630"/>
              <a:gd name="connsiteY0" fmla="*/ 3000396 h 3000396"/>
              <a:gd name="connsiteX1" fmla="*/ 0 w 928630"/>
              <a:gd name="connsiteY1" fmla="*/ 0 h 3000396"/>
              <a:gd name="connsiteX2" fmla="*/ 928630 w 928630"/>
              <a:gd name="connsiteY2" fmla="*/ 2500306 h 3000396"/>
              <a:gd name="connsiteX3" fmla="*/ 0 w 928630"/>
              <a:gd name="connsiteY3" fmla="*/ 3000396 h 3000396"/>
              <a:gd name="connsiteX0" fmla="*/ 9525 w 938155"/>
              <a:gd name="connsiteY0" fmla="*/ 3067050 h 3067050"/>
              <a:gd name="connsiteX1" fmla="*/ 0 w 938155"/>
              <a:gd name="connsiteY1" fmla="*/ 0 h 3067050"/>
              <a:gd name="connsiteX2" fmla="*/ 938155 w 938155"/>
              <a:gd name="connsiteY2" fmla="*/ 2566960 h 3067050"/>
              <a:gd name="connsiteX3" fmla="*/ 9525 w 938155"/>
              <a:gd name="connsiteY3" fmla="*/ 3067050 h 3067050"/>
              <a:gd name="connsiteX0" fmla="*/ 9525 w 928656"/>
              <a:gd name="connsiteY0" fmla="*/ 3067050 h 3067050"/>
              <a:gd name="connsiteX1" fmla="*/ 0 w 928656"/>
              <a:gd name="connsiteY1" fmla="*/ 0 h 3067050"/>
              <a:gd name="connsiteX2" fmla="*/ 928656 w 928656"/>
              <a:gd name="connsiteY2" fmla="*/ 2509813 h 3067050"/>
              <a:gd name="connsiteX3" fmla="*/ 9525 w 928656"/>
              <a:gd name="connsiteY3" fmla="*/ 3067050 h 3067050"/>
              <a:gd name="connsiteX0" fmla="*/ 9525 w 928656"/>
              <a:gd name="connsiteY0" fmla="*/ 2709836 h 2709836"/>
              <a:gd name="connsiteX1" fmla="*/ 0 w 928656"/>
              <a:gd name="connsiteY1" fmla="*/ 0 h 2709836"/>
              <a:gd name="connsiteX2" fmla="*/ 928656 w 928656"/>
              <a:gd name="connsiteY2" fmla="*/ 2509813 h 2709836"/>
              <a:gd name="connsiteX3" fmla="*/ 9525 w 928656"/>
              <a:gd name="connsiteY3" fmla="*/ 2709836 h 2709836"/>
              <a:gd name="connsiteX0" fmla="*/ 9525 w 928656"/>
              <a:gd name="connsiteY0" fmla="*/ 2781250 h 2781250"/>
              <a:gd name="connsiteX1" fmla="*/ 0 w 928656"/>
              <a:gd name="connsiteY1" fmla="*/ 0 h 2781250"/>
              <a:gd name="connsiteX2" fmla="*/ 928656 w 928656"/>
              <a:gd name="connsiteY2" fmla="*/ 2509813 h 2781250"/>
              <a:gd name="connsiteX3" fmla="*/ 9525 w 928656"/>
              <a:gd name="connsiteY3" fmla="*/ 2781250 h 2781250"/>
              <a:gd name="connsiteX0" fmla="*/ 9525 w 928656"/>
              <a:gd name="connsiteY0" fmla="*/ 2924102 h 2924102"/>
              <a:gd name="connsiteX1" fmla="*/ 0 w 928656"/>
              <a:gd name="connsiteY1" fmla="*/ 0 h 2924102"/>
              <a:gd name="connsiteX2" fmla="*/ 928656 w 928656"/>
              <a:gd name="connsiteY2" fmla="*/ 2509813 h 2924102"/>
              <a:gd name="connsiteX3" fmla="*/ 9525 w 928656"/>
              <a:gd name="connsiteY3" fmla="*/ 2924102 h 2924102"/>
              <a:gd name="connsiteX0" fmla="*/ 9525 w 931063"/>
              <a:gd name="connsiteY0" fmla="*/ 2924102 h 2924102"/>
              <a:gd name="connsiteX1" fmla="*/ 0 w 931063"/>
              <a:gd name="connsiteY1" fmla="*/ 0 h 2924102"/>
              <a:gd name="connsiteX2" fmla="*/ 931063 w 931063"/>
              <a:gd name="connsiteY2" fmla="*/ 2521723 h 2924102"/>
              <a:gd name="connsiteX3" fmla="*/ 9525 w 931063"/>
              <a:gd name="connsiteY3" fmla="*/ 2924102 h 2924102"/>
              <a:gd name="connsiteX0" fmla="*/ 0 w 931063"/>
              <a:gd name="connsiteY0" fmla="*/ 2805040 h 2805040"/>
              <a:gd name="connsiteX1" fmla="*/ 0 w 931063"/>
              <a:gd name="connsiteY1" fmla="*/ 0 h 2805040"/>
              <a:gd name="connsiteX2" fmla="*/ 931063 w 931063"/>
              <a:gd name="connsiteY2" fmla="*/ 2521723 h 2805040"/>
              <a:gd name="connsiteX3" fmla="*/ 0 w 931063"/>
              <a:gd name="connsiteY3" fmla="*/ 2805040 h 2805040"/>
              <a:gd name="connsiteX0" fmla="*/ 6350 w 931063"/>
              <a:gd name="connsiteY0" fmla="*/ 2822504 h 2822504"/>
              <a:gd name="connsiteX1" fmla="*/ 0 w 931063"/>
              <a:gd name="connsiteY1" fmla="*/ 0 h 2822504"/>
              <a:gd name="connsiteX2" fmla="*/ 931063 w 931063"/>
              <a:gd name="connsiteY2" fmla="*/ 2521723 h 2822504"/>
              <a:gd name="connsiteX3" fmla="*/ 6350 w 931063"/>
              <a:gd name="connsiteY3" fmla="*/ 2822504 h 2822504"/>
              <a:gd name="connsiteX0" fmla="*/ 6350 w 1185503"/>
              <a:gd name="connsiteY0" fmla="*/ 2822504 h 3224000"/>
              <a:gd name="connsiteX1" fmla="*/ 0 w 1185503"/>
              <a:gd name="connsiteY1" fmla="*/ 0 h 3224000"/>
              <a:gd name="connsiteX2" fmla="*/ 1185503 w 1185503"/>
              <a:gd name="connsiteY2" fmla="*/ 3224000 h 3224000"/>
              <a:gd name="connsiteX3" fmla="*/ 6350 w 1185503"/>
              <a:gd name="connsiteY3" fmla="*/ 2822504 h 3224000"/>
              <a:gd name="connsiteX0" fmla="*/ 2116 w 1193457"/>
              <a:gd name="connsiteY0" fmla="*/ 3734200 h 3734200"/>
              <a:gd name="connsiteX1" fmla="*/ 7954 w 1193457"/>
              <a:gd name="connsiteY1" fmla="*/ 0 h 3734200"/>
              <a:gd name="connsiteX2" fmla="*/ 1193457 w 1193457"/>
              <a:gd name="connsiteY2" fmla="*/ 3224000 h 3734200"/>
              <a:gd name="connsiteX3" fmla="*/ 2116 w 1193457"/>
              <a:gd name="connsiteY3" fmla="*/ 3734200 h 37342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3457" h="3734200">
                <a:moveTo>
                  <a:pt x="2116" y="3734200"/>
                </a:moveTo>
                <a:cubicBezTo>
                  <a:pt x="-1" y="2793365"/>
                  <a:pt x="10071" y="940835"/>
                  <a:pt x="7954" y="0"/>
                </a:cubicBezTo>
                <a:lnTo>
                  <a:pt x="1193457" y="3224000"/>
                </a:lnTo>
                <a:lnTo>
                  <a:pt x="2116" y="3734200"/>
                </a:lnTo>
              </a:path>
            </a:pathLst>
          </a:custGeom>
          <a:solidFill>
            <a:schemeClr val="accent2">
              <a:lumMod val="50000"/>
              <a:lumOff val="50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16" name=""/>
          <p:cNvSpPr/>
          <p:nvPr/>
        </p:nvSpPr>
        <p:spPr>
          <a:xfrm>
            <a:off x="123187" y="-20574"/>
            <a:ext cx="2162794" cy="5164074"/>
          </a:xfrm>
          <a:custGeom>
            <a:avLst/>
            <a:gdLst>
              <a:gd name="connsiteX0" fmla="*/ 0 w 500066"/>
              <a:gd name="connsiteY0" fmla="*/ 6858000 h 6858000"/>
              <a:gd name="connsiteX1" fmla="*/ 250033 w 500066"/>
              <a:gd name="connsiteY1" fmla="*/ 0 h 6858000"/>
              <a:gd name="connsiteX2" fmla="*/ 500066 w 500066"/>
              <a:gd name="connsiteY2" fmla="*/ 6858000 h 6858000"/>
              <a:gd name="connsiteX3" fmla="*/ 0 w 500066"/>
              <a:gd name="connsiteY3" fmla="*/ 6858000 h 6858000"/>
              <a:gd name="connsiteX0" fmla="*/ 1638757 w 2138823"/>
              <a:gd name="connsiteY0" fmla="*/ 6876288 h 6876288"/>
              <a:gd name="connsiteX1" fmla="*/ 0 w 2138823"/>
              <a:gd name="connsiteY1" fmla="*/ 0 h 6876288"/>
              <a:gd name="connsiteX2" fmla="*/ 2138823 w 2138823"/>
              <a:gd name="connsiteY2" fmla="*/ 6876288 h 6876288"/>
              <a:gd name="connsiteX3" fmla="*/ 1638757 w 2138823"/>
              <a:gd name="connsiteY3" fmla="*/ 6876288 h 6876288"/>
              <a:gd name="connsiteX0" fmla="*/ 1662729 w 2162795"/>
              <a:gd name="connsiteY0" fmla="*/ 6885432 h 6885432"/>
              <a:gd name="connsiteX1" fmla="*/ 0 w 2162795"/>
              <a:gd name="connsiteY1" fmla="*/ 0 h 6885432"/>
              <a:gd name="connsiteX2" fmla="*/ 2162795 w 2162795"/>
              <a:gd name="connsiteY2" fmla="*/ 6885432 h 6885432"/>
              <a:gd name="connsiteX3" fmla="*/ 1662729 w 2162795"/>
              <a:gd name="connsiteY3" fmla="*/ 6885432 h 6885432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2795" h="6885432">
                <a:moveTo>
                  <a:pt x="1662729" y="6885432"/>
                </a:moveTo>
                <a:lnTo>
                  <a:pt x="0" y="0"/>
                </a:lnTo>
                <a:lnTo>
                  <a:pt x="2162795" y="6885432"/>
                </a:lnTo>
                <a:lnTo>
                  <a:pt x="1662729" y="6885432"/>
                </a:lnTo>
              </a:path>
            </a:pathLst>
          </a:cu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1702939" y="2189481"/>
            <a:ext cx="7226777" cy="718279"/>
          </a:xfrm>
        </p:spPr>
        <p:txBody>
          <a:bodyPr>
            <a:noAutofit/>
          </a:bodyPr>
          <a:lstStyle>
            <a:lvl1pPr algn="l">
              <a:defRPr sz="405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subTitle" idx="1"/>
          </p:nvPr>
        </p:nvSpPr>
        <p:spPr>
          <a:xfrm>
            <a:off x="1702939" y="2917714"/>
            <a:ext cx="7223345" cy="350556"/>
          </a:xfrm>
        </p:spPr>
        <p:txBody>
          <a:bodyPr anchor="ctr"/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82A27DF-FC33-4C05-96AC-ECA7B11A9C6B}" type="datetime1">
              <a:rPr lang="ko-KR" altLang="en-US"/>
              <a:pPr lvl="0">
                <a:defRPr lang="ko-KR" altLang="en-US"/>
              </a:pPr>
              <a:t>2025-05-21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375421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EA2121F7-E20F-43B2-B3C6-C7E51EA698C5}" type="datetime1">
              <a:rPr lang="ko-KR" altLang="en-US"/>
              <a:pPr lvl="0">
                <a:defRPr lang="ko-KR" altLang="en-US"/>
              </a:pPr>
              <a:t>2025-05-21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53094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DAC1609-63DC-4238-90D7-BDA4CCE7E5D2}" type="datetime1">
              <a:rPr lang="ko-KR" altLang="en-US"/>
              <a:pPr lvl="0">
                <a:defRPr lang="ko-KR" altLang="en-US"/>
              </a:pPr>
              <a:t>2025-05-21</a:t>
            </a:fld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3049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-54863" y="2356436"/>
            <a:ext cx="9228784" cy="2787066"/>
            <a:chOff x="-28573" y="3141915"/>
            <a:chExt cx="9202494" cy="3716088"/>
          </a:xfrm>
        </p:grpSpPr>
        <p:sp>
          <p:nvSpPr>
            <p:cNvPr id="8" name="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  <a:alpha val="39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3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chemeClr val="accent1">
                <a:lumMod val="60000"/>
                <a:lumOff val="40000"/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1">
                <a:alpha val="74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3"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571471" y="1768064"/>
            <a:ext cx="7772399" cy="696528"/>
          </a:xfrm>
        </p:spPr>
        <p:txBody>
          <a:bodyPr anchor="t"/>
          <a:lstStyle>
            <a:lvl1pPr algn="l">
              <a:defRPr sz="4050" b="0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571471" y="1355272"/>
            <a:ext cx="7772399" cy="412792"/>
          </a:xfr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21794FCA-B30B-4B0B-A06E-872BCCC939B8}" type="datetime1">
              <a:rPr lang="ko-KR" altLang="en-US"/>
              <a:pPr lvl="0">
                <a:defRPr lang="ko-KR" altLang="en-US"/>
              </a:pPr>
              <a:t>2025-05-21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00354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half" idx="1"/>
          </p:nvPr>
        </p:nvSpPr>
        <p:spPr>
          <a:xfrm>
            <a:off x="457199" y="1200150"/>
            <a:ext cx="4038599" cy="339447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half" idx="2"/>
          </p:nvPr>
        </p:nvSpPr>
        <p:spPr>
          <a:xfrm>
            <a:off x="4648199" y="1200150"/>
            <a:ext cx="4038599" cy="3394472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82B4FBC9-0152-4321-B5AE-8A4D40C68623}" type="datetime1">
              <a:rPr lang="ko-KR" altLang="en-US"/>
              <a:pPr lvl="0">
                <a:defRPr lang="ko-KR" altLang="en-US"/>
              </a:pPr>
              <a:t>2025-05-21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42992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F5271060-A817-4E00-9021-886881503EBB}" type="datetime1">
              <a:rPr lang="ko-KR" altLang="en-US"/>
              <a:pPr lvl="0">
                <a:defRPr lang="ko-KR" altLang="en-US"/>
              </a:pPr>
              <a:t>2025-05-21</a:t>
            </a:fld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title" idx="0"/>
          </p:nvPr>
        </p:nvSpPr>
        <p:spPr>
          <a:xfrm>
            <a:off x="323849" y="92851"/>
            <a:ext cx="8477249" cy="704838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16684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tbl" sz="quarter" idx="13"/>
          </p:nvPr>
        </p:nvSpPr>
        <p:spPr>
          <a:xfrm>
            <a:off x="456027" y="910816"/>
            <a:ext cx="8229599" cy="3715380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7" name=""/>
          <p:cNvSpPr>
            <a:spLocks noGrp="1"/>
          </p:cNvSpPr>
          <p:nvPr>
            <p:ph type="dt" sz="half" idx="2"/>
          </p:nvPr>
        </p:nvSpPr>
        <p:spPr>
          <a:xfrm>
            <a:off x="323849" y="4767262"/>
            <a:ext cx="2133599" cy="273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47ABBE4F-A180-451B-976B-207E95DDA7FB}" type="datetime1">
              <a:rPr lang="ko-KR" altLang="en-US"/>
              <a:pPr lvl="0">
                <a:defRPr lang="ko-KR" altLang="en-US"/>
              </a:pPr>
              <a:t>2025-05-21</a:t>
            </a:fld>
            <a:endParaRPr lang="ko-KR" altLang="en-US"/>
          </a:p>
        </p:txBody>
      </p:sp>
      <p:sp>
        <p:nvSpPr>
          <p:cNvPr id="8" name=""/>
          <p:cNvSpPr>
            <a:spLocks noGrp="1"/>
          </p:cNvSpPr>
          <p:nvPr>
            <p:ph type="ftr" sz="quarter" idx="3"/>
          </p:nvPr>
        </p:nvSpPr>
        <p:spPr>
          <a:xfrm>
            <a:off x="3124199" y="4767262"/>
            <a:ext cx="2895599" cy="273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"/>
          <p:cNvSpPr>
            <a:spLocks noGrp="1"/>
          </p:cNvSpPr>
          <p:nvPr>
            <p:ph type="sldNum" sz="quarter" idx="4"/>
          </p:nvPr>
        </p:nvSpPr>
        <p:spPr>
          <a:xfrm>
            <a:off x="6667499" y="4767262"/>
            <a:ext cx="2133599" cy="273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0159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sz="quarter" idx="1"/>
          </p:nvPr>
        </p:nvSpPr>
        <p:spPr>
          <a:xfrm>
            <a:off x="457199" y="958404"/>
            <a:ext cx="4038599" cy="175415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sz="quarter" idx="2"/>
          </p:nvPr>
        </p:nvSpPr>
        <p:spPr>
          <a:xfrm>
            <a:off x="4648199" y="958404"/>
            <a:ext cx="4038599" cy="175415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sz="quarter" idx="3"/>
          </p:nvPr>
        </p:nvSpPr>
        <p:spPr>
          <a:xfrm>
            <a:off x="456027" y="2839642"/>
            <a:ext cx="4038599" cy="175415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sz="quarter" idx="4"/>
          </p:nvPr>
        </p:nvSpPr>
        <p:spPr>
          <a:xfrm>
            <a:off x="4647028" y="2839642"/>
            <a:ext cx="4038599" cy="175415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10" name=""/>
          <p:cNvSpPr>
            <a:spLocks noGrp="1"/>
          </p:cNvSpPr>
          <p:nvPr>
            <p:ph type="dt" sz="half" idx="10"/>
          </p:nvPr>
        </p:nvSpPr>
        <p:spPr>
          <a:xfrm>
            <a:off x="323849" y="4767262"/>
            <a:ext cx="2133599" cy="273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F0DB8ECF-E18C-4D8D-A7A0-FA2FABCA5290}" type="datetime1">
              <a:rPr lang="ko-KR" altLang="en-US"/>
              <a:pPr lvl="0">
                <a:defRPr lang="ko-KR" altLang="en-US"/>
              </a:pPr>
              <a:t>2025-05-21</a:t>
            </a:fld>
            <a:endParaRPr lang="ko-KR" altLang="en-US"/>
          </a:p>
        </p:txBody>
      </p:sp>
      <p:sp>
        <p:nvSpPr>
          <p:cNvPr id="11" name=""/>
          <p:cNvSpPr>
            <a:spLocks noGrp="1"/>
          </p:cNvSpPr>
          <p:nvPr>
            <p:ph type="ftr" sz="quarter" idx="11"/>
          </p:nvPr>
        </p:nvSpPr>
        <p:spPr>
          <a:xfrm>
            <a:off x="3124199" y="4767262"/>
            <a:ext cx="2895599" cy="273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2" name=""/>
          <p:cNvSpPr>
            <a:spLocks noGrp="1"/>
          </p:cNvSpPr>
          <p:nvPr>
            <p:ph type="sldNum" sz="quarter" idx="12"/>
          </p:nvPr>
        </p:nvSpPr>
        <p:spPr>
          <a:xfrm>
            <a:off x="6667499" y="4767262"/>
            <a:ext cx="2133599" cy="273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283112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5400000">
            <a:off x="-2475602" y="2475497"/>
            <a:ext cx="5165271" cy="214281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grpSp>
        <p:nvGrpSpPr>
          <p:cNvPr id="21" name=""/>
          <p:cNvGrpSpPr/>
          <p:nvPr/>
        </p:nvGrpSpPr>
        <p:grpSpPr>
          <a:xfrm rot="0" flipH="1">
            <a:off x="-2" y="0"/>
            <a:ext cx="9144001" cy="5143501"/>
            <a:chOff x="-1" y="0"/>
            <a:chExt cx="9144001" cy="6858001"/>
          </a:xfrm>
        </p:grpSpPr>
        <p:sp>
          <p:nvSpPr>
            <p:cNvPr id="22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chemeClr val="accent2">
                <a:lumMod val="50000"/>
                <a:lumOff val="50000"/>
                <a:alpha val="20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23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24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chemeClr val="accent2">
                  <a:lumMod val="25000"/>
                  <a:lumOff val="75000"/>
                  <a:alpha val="32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alpha val="75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2">
                  <a:lumMod val="50000"/>
                  <a:lumOff val="50000"/>
                  <a:alpha val="25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3">
                  <a:lumMod val="40000"/>
                  <a:lumOff val="60000"/>
                  <a:alpha val="5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714347" y="3579033"/>
            <a:ext cx="6510082" cy="425053"/>
          </a:xfrm>
        </p:spPr>
        <p:txBody>
          <a:bodyPr anchor="b"/>
          <a:lstStyle>
            <a:lvl1pPr algn="l">
              <a:defRPr sz="150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 noTextEdit="1"/>
          </p:cNvSpPr>
          <p:nvPr>
            <p:ph type="pic" idx="1"/>
          </p:nvPr>
        </p:nvSpPr>
        <p:spPr>
          <a:xfrm>
            <a:off x="714347" y="438164"/>
            <a:ext cx="6510082" cy="308610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100"/>
            </a:lvl2pPr>
            <a:lvl3pPr marL="914400" indent="0">
              <a:buNone/>
              <a:defRPr sz="1800"/>
            </a:lvl3pPr>
            <a:lvl4pPr marL="1371600" indent="0">
              <a:buNone/>
              <a:defRPr sz="1500"/>
            </a:lvl4pPr>
            <a:lvl5pPr marL="1828800" indent="0">
              <a:buNone/>
              <a:defRPr sz="1500"/>
            </a:lvl5pPr>
            <a:lvl6pPr marL="2286000" indent="0">
              <a:buNone/>
              <a:defRPr sz="1500"/>
            </a:lvl6pPr>
            <a:lvl7pPr marL="2743200" indent="0">
              <a:buNone/>
              <a:defRPr sz="1500"/>
            </a:lvl7pPr>
            <a:lvl8pPr marL="3200400" indent="0">
              <a:buNone/>
              <a:defRPr sz="1500"/>
            </a:lvl8pPr>
            <a:lvl9pPr marL="3657600" indent="0">
              <a:buNone/>
              <a:defRPr sz="15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body" sz="half" idx="2"/>
          </p:nvPr>
        </p:nvSpPr>
        <p:spPr>
          <a:xfrm>
            <a:off x="714347" y="4004086"/>
            <a:ext cx="6510082" cy="603646"/>
          </a:xfrm>
        </p:spPr>
        <p:txBody>
          <a:bodyPr/>
          <a:lstStyle>
            <a:lvl1pPr marL="0" indent="0">
              <a:buNone/>
              <a:defRPr sz="1050"/>
            </a:lvl1pPr>
            <a:lvl2pPr marL="457200" indent="0">
              <a:buNone/>
              <a:defRPr sz="900"/>
            </a:lvl2pPr>
            <a:lvl3pPr marL="914400" indent="0">
              <a:buNone/>
              <a:defRPr sz="750"/>
            </a:lvl3pPr>
            <a:lvl4pPr marL="1371600" indent="0">
              <a:buNone/>
              <a:defRPr sz="675"/>
            </a:lvl4pPr>
            <a:lvl5pPr marL="1828800" indent="0">
              <a:buNone/>
              <a:defRPr sz="675"/>
            </a:lvl5pPr>
            <a:lvl6pPr marL="2286000" indent="0">
              <a:buNone/>
              <a:defRPr sz="675"/>
            </a:lvl6pPr>
            <a:lvl7pPr marL="2743200" indent="0">
              <a:buNone/>
              <a:defRPr sz="675"/>
            </a:lvl7pPr>
            <a:lvl8pPr marL="3200400" indent="0">
              <a:buNone/>
              <a:defRPr sz="675"/>
            </a:lvl8pPr>
            <a:lvl9pPr marL="3657600" indent="0">
              <a:buNone/>
              <a:defRPr sz="675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type="dt" sz="half" idx="10"/>
          </p:nvPr>
        </p:nvSpPr>
        <p:spPr>
          <a:xfrm>
            <a:off x="323849" y="4767262"/>
            <a:ext cx="2133599" cy="273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8C9FE912-2C94-4152-970B-97CA7CEA7709}" type="datetime1">
              <a:rPr lang="ko-KR" altLang="en-US"/>
              <a:pPr lvl="0">
                <a:defRPr lang="ko-KR" altLang="en-US"/>
              </a:pPr>
              <a:t>2025-05-21</a:t>
            </a:fld>
            <a:endParaRPr lang="ko-KR" altLang="en-US"/>
          </a:p>
        </p:txBody>
      </p:sp>
      <p:sp>
        <p:nvSpPr>
          <p:cNvPr id="19" name=""/>
          <p:cNvSpPr>
            <a:spLocks noGrp="1"/>
          </p:cNvSpPr>
          <p:nvPr>
            <p:ph type="ftr" sz="quarter" idx="3"/>
          </p:nvPr>
        </p:nvSpPr>
        <p:spPr>
          <a:xfrm>
            <a:off x="3124199" y="4767262"/>
            <a:ext cx="2895599" cy="273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0" name=""/>
          <p:cNvSpPr>
            <a:spLocks noGrp="1"/>
          </p:cNvSpPr>
          <p:nvPr>
            <p:ph type="sldNum" sz="quarter" idx="4"/>
          </p:nvPr>
        </p:nvSpPr>
        <p:spPr>
          <a:xfrm>
            <a:off x="6667499" y="4767262"/>
            <a:ext cx="2133599" cy="2738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928304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/>
          <p:cNvGrpSpPr/>
          <p:nvPr/>
        </p:nvGrpSpPr>
        <p:grpSpPr>
          <a:xfrm rot="0">
            <a:off x="-54863" y="2356436"/>
            <a:ext cx="9228784" cy="2787066"/>
            <a:chOff x="-28573" y="3141915"/>
            <a:chExt cx="9202494" cy="3716088"/>
          </a:xfrm>
        </p:grpSpPr>
        <p:sp>
          <p:nvSpPr>
            <p:cNvPr id="7" name=""/>
            <p:cNvSpPr/>
            <p:nvPr/>
          </p:nvSpPr>
          <p:spPr>
            <a:xfrm rot="10800000" flipH="1">
              <a:off x="13414" y="5642418"/>
              <a:ext cx="3665145" cy="1074154"/>
            </a:xfrm>
            <a:custGeom>
              <a:avLst/>
              <a:gdLst>
                <a:gd name="connsiteX0" fmla="*/ 0 w 2715"/>
                <a:gd name="connsiteY0" fmla="*/ 0 h 1458"/>
                <a:gd name="connsiteX1" fmla="*/ 0 w 2715"/>
                <a:gd name="connsiteY1" fmla="*/ 1458 h 1458"/>
                <a:gd name="connsiteX2" fmla="*/ 2715 w 2715"/>
                <a:gd name="connsiteY2" fmla="*/ 909 h 1458"/>
                <a:gd name="connsiteX3" fmla="*/ 0 w 2715"/>
                <a:gd name="connsiteY3" fmla="*/ 0 h 145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15" h="1458">
                  <a:moveTo>
                    <a:pt x="0" y="0"/>
                  </a:moveTo>
                  <a:lnTo>
                    <a:pt x="0" y="1458"/>
                  </a:lnTo>
                  <a:lnTo>
                    <a:pt x="2715" y="909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40000"/>
                <a:lumOff val="60000"/>
                <a:alpha val="58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8" name=""/>
            <p:cNvSpPr/>
            <p:nvPr/>
          </p:nvSpPr>
          <p:spPr>
            <a:xfrm rot="10800000" flipH="1">
              <a:off x="8017" y="6050481"/>
              <a:ext cx="9154154" cy="807522"/>
            </a:xfrm>
            <a:custGeom>
              <a:avLst/>
              <a:gdLst>
                <a:gd name="connsiteX0" fmla="*/ 6774 w 6774"/>
                <a:gd name="connsiteY0" fmla="*/ 0 h 1097"/>
                <a:gd name="connsiteX1" fmla="*/ 0 w 6774"/>
                <a:gd name="connsiteY1" fmla="*/ 0 h 1097"/>
                <a:gd name="connsiteX2" fmla="*/ 0 w 6774"/>
                <a:gd name="connsiteY2" fmla="*/ 194 h 1097"/>
                <a:gd name="connsiteX3" fmla="*/ 2700 w 6774"/>
                <a:gd name="connsiteY3" fmla="*/ 1097 h 1097"/>
                <a:gd name="connsiteX4" fmla="*/ 6774 w 6774"/>
                <a:gd name="connsiteY4" fmla="*/ 282 h 1097"/>
                <a:gd name="connsiteX5" fmla="*/ 6774 w 6774"/>
                <a:gd name="connsiteY5" fmla="*/ 0 h 109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74" h="1097">
                  <a:moveTo>
                    <a:pt x="6774" y="0"/>
                  </a:moveTo>
                  <a:lnTo>
                    <a:pt x="0" y="0"/>
                  </a:lnTo>
                  <a:lnTo>
                    <a:pt x="0" y="194"/>
                  </a:lnTo>
                  <a:lnTo>
                    <a:pt x="2700" y="1097"/>
                  </a:lnTo>
                  <a:lnTo>
                    <a:pt x="6774" y="282"/>
                  </a:lnTo>
                  <a:lnTo>
                    <a:pt x="6774" y="0"/>
                  </a:lnTo>
                </a:path>
              </a:pathLst>
            </a:custGeom>
            <a:solidFill>
              <a:schemeClr val="accent1">
                <a:alpha val="7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 rot="10800000">
              <a:off x="3672466" y="5238365"/>
              <a:ext cx="5490588" cy="1410652"/>
            </a:xfrm>
            <a:custGeom>
              <a:avLst/>
              <a:gdLst>
                <a:gd name="connsiteX0" fmla="*/ 5486400 w 5486400"/>
                <a:gd name="connsiteY0" fmla="*/ 1085850 h 2571750"/>
                <a:gd name="connsiteX1" fmla="*/ 0 w 5486400"/>
                <a:gd name="connsiteY1" fmla="*/ 0 h 2571750"/>
                <a:gd name="connsiteX2" fmla="*/ 0 w 5486400"/>
                <a:gd name="connsiteY2" fmla="*/ 95250 h 2571750"/>
                <a:gd name="connsiteX3" fmla="*/ 923925 w 5486400"/>
                <a:gd name="connsiteY3" fmla="*/ 2571750 h 2571750"/>
                <a:gd name="connsiteX4" fmla="*/ 5486400 w 5486400"/>
                <a:gd name="connsiteY4" fmla="*/ 1085850 h 25717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6400" h="2571750">
                  <a:moveTo>
                    <a:pt x="5486400" y="1085850"/>
                  </a:moveTo>
                  <a:lnTo>
                    <a:pt x="0" y="0"/>
                  </a:lnTo>
                  <a:lnTo>
                    <a:pt x="0" y="95250"/>
                  </a:lnTo>
                  <a:lnTo>
                    <a:pt x="923925" y="2571750"/>
                  </a:lnTo>
                  <a:lnTo>
                    <a:pt x="5486400" y="1085850"/>
                  </a:lnTo>
                </a:path>
              </a:pathLst>
            </a:custGeom>
            <a:solidFill>
              <a:srgbClr val="b6b8ba">
                <a:alpha val="38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 rot="10800000">
              <a:off x="8223873" y="5072085"/>
              <a:ext cx="931774" cy="1548196"/>
            </a:xfrm>
            <a:custGeom>
              <a:avLst/>
              <a:gdLst>
                <a:gd name="connsiteX0" fmla="*/ 0 w 571472"/>
                <a:gd name="connsiteY0" fmla="*/ 3000396 h 3000396"/>
                <a:gd name="connsiteX1" fmla="*/ 0 w 571472"/>
                <a:gd name="connsiteY1" fmla="*/ 0 h 3000396"/>
                <a:gd name="connsiteX2" fmla="*/ 571472 w 571472"/>
                <a:gd name="connsiteY2" fmla="*/ 3000396 h 3000396"/>
                <a:gd name="connsiteX3" fmla="*/ 0 w 571472"/>
                <a:gd name="connsiteY3" fmla="*/ 3000396 h 3000396"/>
                <a:gd name="connsiteX0" fmla="*/ 0 w 928630"/>
                <a:gd name="connsiteY0" fmla="*/ 3000396 h 3000396"/>
                <a:gd name="connsiteX1" fmla="*/ 0 w 928630"/>
                <a:gd name="connsiteY1" fmla="*/ 0 h 3000396"/>
                <a:gd name="connsiteX2" fmla="*/ 928630 w 928630"/>
                <a:gd name="connsiteY2" fmla="*/ 2500306 h 3000396"/>
                <a:gd name="connsiteX3" fmla="*/ 0 w 928630"/>
                <a:gd name="connsiteY3" fmla="*/ 3000396 h 3000396"/>
                <a:gd name="connsiteX0" fmla="*/ 9525 w 938155"/>
                <a:gd name="connsiteY0" fmla="*/ 3067050 h 3067050"/>
                <a:gd name="connsiteX1" fmla="*/ 0 w 938155"/>
                <a:gd name="connsiteY1" fmla="*/ 0 h 3067050"/>
                <a:gd name="connsiteX2" fmla="*/ 938155 w 938155"/>
                <a:gd name="connsiteY2" fmla="*/ 2566960 h 3067050"/>
                <a:gd name="connsiteX3" fmla="*/ 9525 w 938155"/>
                <a:gd name="connsiteY3" fmla="*/ 3067050 h 3067050"/>
                <a:gd name="connsiteX0" fmla="*/ 9525 w 928656"/>
                <a:gd name="connsiteY0" fmla="*/ 3067050 h 3067050"/>
                <a:gd name="connsiteX1" fmla="*/ 0 w 928656"/>
                <a:gd name="connsiteY1" fmla="*/ 0 h 3067050"/>
                <a:gd name="connsiteX2" fmla="*/ 928656 w 928656"/>
                <a:gd name="connsiteY2" fmla="*/ 2509813 h 3067050"/>
                <a:gd name="connsiteX3" fmla="*/ 9525 w 928656"/>
                <a:gd name="connsiteY3" fmla="*/ 3067050 h 3067050"/>
                <a:gd name="connsiteX0" fmla="*/ 9525 w 928656"/>
                <a:gd name="connsiteY0" fmla="*/ 2709836 h 2709836"/>
                <a:gd name="connsiteX1" fmla="*/ 0 w 928656"/>
                <a:gd name="connsiteY1" fmla="*/ 0 h 2709836"/>
                <a:gd name="connsiteX2" fmla="*/ 928656 w 928656"/>
                <a:gd name="connsiteY2" fmla="*/ 2509813 h 2709836"/>
                <a:gd name="connsiteX3" fmla="*/ 9525 w 928656"/>
                <a:gd name="connsiteY3" fmla="*/ 2709836 h 2709836"/>
                <a:gd name="connsiteX0" fmla="*/ 9525 w 928656"/>
                <a:gd name="connsiteY0" fmla="*/ 2781250 h 2781250"/>
                <a:gd name="connsiteX1" fmla="*/ 0 w 928656"/>
                <a:gd name="connsiteY1" fmla="*/ 0 h 2781250"/>
                <a:gd name="connsiteX2" fmla="*/ 928656 w 928656"/>
                <a:gd name="connsiteY2" fmla="*/ 2509813 h 2781250"/>
                <a:gd name="connsiteX3" fmla="*/ 9525 w 928656"/>
                <a:gd name="connsiteY3" fmla="*/ 2781250 h 2781250"/>
                <a:gd name="connsiteX0" fmla="*/ 9525 w 928656"/>
                <a:gd name="connsiteY0" fmla="*/ 2924102 h 2924102"/>
                <a:gd name="connsiteX1" fmla="*/ 0 w 928656"/>
                <a:gd name="connsiteY1" fmla="*/ 0 h 2924102"/>
                <a:gd name="connsiteX2" fmla="*/ 928656 w 928656"/>
                <a:gd name="connsiteY2" fmla="*/ 2509813 h 2924102"/>
                <a:gd name="connsiteX3" fmla="*/ 9525 w 928656"/>
                <a:gd name="connsiteY3" fmla="*/ 2924102 h 2924102"/>
                <a:gd name="connsiteX0" fmla="*/ 9525 w 931063"/>
                <a:gd name="connsiteY0" fmla="*/ 2924102 h 2924102"/>
                <a:gd name="connsiteX1" fmla="*/ 0 w 931063"/>
                <a:gd name="connsiteY1" fmla="*/ 0 h 2924102"/>
                <a:gd name="connsiteX2" fmla="*/ 931063 w 931063"/>
                <a:gd name="connsiteY2" fmla="*/ 2521723 h 2924102"/>
                <a:gd name="connsiteX3" fmla="*/ 9525 w 931063"/>
                <a:gd name="connsiteY3" fmla="*/ 2924102 h 2924102"/>
                <a:gd name="connsiteX0" fmla="*/ 0 w 931063"/>
                <a:gd name="connsiteY0" fmla="*/ 2805040 h 2805040"/>
                <a:gd name="connsiteX1" fmla="*/ 0 w 931063"/>
                <a:gd name="connsiteY1" fmla="*/ 0 h 2805040"/>
                <a:gd name="connsiteX2" fmla="*/ 931063 w 931063"/>
                <a:gd name="connsiteY2" fmla="*/ 2521723 h 2805040"/>
                <a:gd name="connsiteX3" fmla="*/ 0 w 931063"/>
                <a:gd name="connsiteY3" fmla="*/ 2805040 h 2805040"/>
                <a:gd name="connsiteX0" fmla="*/ 6350 w 931063"/>
                <a:gd name="connsiteY0" fmla="*/ 2822504 h 2822504"/>
                <a:gd name="connsiteX1" fmla="*/ 0 w 931063"/>
                <a:gd name="connsiteY1" fmla="*/ 0 h 2822504"/>
                <a:gd name="connsiteX2" fmla="*/ 931063 w 931063"/>
                <a:gd name="connsiteY2" fmla="*/ 2521723 h 2822504"/>
                <a:gd name="connsiteX3" fmla="*/ 6350 w 931063"/>
                <a:gd name="connsiteY3" fmla="*/ 2822504 h 282250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1063" h="2822504">
                  <a:moveTo>
                    <a:pt x="6350" y="2822504"/>
                  </a:moveTo>
                  <a:cubicBezTo>
                    <a:pt x="4233" y="1881669"/>
                    <a:pt x="2117" y="940835"/>
                    <a:pt x="0" y="0"/>
                  </a:cubicBezTo>
                  <a:lnTo>
                    <a:pt x="931063" y="2521723"/>
                  </a:lnTo>
                  <a:lnTo>
                    <a:pt x="6350" y="2822504"/>
                  </a:lnTo>
                </a:path>
              </a:pathLst>
            </a:custGeom>
            <a:solidFill>
              <a:schemeClr val="accent2">
                <a:lumMod val="50000"/>
                <a:lumOff val="50000"/>
                <a:alpha val="65000"/>
              </a:scheme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 rot="16200000">
              <a:off x="2776226" y="337116"/>
              <a:ext cx="3592895" cy="9202494"/>
            </a:xfrm>
            <a:custGeom>
              <a:avLst/>
              <a:gdLst>
                <a:gd name="connsiteX0" fmla="*/ 0 w 500066"/>
                <a:gd name="connsiteY0" fmla="*/ 6858000 h 6858000"/>
                <a:gd name="connsiteX1" fmla="*/ 250033 w 500066"/>
                <a:gd name="connsiteY1" fmla="*/ 0 h 6858000"/>
                <a:gd name="connsiteX2" fmla="*/ 500066 w 500066"/>
                <a:gd name="connsiteY2" fmla="*/ 6858000 h 6858000"/>
                <a:gd name="connsiteX3" fmla="*/ 0 w 500066"/>
                <a:gd name="connsiteY3" fmla="*/ 6858000 h 6858000"/>
                <a:gd name="connsiteX0" fmla="*/ 1638757 w 2138823"/>
                <a:gd name="connsiteY0" fmla="*/ 6876288 h 6876288"/>
                <a:gd name="connsiteX1" fmla="*/ 0 w 2138823"/>
                <a:gd name="connsiteY1" fmla="*/ 0 h 6876288"/>
                <a:gd name="connsiteX2" fmla="*/ 2138823 w 2138823"/>
                <a:gd name="connsiteY2" fmla="*/ 6876288 h 6876288"/>
                <a:gd name="connsiteX3" fmla="*/ 1638757 w 2138823"/>
                <a:gd name="connsiteY3" fmla="*/ 6876288 h 6876288"/>
                <a:gd name="connsiteX0" fmla="*/ 1662729 w 2162795"/>
                <a:gd name="connsiteY0" fmla="*/ 6885432 h 6885432"/>
                <a:gd name="connsiteX1" fmla="*/ 0 w 2162795"/>
                <a:gd name="connsiteY1" fmla="*/ 0 h 6885432"/>
                <a:gd name="connsiteX2" fmla="*/ 2162795 w 2162795"/>
                <a:gd name="connsiteY2" fmla="*/ 6885432 h 6885432"/>
                <a:gd name="connsiteX3" fmla="*/ 1662729 w 2162795"/>
                <a:gd name="connsiteY3" fmla="*/ 6885432 h 6885432"/>
                <a:gd name="connsiteX0" fmla="*/ 1662729 w 3592895"/>
                <a:gd name="connsiteY0" fmla="*/ 6885432 h 6899132"/>
                <a:gd name="connsiteX1" fmla="*/ 0 w 3592895"/>
                <a:gd name="connsiteY1" fmla="*/ 0 h 6899132"/>
                <a:gd name="connsiteX2" fmla="*/ 3592895 w 3592895"/>
                <a:gd name="connsiteY2" fmla="*/ 6899132 h 6899132"/>
                <a:gd name="connsiteX3" fmla="*/ 1662729 w 3592895"/>
                <a:gd name="connsiteY3" fmla="*/ 6885432 h 6899132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92895" h="6899132">
                  <a:moveTo>
                    <a:pt x="1662729" y="6885432"/>
                  </a:moveTo>
                  <a:lnTo>
                    <a:pt x="0" y="0"/>
                  </a:lnTo>
                  <a:lnTo>
                    <a:pt x="3592895" y="6899132"/>
                  </a:lnTo>
                  <a:lnTo>
                    <a:pt x="1662729" y="6885432"/>
                  </a:lnTo>
                </a:path>
              </a:pathLst>
            </a:custGeom>
            <a:solidFill>
              <a:schemeClr val="accent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ctrTitle" idx="0"/>
          </p:nvPr>
        </p:nvSpPr>
        <p:spPr>
          <a:xfrm>
            <a:off x="247649" y="2005016"/>
            <a:ext cx="8648699" cy="1102518"/>
          </a:xfrm>
        </p:spPr>
        <p:txBody>
          <a:bodyPr/>
          <a:lstStyle>
            <a:lvl1pPr algn="ctr">
              <a:defRPr sz="4050" b="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>
          <a:xfrm>
            <a:off x="457199" y="4767262"/>
            <a:ext cx="2133599" cy="273843"/>
          </a:xfrm>
        </p:spPr>
        <p:txBody>
          <a:bodyPr/>
          <a:lstStyle/>
          <a:p>
            <a:pPr lvl="0">
              <a:defRPr lang="ko-KR" altLang="en-US"/>
            </a:pPr>
            <a:fld id="{10BF683E-EC8C-4F1E-8017-25E57E2CE77B}" type="datetime1">
              <a:rPr lang="ko-KR" altLang="en-US"/>
              <a:pPr lvl="0">
                <a:defRPr lang="ko-KR" altLang="en-US"/>
              </a:pPr>
              <a:t>2025-05-21</a:t>
            </a:fld>
            <a:endParaRPr lang="en-US" alt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>
          <a:xfrm>
            <a:off x="3124199" y="4767262"/>
            <a:ext cx="2895599" cy="273843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>
          <a:xfrm>
            <a:off x="6553199" y="4767262"/>
            <a:ext cx="2133599" cy="273843"/>
          </a:xfrm>
        </p:spPr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151074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0">
            <a:off x="0" y="0"/>
            <a:ext cx="9144001" cy="5143501"/>
            <a:chOff x="-1" y="0"/>
            <a:chExt cx="9144001" cy="6858001"/>
          </a:xfrm>
        </p:grpSpPr>
        <p:sp>
          <p:nvSpPr>
            <p:cNvPr id="8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49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9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10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b6b8ba">
                  <a:alpha val="59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49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0" y="3143248"/>
                <a:ext cx="2088010" cy="3477128"/>
              </a:xfrm>
              <a:custGeom>
                <a:avLst/>
                <a:gdLst>
                  <a:gd name="connsiteX0" fmla="*/ 1074 w 1779"/>
                  <a:gd name="connsiteY0" fmla="*/ 0 h 2893"/>
                  <a:gd name="connsiteX1" fmla="*/ 0 w 1779"/>
                  <a:gd name="connsiteY1" fmla="*/ 2893 h 2893"/>
                  <a:gd name="connsiteX2" fmla="*/ 1779 w 1779"/>
                  <a:gd name="connsiteY2" fmla="*/ 2604 h 2893"/>
                  <a:gd name="connsiteX3" fmla="*/ 1074 w 1779"/>
                  <a:gd name="connsiteY3" fmla="*/ 0 h 2893"/>
                  <a:gd name="connsiteX0" fmla="*/ 1074 w 1755"/>
                  <a:gd name="connsiteY0" fmla="*/ 0 h 2893"/>
                  <a:gd name="connsiteX1" fmla="*/ 0 w 1755"/>
                  <a:gd name="connsiteY1" fmla="*/ 2893 h 2893"/>
                  <a:gd name="connsiteX2" fmla="*/ 1755 w 1755"/>
                  <a:gd name="connsiteY2" fmla="*/ 2525 h 2893"/>
                  <a:gd name="connsiteX3" fmla="*/ 1074 w 1755"/>
                  <a:gd name="connsiteY3" fmla="*/ 0 h 28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55" h="2893">
                    <a:moveTo>
                      <a:pt x="1074" y="0"/>
                    </a:moveTo>
                    <a:lnTo>
                      <a:pt x="0" y="2893"/>
                    </a:lnTo>
                    <a:lnTo>
                      <a:pt x="1755" y="2525"/>
                    </a:lnTo>
                    <a:lnTo>
                      <a:pt x="1074" y="0"/>
                    </a:lnTo>
                  </a:path>
                </a:pathLst>
              </a:custGeom>
              <a:solidFill>
                <a:schemeClr val="accent5">
                  <a:alpha val="71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1907021" y="840909"/>
            <a:ext cx="5878285" cy="857250"/>
          </a:xfrm>
        </p:spPr>
        <p:txBody>
          <a:bodyPr/>
          <a:lstStyle>
            <a:lvl1pPr algn="l">
              <a:defRPr sz="3000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18" name=""/>
          <p:cNvSpPr>
            <a:spLocks noGrp="1"/>
          </p:cNvSpPr>
          <p:nvPr>
            <p:ph type="body" sz="quarter" idx="14"/>
          </p:nvPr>
        </p:nvSpPr>
        <p:spPr>
          <a:xfrm>
            <a:off x="1907032" y="1714505"/>
            <a:ext cx="5879677" cy="2571756"/>
          </a:xfr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FDD8E82-9EDF-4A21-8052-950E349A4E6B}" type="datetime1">
              <a:rPr lang="ko-KR" altLang="en-US"/>
              <a:pPr lvl="0">
                <a:defRPr lang="ko-KR" altLang="en-US"/>
              </a:pPr>
              <a:t>2025-05-21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9569861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 rot="10800000" flipH="1">
            <a:off x="7823202" y="3161112"/>
            <a:ext cx="1335673" cy="2004157"/>
            <a:chOff x="7830097" y="-3175"/>
            <a:chExt cx="1335674" cy="3646465"/>
          </a:xfrm>
        </p:grpSpPr>
        <p:sp>
          <p:nvSpPr>
            <p:cNvPr id="8" name=""/>
            <p:cNvSpPr/>
            <p:nvPr/>
          </p:nvSpPr>
          <p:spPr>
            <a:xfrm>
              <a:off x="7858910" y="-3175"/>
              <a:ext cx="1290865" cy="2960833"/>
            </a:xfrm>
            <a:custGeom>
              <a:avLst/>
              <a:gdLst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3062 w 2623457"/>
                <a:gd name="connsiteY2" fmla="*/ 0 h 6063342"/>
                <a:gd name="connsiteX3" fmla="*/ 174172 w 2623457"/>
                <a:gd name="connsiteY3" fmla="*/ 0 h 6063342"/>
                <a:gd name="connsiteX4" fmla="*/ 1556657 w 2623457"/>
                <a:gd name="connsiteY4" fmla="*/ 1545771 h 6063342"/>
                <a:gd name="connsiteX5" fmla="*/ 2623457 w 2623457"/>
                <a:gd name="connsiteY5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63342 h 6063342"/>
                <a:gd name="connsiteX1" fmla="*/ 0 w 2623457"/>
                <a:gd name="connsiteY1" fmla="*/ 0 h 6063342"/>
                <a:gd name="connsiteX2" fmla="*/ 174172 w 2623457"/>
                <a:gd name="connsiteY2" fmla="*/ 0 h 6063342"/>
                <a:gd name="connsiteX3" fmla="*/ 1556657 w 2623457"/>
                <a:gd name="connsiteY3" fmla="*/ 1545771 h 6063342"/>
                <a:gd name="connsiteX4" fmla="*/ 2623457 w 2623457"/>
                <a:gd name="connsiteY4" fmla="*/ 6063342 h 6063342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85682 h 6085682"/>
                <a:gd name="connsiteX1" fmla="*/ 0 w 2623457"/>
                <a:gd name="connsiteY1" fmla="*/ 22340 h 6085682"/>
                <a:gd name="connsiteX2" fmla="*/ 667 w 2623457"/>
                <a:gd name="connsiteY2" fmla="*/ 0 h 6085682"/>
                <a:gd name="connsiteX3" fmla="*/ 183682 w 2623457"/>
                <a:gd name="connsiteY3" fmla="*/ 9574 h 6085682"/>
                <a:gd name="connsiteX4" fmla="*/ 1556657 w 2623457"/>
                <a:gd name="connsiteY4" fmla="*/ 1568111 h 6085682"/>
                <a:gd name="connsiteX5" fmla="*/ 2623457 w 2623457"/>
                <a:gd name="connsiteY5" fmla="*/ 6085682 h 6085682"/>
                <a:gd name="connsiteX0" fmla="*/ 3030086 w 3030086"/>
                <a:gd name="connsiteY0" fmla="*/ 7076027 h 7076027"/>
                <a:gd name="connsiteX1" fmla="*/ 406629 w 3030086"/>
                <a:gd name="connsiteY1" fmla="*/ 1012685 h 7076027"/>
                <a:gd name="connsiteX2" fmla="*/ 590311 w 3030086"/>
                <a:gd name="connsiteY2" fmla="*/ 999919 h 7076027"/>
                <a:gd name="connsiteX3" fmla="*/ 1963286 w 3030086"/>
                <a:gd name="connsiteY3" fmla="*/ 2558456 h 7076027"/>
                <a:gd name="connsiteX4" fmla="*/ 3030086 w 3030086"/>
                <a:gd name="connsiteY4" fmla="*/ 7076027 h 7076027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23457 w 2623457"/>
                <a:gd name="connsiteY0" fmla="*/ 6076108 h 6076108"/>
                <a:gd name="connsiteX1" fmla="*/ 0 w 2623457"/>
                <a:gd name="connsiteY1" fmla="*/ 12766 h 6076108"/>
                <a:gd name="connsiteX2" fmla="*/ 183682 w 2623457"/>
                <a:gd name="connsiteY2" fmla="*/ 0 h 6076108"/>
                <a:gd name="connsiteX3" fmla="*/ 1556657 w 2623457"/>
                <a:gd name="connsiteY3" fmla="*/ 1558537 h 6076108"/>
                <a:gd name="connsiteX4" fmla="*/ 2623457 w 2623457"/>
                <a:gd name="connsiteY4" fmla="*/ 6076108 h 6076108"/>
                <a:gd name="connsiteX0" fmla="*/ 2630614 w 2630614"/>
                <a:gd name="connsiteY0" fmla="*/ 6076108 h 6076108"/>
                <a:gd name="connsiteX1" fmla="*/ 0 w 2630614"/>
                <a:gd name="connsiteY1" fmla="*/ 5585 h 6076108"/>
                <a:gd name="connsiteX2" fmla="*/ 190839 w 2630614"/>
                <a:gd name="connsiteY2" fmla="*/ 0 h 6076108"/>
                <a:gd name="connsiteX3" fmla="*/ 1563814 w 2630614"/>
                <a:gd name="connsiteY3" fmla="*/ 1558537 h 6076108"/>
                <a:gd name="connsiteX4" fmla="*/ 2630614 w 2630614"/>
                <a:gd name="connsiteY4" fmla="*/ 6076108 h 6076108"/>
                <a:gd name="connsiteX0" fmla="*/ 2635390 w 2635390"/>
                <a:gd name="connsiteY0" fmla="*/ 6076108 h 6076108"/>
                <a:gd name="connsiteX1" fmla="*/ 0 w 2635390"/>
                <a:gd name="connsiteY1" fmla="*/ 797 h 6076108"/>
                <a:gd name="connsiteX2" fmla="*/ 195615 w 2635390"/>
                <a:gd name="connsiteY2" fmla="*/ 0 h 6076108"/>
                <a:gd name="connsiteX3" fmla="*/ 1568590 w 2635390"/>
                <a:gd name="connsiteY3" fmla="*/ 1558537 h 6076108"/>
                <a:gd name="connsiteX4" fmla="*/ 2635390 w 2635390"/>
                <a:gd name="connsiteY4" fmla="*/ 6076108 h 607610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5390" h="6076108">
                  <a:moveTo>
                    <a:pt x="2635390" y="6076108"/>
                  </a:moveTo>
                  <a:lnTo>
                    <a:pt x="0" y="797"/>
                  </a:lnTo>
                  <a:lnTo>
                    <a:pt x="195615" y="0"/>
                  </a:lnTo>
                  <a:lnTo>
                    <a:pt x="1568590" y="1558537"/>
                  </a:lnTo>
                  <a:lnTo>
                    <a:pt x="2635390" y="607610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9" name=""/>
            <p:cNvSpPr/>
            <p:nvPr/>
          </p:nvSpPr>
          <p:spPr>
            <a:xfrm>
              <a:off x="8617016" y="737400"/>
              <a:ext cx="543423" cy="2244786"/>
            </a:xfrm>
            <a:custGeom>
              <a:avLst/>
              <a:gdLst>
                <a:gd name="connsiteX0" fmla="*/ 0 w 1088572"/>
                <a:gd name="connsiteY0" fmla="*/ 0 h 4582886"/>
                <a:gd name="connsiteX1" fmla="*/ 1088572 w 1088572"/>
                <a:gd name="connsiteY1" fmla="*/ 1186543 h 4582886"/>
                <a:gd name="connsiteX2" fmla="*/ 1088572 w 1088572"/>
                <a:gd name="connsiteY2" fmla="*/ 4582886 h 4582886"/>
                <a:gd name="connsiteX3" fmla="*/ 0 w 1088572"/>
                <a:gd name="connsiteY3" fmla="*/ 0 h 4582886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8572" h="4582886">
                  <a:moveTo>
                    <a:pt x="0" y="0"/>
                  </a:moveTo>
                  <a:lnTo>
                    <a:pt x="1088572" y="1186543"/>
                  </a:lnTo>
                  <a:lnTo>
                    <a:pt x="1088572" y="4582886"/>
                  </a:lnTo>
                  <a:lnTo>
                    <a:pt x="0" y="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0" name=""/>
            <p:cNvSpPr/>
            <p:nvPr/>
          </p:nvSpPr>
          <p:spPr>
            <a:xfrm>
              <a:off x="7956911" y="-1619"/>
              <a:ext cx="671047" cy="757711"/>
            </a:xfrm>
            <a:custGeom>
              <a:avLst/>
              <a:gdLst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71600 w 1371600"/>
                <a:gd name="connsiteY0" fmla="*/ 1491343 h 1491343"/>
                <a:gd name="connsiteX1" fmla="*/ 1023257 w 1371600"/>
                <a:gd name="connsiteY1" fmla="*/ 0 h 1491343"/>
                <a:gd name="connsiteX2" fmla="*/ 0 w 1371600"/>
                <a:gd name="connsiteY2" fmla="*/ 0 h 1491343"/>
                <a:gd name="connsiteX3" fmla="*/ 1371600 w 1371600"/>
                <a:gd name="connsiteY3" fmla="*/ 1491343 h 1491343"/>
                <a:gd name="connsiteX0" fmla="*/ 1369988 w 1369988"/>
                <a:gd name="connsiteY0" fmla="*/ 1546919 h 1546919"/>
                <a:gd name="connsiteX1" fmla="*/ 1023257 w 1369988"/>
                <a:gd name="connsiteY1" fmla="*/ 0 h 1546919"/>
                <a:gd name="connsiteX2" fmla="*/ 0 w 1369988"/>
                <a:gd name="connsiteY2" fmla="*/ 0 h 1546919"/>
                <a:gd name="connsiteX3" fmla="*/ 1369988 w 1369988"/>
                <a:gd name="connsiteY3" fmla="*/ 1546919 h 154691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9988" h="1546919">
                  <a:moveTo>
                    <a:pt x="1369988" y="1546919"/>
                  </a:moveTo>
                  <a:lnTo>
                    <a:pt x="1023257" y="0"/>
                  </a:lnTo>
                  <a:lnTo>
                    <a:pt x="0" y="0"/>
                  </a:lnTo>
                  <a:lnTo>
                    <a:pt x="1369988" y="154691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1" name=""/>
            <p:cNvSpPr/>
            <p:nvPr/>
          </p:nvSpPr>
          <p:spPr>
            <a:xfrm>
              <a:off x="8455711" y="-1619"/>
              <a:ext cx="710060" cy="1329898"/>
            </a:xfrm>
            <a:custGeom>
              <a:avLst/>
              <a:gdLst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0 w 1436914"/>
                <a:gd name="connsiteY4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36914"/>
                <a:gd name="connsiteY0" fmla="*/ 0 h 2721429"/>
                <a:gd name="connsiteX1" fmla="*/ 326572 w 1436914"/>
                <a:gd name="connsiteY1" fmla="*/ 1534886 h 2721429"/>
                <a:gd name="connsiteX2" fmla="*/ 1436914 w 1436914"/>
                <a:gd name="connsiteY2" fmla="*/ 2721429 h 2721429"/>
                <a:gd name="connsiteX3" fmla="*/ 1415143 w 1436914"/>
                <a:gd name="connsiteY3" fmla="*/ 10886 h 2721429"/>
                <a:gd name="connsiteX4" fmla="*/ 1408793 w 1436914"/>
                <a:gd name="connsiteY4" fmla="*/ 6350 h 2721429"/>
                <a:gd name="connsiteX5" fmla="*/ 0 w 1436914"/>
                <a:gd name="connsiteY5" fmla="*/ 0 h 2721429"/>
                <a:gd name="connsiteX0" fmla="*/ 0 w 1449636"/>
                <a:gd name="connsiteY0" fmla="*/ 0 h 2715079"/>
                <a:gd name="connsiteX1" fmla="*/ 339294 w 1449636"/>
                <a:gd name="connsiteY1" fmla="*/ 1528536 h 2715079"/>
                <a:gd name="connsiteX2" fmla="*/ 1449636 w 1449636"/>
                <a:gd name="connsiteY2" fmla="*/ 2715079 h 2715079"/>
                <a:gd name="connsiteX3" fmla="*/ 1427865 w 1449636"/>
                <a:gd name="connsiteY3" fmla="*/ 4536 h 2715079"/>
                <a:gd name="connsiteX4" fmla="*/ 1421515 w 1449636"/>
                <a:gd name="connsiteY4" fmla="*/ 0 h 2715079"/>
                <a:gd name="connsiteX5" fmla="*/ 0 w 1449636"/>
                <a:gd name="connsiteY5" fmla="*/ 0 h 271507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49636" h="2715079">
                  <a:moveTo>
                    <a:pt x="0" y="0"/>
                  </a:moveTo>
                  <a:lnTo>
                    <a:pt x="339294" y="1528536"/>
                  </a:lnTo>
                  <a:lnTo>
                    <a:pt x="1449636" y="2715079"/>
                  </a:lnTo>
                  <a:lnTo>
                    <a:pt x="1427865" y="4536"/>
                  </a:lnTo>
                  <a:lnTo>
                    <a:pt x="1421515" y="0"/>
                  </a:lnTo>
                  <a:lnTo>
                    <a:pt x="0" y="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sp>
          <p:nvSpPr>
            <p:cNvPr id="12" name=""/>
            <p:cNvSpPr/>
            <p:nvPr/>
          </p:nvSpPr>
          <p:spPr>
            <a:xfrm>
              <a:off x="7830097" y="-1619"/>
              <a:ext cx="1325010" cy="3644909"/>
            </a:xfrm>
            <a:custGeom>
              <a:avLst/>
              <a:gdLst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49993 w 2705100"/>
                <a:gd name="connsiteY2" fmla="*/ 9525 h 6867525"/>
                <a:gd name="connsiteX3" fmla="*/ 0 w 2705100"/>
                <a:gd name="connsiteY3" fmla="*/ 9525 h 6867525"/>
                <a:gd name="connsiteX4" fmla="*/ 2295525 w 2705100"/>
                <a:gd name="connsiteY4" fmla="*/ 6858000 h 6867525"/>
                <a:gd name="connsiteX5" fmla="*/ 2695575 w 2705100"/>
                <a:gd name="connsiteY5" fmla="*/ 6867525 h 6867525"/>
                <a:gd name="connsiteX6" fmla="*/ 2705100 w 2705100"/>
                <a:gd name="connsiteY6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86475 h 6867525"/>
                <a:gd name="connsiteX1" fmla="*/ 57150 w 2705100"/>
                <a:gd name="connsiteY1" fmla="*/ 0 h 6867525"/>
                <a:gd name="connsiteX2" fmla="*/ 0 w 2705100"/>
                <a:gd name="connsiteY2" fmla="*/ 9525 h 6867525"/>
                <a:gd name="connsiteX3" fmla="*/ 2295525 w 2705100"/>
                <a:gd name="connsiteY3" fmla="*/ 6858000 h 6867525"/>
                <a:gd name="connsiteX4" fmla="*/ 2695575 w 2705100"/>
                <a:gd name="connsiteY4" fmla="*/ 6867525 h 6867525"/>
                <a:gd name="connsiteX5" fmla="*/ 2705100 w 2705100"/>
                <a:gd name="connsiteY5" fmla="*/ 6086475 h 6867525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295525 w 2705100"/>
                <a:gd name="connsiteY3" fmla="*/ 6848475 h 6858000"/>
                <a:gd name="connsiteX4" fmla="*/ 2695575 w 2705100"/>
                <a:gd name="connsiteY4" fmla="*/ 6858000 h 6858000"/>
                <a:gd name="connsiteX5" fmla="*/ 2705100 w 2705100"/>
                <a:gd name="connsiteY5" fmla="*/ 6076950 h 6858000"/>
                <a:gd name="connsiteX0" fmla="*/ 2705100 w 2705100"/>
                <a:gd name="connsiteY0" fmla="*/ 6076950 h 6858000"/>
                <a:gd name="connsiteX1" fmla="*/ 64280 w 2705100"/>
                <a:gd name="connsiteY1" fmla="*/ 0 h 6858000"/>
                <a:gd name="connsiteX2" fmla="*/ 0 w 2705100"/>
                <a:gd name="connsiteY2" fmla="*/ 0 h 6858000"/>
                <a:gd name="connsiteX3" fmla="*/ 2695575 w 2705100"/>
                <a:gd name="connsiteY3" fmla="*/ 6858000 h 6858000"/>
                <a:gd name="connsiteX4" fmla="*/ 2705100 w 2705100"/>
                <a:gd name="connsiteY4" fmla="*/ 6076950 h 6858000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  <a:gd name="connsiteX0" fmla="*/ 2705100 w 2705100"/>
                <a:gd name="connsiteY0" fmla="*/ 6076950 h 7441333"/>
                <a:gd name="connsiteX1" fmla="*/ 64280 w 2705100"/>
                <a:gd name="connsiteY1" fmla="*/ 0 h 7441333"/>
                <a:gd name="connsiteX2" fmla="*/ 0 w 2705100"/>
                <a:gd name="connsiteY2" fmla="*/ 0 h 7441333"/>
                <a:gd name="connsiteX3" fmla="*/ 2695576 w 2705100"/>
                <a:gd name="connsiteY3" fmla="*/ 7441333 h 7441333"/>
                <a:gd name="connsiteX4" fmla="*/ 2705100 w 2705100"/>
                <a:gd name="connsiteY4" fmla="*/ 6076950 h 744133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5100" h="7441333">
                  <a:moveTo>
                    <a:pt x="2705100" y="6076950"/>
                  </a:moveTo>
                  <a:lnTo>
                    <a:pt x="64280" y="0"/>
                  </a:lnTo>
                  <a:lnTo>
                    <a:pt x="0" y="0"/>
                  </a:lnTo>
                  <a:lnTo>
                    <a:pt x="2695576" y="7441333"/>
                  </a:lnTo>
                  <a:cubicBezTo>
                    <a:pt x="2698751" y="6986539"/>
                    <a:pt x="2701925" y="6531744"/>
                    <a:pt x="2705100" y="6076950"/>
                  </a:cubicBezTo>
                </a:path>
              </a:pathLst>
            </a:cu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</p:grpSp>
      <p:sp>
        <p:nvSpPr>
          <p:cNvPr id="2" name=""/>
          <p:cNvSpPr>
            <a:spLocks noGrp="1"/>
          </p:cNvSpPr>
          <p:nvPr>
            <p:ph type="title" orient="vert" idx="0"/>
          </p:nvPr>
        </p:nvSpPr>
        <p:spPr>
          <a:xfrm>
            <a:off x="7172323" y="205978"/>
            <a:ext cx="1514474" cy="4388644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orient="vert" idx="1"/>
          </p:nvPr>
        </p:nvSpPr>
        <p:spPr>
          <a:xfrm>
            <a:off x="457199" y="205978"/>
            <a:ext cx="6534149" cy="4388644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16753771-9475-4309-9B2C-4F43EB0294C6}" type="datetime1">
              <a:rPr lang="ko-KR" altLang="en-US"/>
              <a:pPr lvl="0">
                <a:defRPr lang="ko-KR" altLang="en-US"/>
              </a:pPr>
              <a:t>2025-05-21</a:t>
            </a:fld>
            <a:endParaRPr lang="en-US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DF28FB93-0A08-4E7D-8E63-9EFA29F1E093}" type="slidenum">
              <a:rPr lang="en-US" altLang="en-US"/>
              <a:pPr lvl="0">
                <a:defRPr lang="ko-KR" altLang="en-US"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050537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1299631" y="2360907"/>
            <a:ext cx="4731296" cy="2277825"/>
          </a:xfrm>
          <a:custGeom>
            <a:avLst/>
            <a:gdLst>
              <a:gd name="connsiteX0" fmla="*/ 0 w 4175"/>
              <a:gd name="connsiteY0" fmla="*/ 0 h 2538"/>
              <a:gd name="connsiteX1" fmla="*/ 12 w 4175"/>
              <a:gd name="connsiteY1" fmla="*/ 44 h 2538"/>
              <a:gd name="connsiteX2" fmla="*/ 685 w 4175"/>
              <a:gd name="connsiteY2" fmla="*/ 2538 h 2538"/>
              <a:gd name="connsiteX3" fmla="*/ 4175 w 4175"/>
              <a:gd name="connsiteY3" fmla="*/ 1923 h 2538"/>
              <a:gd name="connsiteX4" fmla="*/ 25 w 4175"/>
              <a:gd name="connsiteY4" fmla="*/ 11 h 2538"/>
              <a:gd name="connsiteX5" fmla="*/ 0 w 4175"/>
              <a:gd name="connsiteY5" fmla="*/ 0 h 2538"/>
              <a:gd name="connsiteX0" fmla="*/ 0 w 4003"/>
              <a:gd name="connsiteY0" fmla="*/ 0 h 2538"/>
              <a:gd name="connsiteX1" fmla="*/ 12 w 4003"/>
              <a:gd name="connsiteY1" fmla="*/ 44 h 2538"/>
              <a:gd name="connsiteX2" fmla="*/ 685 w 4003"/>
              <a:gd name="connsiteY2" fmla="*/ 2538 h 2538"/>
              <a:gd name="connsiteX3" fmla="*/ 4003 w 4003"/>
              <a:gd name="connsiteY3" fmla="*/ 1844 h 2538"/>
              <a:gd name="connsiteX4" fmla="*/ 25 w 4003"/>
              <a:gd name="connsiteY4" fmla="*/ 11 h 2538"/>
              <a:gd name="connsiteX5" fmla="*/ 0 w 4003"/>
              <a:gd name="connsiteY5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0 w 4003"/>
              <a:gd name="connsiteY0" fmla="*/ 0 h 2538"/>
              <a:gd name="connsiteX1" fmla="*/ 685 w 4003"/>
              <a:gd name="connsiteY1" fmla="*/ 2538 h 2538"/>
              <a:gd name="connsiteX2" fmla="*/ 4003 w 4003"/>
              <a:gd name="connsiteY2" fmla="*/ 1844 h 2538"/>
              <a:gd name="connsiteX3" fmla="*/ 25 w 4003"/>
              <a:gd name="connsiteY3" fmla="*/ 11 h 2538"/>
              <a:gd name="connsiteX4" fmla="*/ 0 w 4003"/>
              <a:gd name="connsiteY4" fmla="*/ 0 h 2538"/>
              <a:gd name="connsiteX0" fmla="*/ 553 w 4531"/>
              <a:gd name="connsiteY0" fmla="*/ 0 h 2527"/>
              <a:gd name="connsiteX1" fmla="*/ 1213 w 4531"/>
              <a:gd name="connsiteY1" fmla="*/ 2527 h 2527"/>
              <a:gd name="connsiteX2" fmla="*/ 4531 w 4531"/>
              <a:gd name="connsiteY2" fmla="*/ 1833 h 2527"/>
              <a:gd name="connsiteX3" fmla="*/ 553 w 4531"/>
              <a:gd name="connsiteY3" fmla="*/ 0 h 2527"/>
              <a:gd name="connsiteX0" fmla="*/ 3 w 3981"/>
              <a:gd name="connsiteY0" fmla="*/ 0 h 2527"/>
              <a:gd name="connsiteX1" fmla="*/ 663 w 3981"/>
              <a:gd name="connsiteY1" fmla="*/ 2527 h 2527"/>
              <a:gd name="connsiteX2" fmla="*/ 3981 w 3981"/>
              <a:gd name="connsiteY2" fmla="*/ 1833 h 2527"/>
              <a:gd name="connsiteX3" fmla="*/ 3 w 3981"/>
              <a:gd name="connsiteY3" fmla="*/ 0 h 2527"/>
              <a:gd name="connsiteX0" fmla="*/ 0 w 3978"/>
              <a:gd name="connsiteY0" fmla="*/ 0 h 2527"/>
              <a:gd name="connsiteX1" fmla="*/ 660 w 3978"/>
              <a:gd name="connsiteY1" fmla="*/ 2527 h 2527"/>
              <a:gd name="connsiteX2" fmla="*/ 3978 w 3978"/>
              <a:gd name="connsiteY2" fmla="*/ 1833 h 2527"/>
              <a:gd name="connsiteX3" fmla="*/ 0 w 3978"/>
              <a:gd name="connsiteY3" fmla="*/ 0 h 2527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8" h="2527">
                <a:moveTo>
                  <a:pt x="0" y="0"/>
                </a:moveTo>
                <a:cubicBezTo>
                  <a:pt x="90" y="449"/>
                  <a:pt x="484" y="1911"/>
                  <a:pt x="660" y="2527"/>
                </a:cubicBezTo>
                <a:lnTo>
                  <a:pt x="3978" y="1833"/>
                </a:lnTo>
                <a:lnTo>
                  <a:pt x="0" y="0"/>
                </a:lnTo>
              </a:path>
            </a:pathLst>
          </a:custGeom>
          <a:solidFill>
            <a:schemeClr val="accent4">
              <a:lumMod val="20000"/>
              <a:lumOff val="80000"/>
              <a:alpha val="26000"/>
            </a:schemeClr>
          </a:solidFill>
          <a:ln w="9525">
            <a:noFill/>
            <a:round/>
          </a:ln>
        </p:spPr>
        <p:txBody>
          <a:bodyPr anchor="ctr"/>
          <a:p>
            <a:pPr lvl="0" algn="ctr">
              <a:defRPr lang="ko-KR" altLang="en-US"/>
            </a:pPr>
            <a:endParaRPr lang="en-US" altLang="ko-KR"/>
          </a:p>
        </p:txBody>
      </p:sp>
      <p:grpSp>
        <p:nvGrpSpPr>
          <p:cNvPr id="107" name=""/>
          <p:cNvGrpSpPr/>
          <p:nvPr/>
        </p:nvGrpSpPr>
        <p:grpSpPr>
          <a:xfrm rot="0">
            <a:off x="0" y="0"/>
            <a:ext cx="9144001" cy="5143501"/>
            <a:chOff x="-1" y="0"/>
            <a:chExt cx="9144001" cy="6858001"/>
          </a:xfrm>
        </p:grpSpPr>
        <p:sp>
          <p:nvSpPr>
            <p:cNvPr id="102" name=""/>
            <p:cNvSpPr/>
            <p:nvPr/>
          </p:nvSpPr>
          <p:spPr>
            <a:xfrm>
              <a:off x="0" y="6184705"/>
              <a:ext cx="2309196" cy="673295"/>
            </a:xfrm>
            <a:custGeom>
              <a:avLst/>
              <a:gdLst>
                <a:gd name="connsiteX0" fmla="*/ 1754 w 1942"/>
                <a:gd name="connsiteY0" fmla="*/ 0 h 560"/>
                <a:gd name="connsiteX1" fmla="*/ 0 w 1942"/>
                <a:gd name="connsiteY1" fmla="*/ 367 h 560"/>
                <a:gd name="connsiteX2" fmla="*/ 0 w 1942"/>
                <a:gd name="connsiteY2" fmla="*/ 560 h 560"/>
                <a:gd name="connsiteX3" fmla="*/ 1942 w 1942"/>
                <a:gd name="connsiteY3" fmla="*/ 560 h 560"/>
                <a:gd name="connsiteX4" fmla="*/ 1754 w 1942"/>
                <a:gd name="connsiteY4" fmla="*/ 0 h 5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2" h="560">
                  <a:moveTo>
                    <a:pt x="1754" y="0"/>
                  </a:moveTo>
                  <a:lnTo>
                    <a:pt x="0" y="367"/>
                  </a:lnTo>
                  <a:lnTo>
                    <a:pt x="0" y="560"/>
                  </a:lnTo>
                  <a:lnTo>
                    <a:pt x="1942" y="560"/>
                  </a:lnTo>
                  <a:cubicBezTo>
                    <a:pt x="1879" y="373"/>
                    <a:pt x="1817" y="187"/>
                    <a:pt x="1754" y="0"/>
                  </a:cubicBezTo>
                </a:path>
              </a:pathLst>
            </a:custGeom>
            <a:solidFill>
              <a:srgbClr val="b6b8ba">
                <a:alpha val="15000"/>
              </a:srgbClr>
            </a:solidFill>
            <a:ln w="9525">
              <a:noFill/>
              <a:round/>
            </a:ln>
          </p:spPr>
          <p:txBody>
            <a:bodyPr anchor="ctr"/>
            <a:p>
              <a:pPr lvl="0" algn="ctr">
                <a:defRPr lang="ko-KR" altLang="en-US"/>
              </a:pPr>
              <a:endParaRPr lang="en-US" altLang="ko-KR"/>
            </a:p>
          </p:txBody>
        </p:sp>
        <p:grpSp>
          <p:nvGrpSpPr>
            <p:cNvPr id="106" name=""/>
            <p:cNvGrpSpPr/>
            <p:nvPr/>
          </p:nvGrpSpPr>
          <p:grpSpPr>
            <a:xfrm rot="0">
              <a:off x="-1" y="0"/>
              <a:ext cx="9144001" cy="6858001"/>
              <a:chOff x="-1" y="0"/>
              <a:chExt cx="9144001" cy="6858001"/>
            </a:xfrm>
          </p:grpSpPr>
          <p:sp>
            <p:nvSpPr>
              <p:cNvPr id="98" name=""/>
              <p:cNvSpPr/>
              <p:nvPr/>
            </p:nvSpPr>
            <p:spPr>
              <a:xfrm>
                <a:off x="428023" y="0"/>
                <a:ext cx="2026194" cy="3135635"/>
              </a:xfrm>
              <a:custGeom>
                <a:avLst/>
                <a:gdLst/>
                <a:cxnLst>
                  <a:cxn ang="0">
                    <a:pos x="1704" y="0"/>
                  </a:cxn>
                  <a:cxn ang="0">
                    <a:pos x="0" y="0"/>
                  </a:cxn>
                  <a:cxn ang="0">
                    <a:pos x="711" y="2609"/>
                  </a:cxn>
                  <a:cxn ang="0">
                    <a:pos x="1704" y="0"/>
                  </a:cxn>
                </a:cxnLst>
                <a:rect l="0" t="0" r="r" b="b"/>
                <a:pathLst>
                  <a:path w="1704" h="2609">
                    <a:moveTo>
                      <a:pt x="1704" y="0"/>
                    </a:moveTo>
                    <a:lnTo>
                      <a:pt x="0" y="0"/>
                    </a:lnTo>
                    <a:lnTo>
                      <a:pt x="711" y="2609"/>
                    </a:lnTo>
                    <a:lnTo>
                      <a:pt x="1704" y="0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  <a:alpha val="31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6028605" y="4696234"/>
                <a:ext cx="3115394" cy="1976604"/>
              </a:xfrm>
              <a:custGeom>
                <a:avLst/>
                <a:gdLst>
                  <a:gd name="connsiteX0" fmla="*/ 2610 w 2610"/>
                  <a:gd name="connsiteY0" fmla="*/ 0 h 1645"/>
                  <a:gd name="connsiteX1" fmla="*/ 0 w 2610"/>
                  <a:gd name="connsiteY1" fmla="*/ 535 h 1645"/>
                  <a:gd name="connsiteX2" fmla="*/ 2610 w 2610"/>
                  <a:gd name="connsiteY2" fmla="*/ 1645 h 1645"/>
                  <a:gd name="connsiteX3" fmla="*/ 2610 w 2610"/>
                  <a:gd name="connsiteY3" fmla="*/ 0 h 1645"/>
                  <a:gd name="connsiteX0" fmla="*/ 2620 w 2620"/>
                  <a:gd name="connsiteY0" fmla="*/ 0 h 1645"/>
                  <a:gd name="connsiteX1" fmla="*/ 0 w 2620"/>
                  <a:gd name="connsiteY1" fmla="*/ 541 h 1645"/>
                  <a:gd name="connsiteX2" fmla="*/ 2620 w 2620"/>
                  <a:gd name="connsiteY2" fmla="*/ 1645 h 1645"/>
                  <a:gd name="connsiteX3" fmla="*/ 2620 w 2620"/>
                  <a:gd name="connsiteY3" fmla="*/ 0 h 164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0" h="1645">
                    <a:moveTo>
                      <a:pt x="2620" y="0"/>
                    </a:moveTo>
                    <a:lnTo>
                      <a:pt x="0" y="541"/>
                    </a:lnTo>
                    <a:lnTo>
                      <a:pt x="2620" y="1645"/>
                    </a:lnTo>
                    <a:lnTo>
                      <a:pt x="2620" y="0"/>
                    </a:lnTo>
                  </a:path>
                </a:pathLst>
              </a:custGeom>
              <a:solidFill>
                <a:srgbClr val="c6c8ca">
                  <a:alpha val="17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2089194" y="5345523"/>
                <a:ext cx="7054806" cy="1512478"/>
              </a:xfrm>
              <a:custGeom>
                <a:avLst/>
                <a:gdLst>
                  <a:gd name="connsiteX0" fmla="*/ 3491 w 5944"/>
                  <a:gd name="connsiteY0" fmla="*/ 0 h 1293"/>
                  <a:gd name="connsiteX1" fmla="*/ 0 w 5944"/>
                  <a:gd name="connsiteY1" fmla="*/ 743 h 1293"/>
                  <a:gd name="connsiteX2" fmla="*/ 194 w 5944"/>
                  <a:gd name="connsiteY2" fmla="*/ 1293 h 1293"/>
                  <a:gd name="connsiteX3" fmla="*/ 5944 w 5944"/>
                  <a:gd name="connsiteY3" fmla="*/ 1293 h 1293"/>
                  <a:gd name="connsiteX4" fmla="*/ 5944 w 5944"/>
                  <a:gd name="connsiteY4" fmla="*/ 1130 h 1293"/>
                  <a:gd name="connsiteX5" fmla="*/ 3491 w 5944"/>
                  <a:gd name="connsiteY5" fmla="*/ 0 h 1293"/>
                  <a:gd name="connsiteX0" fmla="*/ 3347 w 5944"/>
                  <a:gd name="connsiteY0" fmla="*/ 0 h 1264"/>
                  <a:gd name="connsiteX1" fmla="*/ 0 w 5944"/>
                  <a:gd name="connsiteY1" fmla="*/ 714 h 1264"/>
                  <a:gd name="connsiteX2" fmla="*/ 194 w 5944"/>
                  <a:gd name="connsiteY2" fmla="*/ 1264 h 1264"/>
                  <a:gd name="connsiteX3" fmla="*/ 5944 w 5944"/>
                  <a:gd name="connsiteY3" fmla="*/ 1264 h 1264"/>
                  <a:gd name="connsiteX4" fmla="*/ 5944 w 5944"/>
                  <a:gd name="connsiteY4" fmla="*/ 1101 h 1264"/>
                  <a:gd name="connsiteX5" fmla="*/ 3347 w 5944"/>
                  <a:gd name="connsiteY5" fmla="*/ 0 h 1264"/>
                  <a:gd name="connsiteX0" fmla="*/ 3323 w 5944"/>
                  <a:gd name="connsiteY0" fmla="*/ 0 h 1257"/>
                  <a:gd name="connsiteX1" fmla="*/ 0 w 5944"/>
                  <a:gd name="connsiteY1" fmla="*/ 707 h 1257"/>
                  <a:gd name="connsiteX2" fmla="*/ 194 w 5944"/>
                  <a:gd name="connsiteY2" fmla="*/ 1257 h 1257"/>
                  <a:gd name="connsiteX3" fmla="*/ 5944 w 5944"/>
                  <a:gd name="connsiteY3" fmla="*/ 1257 h 1257"/>
                  <a:gd name="connsiteX4" fmla="*/ 5944 w 5944"/>
                  <a:gd name="connsiteY4" fmla="*/ 1094 h 1257"/>
                  <a:gd name="connsiteX5" fmla="*/ 3323 w 5944"/>
                  <a:gd name="connsiteY5" fmla="*/ 0 h 1257"/>
                  <a:gd name="connsiteX0" fmla="*/ 3279 w 5900"/>
                  <a:gd name="connsiteY0" fmla="*/ 0 h 1257"/>
                  <a:gd name="connsiteX1" fmla="*/ 0 w 5900"/>
                  <a:gd name="connsiteY1" fmla="*/ 687 h 1257"/>
                  <a:gd name="connsiteX2" fmla="*/ 150 w 5900"/>
                  <a:gd name="connsiteY2" fmla="*/ 1257 h 1257"/>
                  <a:gd name="connsiteX3" fmla="*/ 5900 w 5900"/>
                  <a:gd name="connsiteY3" fmla="*/ 1257 h 1257"/>
                  <a:gd name="connsiteX4" fmla="*/ 5900 w 5900"/>
                  <a:gd name="connsiteY4" fmla="*/ 1094 h 1257"/>
                  <a:gd name="connsiteX5" fmla="*/ 3279 w 5900"/>
                  <a:gd name="connsiteY5" fmla="*/ 0 h 1257"/>
                  <a:gd name="connsiteX0" fmla="*/ 3314 w 5935"/>
                  <a:gd name="connsiteY0" fmla="*/ 0 h 1257"/>
                  <a:gd name="connsiteX1" fmla="*/ 0 w 5935"/>
                  <a:gd name="connsiteY1" fmla="*/ 695 h 1257"/>
                  <a:gd name="connsiteX2" fmla="*/ 185 w 5935"/>
                  <a:gd name="connsiteY2" fmla="*/ 1257 h 1257"/>
                  <a:gd name="connsiteX3" fmla="*/ 5935 w 5935"/>
                  <a:gd name="connsiteY3" fmla="*/ 1257 h 1257"/>
                  <a:gd name="connsiteX4" fmla="*/ 5935 w 5935"/>
                  <a:gd name="connsiteY4" fmla="*/ 1094 h 1257"/>
                  <a:gd name="connsiteX5" fmla="*/ 3314 w 5935"/>
                  <a:gd name="connsiteY5" fmla="*/ 0 h 125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35" h="1257">
                    <a:moveTo>
                      <a:pt x="3314" y="0"/>
                    </a:moveTo>
                    <a:lnTo>
                      <a:pt x="0" y="695"/>
                    </a:lnTo>
                    <a:cubicBezTo>
                      <a:pt x="51" y="884"/>
                      <a:pt x="134" y="1068"/>
                      <a:pt x="185" y="1257"/>
                    </a:cubicBezTo>
                    <a:lnTo>
                      <a:pt x="5935" y="1257"/>
                    </a:lnTo>
                    <a:lnTo>
                      <a:pt x="5935" y="1094"/>
                    </a:lnTo>
                    <a:lnTo>
                      <a:pt x="3314" y="0"/>
                    </a:lnTo>
                  </a:path>
                </a:pathLst>
              </a:custGeom>
              <a:solidFill>
                <a:srgbClr val="b6b8ba">
                  <a:alpha val="6000"/>
                </a:srgb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-1" y="0"/>
                <a:ext cx="1281830" cy="3138040"/>
              </a:xfrm>
              <a:custGeom>
                <a:avLst/>
                <a:gdLst/>
                <a:cxnLst>
                  <a:cxn ang="0">
                    <a:pos x="372" y="0"/>
                  </a:cxn>
                  <a:cxn ang="0">
                    <a:pos x="1" y="0"/>
                  </a:cxn>
                  <a:cxn ang="0">
                    <a:pos x="0" y="2121"/>
                  </a:cxn>
                  <a:cxn ang="0">
                    <a:pos x="1078" y="2609"/>
                  </a:cxn>
                  <a:cxn ang="0">
                    <a:pos x="372" y="0"/>
                  </a:cxn>
                </a:cxnLst>
                <a:rect l="0" t="0" r="r" b="b"/>
                <a:pathLst>
                  <a:path w="1078" h="2609">
                    <a:moveTo>
                      <a:pt x="372" y="0"/>
                    </a:moveTo>
                    <a:lnTo>
                      <a:pt x="1" y="0"/>
                    </a:lnTo>
                    <a:lnTo>
                      <a:pt x="0" y="2121"/>
                    </a:lnTo>
                    <a:lnTo>
                      <a:pt x="1078" y="2609"/>
                    </a:lnTo>
                    <a:lnTo>
                      <a:pt x="372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27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1" y="2551106"/>
                <a:ext cx="1285398" cy="4121532"/>
              </a:xfrm>
              <a:custGeom>
                <a:avLst/>
                <a:gdLst>
                  <a:gd name="connsiteX0" fmla="*/ 0 w 1081"/>
                  <a:gd name="connsiteY0" fmla="*/ 0 h 3427"/>
                  <a:gd name="connsiteX1" fmla="*/ 0 w 1081"/>
                  <a:gd name="connsiteY1" fmla="*/ 3427 h 3427"/>
                  <a:gd name="connsiteX2" fmla="*/ 1081 w 1081"/>
                  <a:gd name="connsiteY2" fmla="*/ 490 h 3427"/>
                  <a:gd name="connsiteX3" fmla="*/ 0 w 1081"/>
                  <a:gd name="connsiteY3" fmla="*/ 0 h 3427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1" h="3427">
                    <a:moveTo>
                      <a:pt x="0" y="0"/>
                    </a:moveTo>
                    <a:lnTo>
                      <a:pt x="0" y="3427"/>
                    </a:lnTo>
                    <a:lnTo>
                      <a:pt x="1081" y="49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1">
                  <a:lumMod val="40000"/>
                  <a:lumOff val="60000"/>
                  <a:alpha val="8000"/>
                </a:schemeClr>
              </a:solidFill>
              <a:ln w="9525">
                <a:noFill/>
                <a:round/>
              </a:ln>
            </p:spPr>
            <p:txBody>
              <a:bodyPr anchor="ctr"/>
              <a:p>
                <a:pPr lvl="0" algn="ctr">
                  <a:defRPr lang="ko-KR" altLang="en-US"/>
                </a:pPr>
                <a:endParaRPr lang="en-US" altLang="ko-KR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323849" y="92851"/>
            <a:ext cx="8477249" cy="704838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type="body" idx="1"/>
          </p:nvPr>
        </p:nvSpPr>
        <p:spPr>
          <a:xfrm>
            <a:off x="323849" y="981075"/>
            <a:ext cx="8477249" cy="3720704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  <a:p>
            <a:pPr lvl="8">
              <a:defRPr lang="ko-KR" altLang="en-US"/>
            </a:pPr>
            <a:endParaRPr lang="en-US" altLang="ko-KR"/>
          </a:p>
        </p:txBody>
      </p:sp>
      <p:sp>
        <p:nvSpPr>
          <p:cNvPr id="4" name=""/>
          <p:cNvSpPr>
            <a:spLocks noGrp="1"/>
          </p:cNvSpPr>
          <p:nvPr>
            <p:ph type="dt" sz="half" idx="2"/>
          </p:nvPr>
        </p:nvSpPr>
        <p:spPr>
          <a:xfrm>
            <a:off x="323849" y="4767262"/>
            <a:ext cx="2133599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9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FD839B8E-F55D-4BF8-852C-25AF74D46B3E}" type="datetime1">
              <a:rPr lang="ko-KR" altLang="en-US"/>
              <a:pPr lvl="0">
                <a:defRPr lang="ko-KR" altLang="en-US"/>
              </a:pPr>
              <a:t>2025-05-21</a:t>
            </a:fld>
            <a:endParaRPr lang="ko-KR" alt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3"/>
          </p:nvPr>
        </p:nvSpPr>
        <p:spPr>
          <a:xfrm>
            <a:off x="3124199" y="4767262"/>
            <a:ext cx="2895599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9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"/>
          <p:cNvSpPr>
            <a:spLocks noGrp="1"/>
          </p:cNvSpPr>
          <p:nvPr>
            <p:ph type="sldNum" sz="quarter" idx="4"/>
          </p:nvPr>
        </p:nvSpPr>
        <p:spPr>
          <a:xfrm>
            <a:off x="6667499" y="4767262"/>
            <a:ext cx="2133599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9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931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85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66700" indent="-306700" algn="l" defTabSz="914400" rtl="0" eaLnBrk="1" latinLnBrk="1" hangingPunct="1">
        <a:spcBef>
          <a:spcPct val="20000"/>
        </a:spcBef>
        <a:buClr>
          <a:schemeClr val="bg2">
            <a:lumMod val="25000"/>
          </a:schemeClr>
        </a:buClr>
        <a:buSzPct val="80000"/>
        <a:buFont typeface="Wingdings 3"/>
        <a:buChar char="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447675" indent="-2571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Wingdings"/>
        <a:buChar char="§"/>
        <a:defRPr sz="15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•"/>
        <a:defRPr sz="135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–"/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990600" indent="-171450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Arial"/>
        <a:buChar char="»"/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1160463" indent="-173038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6pPr>
      <a:lvl7pPr marL="1349375" indent="-188913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tabLst>
          <a:tab pos="1349375" algn="l"/>
        </a:tabLst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7pPr>
      <a:lvl8pPr marL="1524000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8pPr>
      <a:lvl9pPr marL="1698625" indent="-174625" algn="l" defTabSz="914400" rtl="0" eaLnBrk="1" latinLnBrk="1" hangingPunct="1">
        <a:spcBef>
          <a:spcPct val="20000"/>
        </a:spcBef>
        <a:buClr>
          <a:schemeClr val="bg2">
            <a:lumMod val="50000"/>
          </a:schemeClr>
        </a:buClr>
        <a:buFont typeface="Lucida Sans Unicode"/>
        <a:buChar char="»"/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4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Relationship Id="rId2" Type="http://schemas.openxmlformats.org/officeDocument/2006/relationships/diagramData" Target="../diagrams/data1.xml"  /><Relationship Id="rId3" Type="http://schemas.openxmlformats.org/officeDocument/2006/relationships/diagramLayout" Target="../diagrams/layout1.xml"  /><Relationship Id="rId4" Type="http://schemas.openxmlformats.org/officeDocument/2006/relationships/diagramQuickStyle" Target="../diagrams/quickStyle1.xml"  /><Relationship Id="rId5" Type="http://schemas.openxmlformats.org/officeDocument/2006/relationships/diagramColors" Target="../diagrams/colors1.xml"  /><Relationship Id="rId6" Type="http://schemas.openxmlformats.org/officeDocument/2006/relationships/diagramData" Target="../diagrams/data2.xml"  /><Relationship Id="rId7" Type="http://schemas.openxmlformats.org/officeDocument/2006/relationships/diagramLayout" Target="../diagrams/layout2.xml"  /><Relationship Id="rId8" Type="http://schemas.openxmlformats.org/officeDocument/2006/relationships/diagramQuickStyle" Target="../diagrams/quickStyle2.xml"  /><Relationship Id="rId9" Type="http://schemas.openxmlformats.org/officeDocument/2006/relationships/diagramColors" Target="../diagrams/colors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Relationship Id="rId2" Type="http://schemas.openxmlformats.org/officeDocument/2006/relationships/image" Target="../media/image1.jpe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8.xml"  /><Relationship Id="rId2" Type="http://schemas.openxmlformats.org/officeDocument/2006/relationships/image" Target="../media/image2.jpe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jpe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event.kakaobank.com/p/recordnct" TargetMode="External"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hyperlink" Target="https://alice.lotteins.co.kr/product/fandom/main" TargetMode="External" /><Relationship Id="rId6" Type="http://schemas.openxmlformats.org/officeDocument/2006/relationships/image" Target="../media/image8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0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www.youtube.com/watch?v=u4ZoJKF_VuA&amp;t=132s" TargetMode="External"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1.png"  /><Relationship Id="rId3" Type="http://schemas.openxmlformats.org/officeDocument/2006/relationships/image" Target="../media/image22.png"  /><Relationship Id="rId4" Type="http://schemas.openxmlformats.org/officeDocument/2006/relationships/hyperlink" Target="https://n.news.naver.com/mnews/article/030/0003232173" TargetMode="External"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Relationship Id="rId3" Type="http://schemas.openxmlformats.org/officeDocument/2006/relationships/hyperlink" Target="https://www.figma.com/ko-kr/" TargetMode="External"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Relationship Id="rId5" Type="http://schemas.openxmlformats.org/officeDocument/2006/relationships/image" Target="../media/image27.png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8.png"  /></Relationships>
</file>

<file path=ppt/slides/_rels/slide5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9.png"  /></Relationships>
</file>

<file path=ppt/slides/_rels/slide6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0.png"  /><Relationship Id="rId3" Type="http://schemas.openxmlformats.org/officeDocument/2006/relationships/image" Target="../media/image31.jpeg"  /></Relationships>
</file>

<file path=ppt/slides/_rels/slide6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2.png"  /></Relationships>
</file>

<file path=ppt/slides/_rels/slide6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3.png"  /><Relationship Id="rId3" Type="http://schemas.openxmlformats.org/officeDocument/2006/relationships/image" Target="../media/image34.png"  /><Relationship Id="rId4" Type="http://schemas.openxmlformats.org/officeDocument/2006/relationships/image" Target="../media/image34.png"  /></Relationships>
</file>

<file path=ppt/slides/_rels/slide6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5.png"  /><Relationship Id="rId3" Type="http://schemas.openxmlformats.org/officeDocument/2006/relationships/hyperlink" Target="https://brunch.co.kr/@protopie/17" TargetMode="External" /></Relationships>
</file>

<file path=ppt/slides/_rels/slide6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6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/Relationships>
</file>

<file path=ppt/slides/_rels/slide7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10" Type="http://schemas.openxmlformats.org/officeDocument/2006/relationships/image" Target="../media/image43.png"  /><Relationship Id="rId11" Type="http://schemas.openxmlformats.org/officeDocument/2006/relationships/image" Target="../media/image44.jpeg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36.jpeg"  /><Relationship Id="rId4" Type="http://schemas.openxmlformats.org/officeDocument/2006/relationships/image" Target="../media/image37.png"  /><Relationship Id="rId5" Type="http://schemas.openxmlformats.org/officeDocument/2006/relationships/image" Target="../media/image38.png"  /><Relationship Id="rId6" Type="http://schemas.openxmlformats.org/officeDocument/2006/relationships/image" Target="../media/image39.png"  /><Relationship Id="rId7" Type="http://schemas.openxmlformats.org/officeDocument/2006/relationships/image" Target="../media/image40.jpeg"  /><Relationship Id="rId8" Type="http://schemas.openxmlformats.org/officeDocument/2006/relationships/image" Target="../media/image41.jpeg"  /><Relationship Id="rId9" Type="http://schemas.openxmlformats.org/officeDocument/2006/relationships/image" Target="../media/image42.jpeg"  /></Relationships>
</file>

<file path=ppt/slides/_rels/slide7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2.xml"  /></Relationships>
</file>

<file path=ppt/slides/_rels/slide7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2.xml"  /><Relationship Id="rId3" Type="http://schemas.openxmlformats.org/officeDocument/2006/relationships/hyperlink" Target="https://blog.naver.com/inthisworkofficial/223382432342" TargetMode="External" /></Relationships>
</file>

<file path=ppt/slides/_rels/slide7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5.png"  /></Relationships>
</file>

<file path=ppt/slides/_rels/slide7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46.png"  /></Relationships>
</file>

<file path=ppt/slides/_rels/slide7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7.jpeg"  /><Relationship Id="rId3" Type="http://schemas.openxmlformats.org/officeDocument/2006/relationships/image" Target="../media/image48.png"  /><Relationship Id="rId4" Type="http://schemas.openxmlformats.org/officeDocument/2006/relationships/image" Target="../media/image49.jpeg"  /><Relationship Id="rId5" Type="http://schemas.openxmlformats.org/officeDocument/2006/relationships/image" Target="../media/image50.png"  /><Relationship Id="rId6" Type="http://schemas.openxmlformats.org/officeDocument/2006/relationships/image" Target="../media/image51.png"  /><Relationship Id="rId7" Type="http://schemas.openxmlformats.org/officeDocument/2006/relationships/image" Target="../media/image52.jpeg"  /><Relationship Id="rId8" Type="http://schemas.openxmlformats.org/officeDocument/2006/relationships/image" Target="../media/image53.png"  /><Relationship Id="rId9" Type="http://schemas.openxmlformats.org/officeDocument/2006/relationships/image" Target="../media/image54.jpeg"  /></Relationships>
</file>

<file path=ppt/slides/_rels/slide7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5.png"  /><Relationship Id="rId3" Type="http://schemas.openxmlformats.org/officeDocument/2006/relationships/image" Target="../media/image56.png"  /><Relationship Id="rId4" Type="http://schemas.openxmlformats.org/officeDocument/2006/relationships/image" Target="../media/image57.png"  /><Relationship Id="rId5" Type="http://schemas.openxmlformats.org/officeDocument/2006/relationships/image" Target="../media/image58.png"  /></Relationships>
</file>

<file path=ppt/slides/_rels/slide8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9.jpeg"  /><Relationship Id="rId3" Type="http://schemas.openxmlformats.org/officeDocument/2006/relationships/image" Target="../media/image60.jpeg"  /><Relationship Id="rId4" Type="http://schemas.openxmlformats.org/officeDocument/2006/relationships/image" Target="../media/image61.jpeg"  /></Relationships>
</file>

<file path=ppt/slides/_rels/slide8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2.jpeg"  /><Relationship Id="rId3" Type="http://schemas.openxmlformats.org/officeDocument/2006/relationships/image" Target="../media/image63.jpeg"  /><Relationship Id="rId4" Type="http://schemas.openxmlformats.org/officeDocument/2006/relationships/image" Target="../media/image64.jpeg"  /></Relationships>
</file>

<file path=ppt/slides/_rels/slide8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5.jpeg"  /><Relationship Id="rId3" Type="http://schemas.openxmlformats.org/officeDocument/2006/relationships/image" Target="../media/image66.png"  /><Relationship Id="rId4" Type="http://schemas.openxmlformats.org/officeDocument/2006/relationships/image" Target="../media/image67.png"  /></Relationships>
</file>

<file path=ppt/slides/_rels/slide8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www.youtube.com/shorts/hgep_Kuzg6Y" TargetMode="External" /></Relationships>
</file>

<file path=ppt/slides/_rels/slide8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www.youtube.com/watch?v=63oiEoKbZRw" TargetMode="External" /><Relationship Id="rId3" Type="http://schemas.openxmlformats.org/officeDocument/2006/relationships/hyperlink" Target="https://youtu.be/63oiEoKbZRw?si=eDA4hkPvEV4ztqYQ&amp;t=741" TargetMode="External" /></Relationships>
</file>

<file path=ppt/slides/_rels/slide8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8.png"  /><Relationship Id="rId3" Type="http://schemas.openxmlformats.org/officeDocument/2006/relationships/image" Target="../media/image69.png"  /></Relationships>
</file>

<file path=ppt/slides/_rels/slide8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0.png"  /></Relationships>
</file>

<file path=ppt/slides/_rels/slide8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8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1.png"  /><Relationship Id="rId3" Type="http://schemas.openxmlformats.org/officeDocument/2006/relationships/image" Target="../media/image72.png"  /></Relationships>
</file>

<file path=ppt/slides/_rels/slide9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3.jpeg"  /><Relationship Id="rId3" Type="http://schemas.openxmlformats.org/officeDocument/2006/relationships/image" Target="../media/image74.png"  /><Relationship Id="rId4" Type="http://schemas.openxmlformats.org/officeDocument/2006/relationships/image" Target="../media/image75.jpeg"  /><Relationship Id="rId5" Type="http://schemas.openxmlformats.org/officeDocument/2006/relationships/image" Target="../media/image76.jpeg"  /><Relationship Id="rId6" Type="http://schemas.openxmlformats.org/officeDocument/2006/relationships/image" Target="../media/image77.jpeg"  /><Relationship Id="rId7" Type="http://schemas.openxmlformats.org/officeDocument/2006/relationships/image" Target="../media/image78.jpeg"  /><Relationship Id="rId8" Type="http://schemas.openxmlformats.org/officeDocument/2006/relationships/image" Target="../media/image79.jpeg"  /></Relationships>
</file>

<file path=ppt/slides/_rels/slide9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0.jpeg"  /><Relationship Id="rId3" Type="http://schemas.openxmlformats.org/officeDocument/2006/relationships/image" Target="../media/image81.png"  /><Relationship Id="rId4" Type="http://schemas.openxmlformats.org/officeDocument/2006/relationships/image" Target="../media/image75.jpeg"  /><Relationship Id="rId5" Type="http://schemas.openxmlformats.org/officeDocument/2006/relationships/image" Target="../media/image82.jpeg"  /><Relationship Id="rId6" Type="http://schemas.openxmlformats.org/officeDocument/2006/relationships/image" Target="../media/image83.jpeg"  /><Relationship Id="rId7" Type="http://schemas.openxmlformats.org/officeDocument/2006/relationships/image" Target="../media/image84.jpeg"  /><Relationship Id="rId8" Type="http://schemas.openxmlformats.org/officeDocument/2006/relationships/image" Target="../media/image77.jpeg"  /><Relationship Id="rId9" Type="http://schemas.openxmlformats.org/officeDocument/2006/relationships/hyperlink" Target="https://magazine.hankyung.com/business/article/202404049163b" TargetMode="External"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0"/>
          </p:nvPr>
        </p:nvSpPr>
        <p:spPr>
          <a:xfrm>
            <a:off x="0" y="1730196"/>
            <a:ext cx="9144000" cy="1102518"/>
          </a:xfrm>
        </p:spPr>
        <p:txBody>
          <a:bodyPr/>
          <a:lstStyle/>
          <a:p>
            <a:pPr lvl="0" algn="ctr">
              <a:defRPr/>
            </a:pPr>
            <a:r>
              <a:rPr lang="ko-KR" altLang="en-US" sz="4000" b="1">
                <a:latin typeface="맑은 고딕"/>
                <a:ea typeface="맑은 고딕"/>
              </a:rPr>
              <a:t>핀테크 서비스 기획</a:t>
            </a:r>
            <a:r>
              <a:rPr lang="ko-KR" altLang="en-US" sz="4500" b="1"/>
              <a:t> </a:t>
            </a:r>
            <a:br>
              <a:rPr lang="ko-KR" altLang="en-US" b="1"/>
            </a:br>
            <a:r>
              <a:rPr lang="ko-KR" altLang="en-US" sz="3400" b="1">
                <a:solidFill>
                  <a:srgbClr val="000000"/>
                </a:solidFill>
                <a:latin typeface="맑은 고딕"/>
                <a:ea typeface="맑은 고딕"/>
              </a:rPr>
              <a:t>- PM 역할과 전략</a:t>
            </a:r>
            <a:endParaRPr lang="ko-KR" altLang="en-US" sz="34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092852"/>
            <a:ext cx="9144000" cy="1314450"/>
          </a:xfrm>
        </p:spPr>
        <p:txBody>
          <a:bodyPr/>
          <a:lstStyle/>
          <a:p>
            <a:pPr lvl="0" algn="ctr">
              <a:defRPr/>
            </a:pPr>
            <a:r>
              <a:rPr lang="ko-KR" altLang="en-US" sz="2400" b="1" u="sng">
                <a:latin typeface="맑은 고딕"/>
                <a:ea typeface="맑은 고딕"/>
              </a:rPr>
              <a:t>사용자 중심 금융 기획</a:t>
            </a:r>
            <a:r>
              <a:rPr lang="ko-KR" altLang="en-US" sz="2400">
                <a:latin typeface="맑은 고딕"/>
                <a:ea typeface="맑은 고딕"/>
              </a:rPr>
              <a:t>을 위한 </a:t>
            </a:r>
            <a:endParaRPr lang="ko-KR" altLang="en-US" sz="2400"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ko-KR" altLang="en-US" sz="2200">
                <a:latin typeface="맑은 고딕"/>
                <a:ea typeface="맑은 고딕"/>
              </a:rPr>
              <a:t>핵심 개념 및 실무 단계</a:t>
            </a:r>
            <a:endParaRPr lang="ko-KR" altLang="en-US" sz="22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42231" y="1015676"/>
            <a:ext cx="4634205" cy="1105093"/>
          </a:xfrm>
        </p:spPr>
        <p:txBody>
          <a:bodyPr anchor="ctr" anchorCtr="0"/>
          <a:p>
            <a:pPr lvl="0" algn="ctr">
              <a:defRPr/>
            </a:pPr>
            <a:r>
              <a:rPr lang="ko-KR" altLang="en-US" b="1">
                <a:latin typeface="맑은 고딕"/>
                <a:ea typeface="맑은 고딕"/>
              </a:rPr>
              <a:t>사용자 중심 기획</a:t>
            </a:r>
            <a:endParaRPr lang="ko-KR" altLang="en-US" b="1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0"/>
          <p:cNvSpPr>
            <a:spLocks noGrp="1"/>
          </p:cNvSpPr>
          <p:nvPr>
            <p:ph type="title" idx="0"/>
          </p:nvPr>
        </p:nvSpPr>
        <p:spPr>
          <a:xfrm>
            <a:off x="457229" y="314842"/>
            <a:ext cx="8235791" cy="704838"/>
          </a:xfrm>
          <a:ln>
            <a:solidFill>
              <a:schemeClr val="accent6"/>
            </a:solidFill>
          </a:ln>
        </p:spPr>
        <p:txBody>
          <a:bodyPr>
            <a:noAutofit/>
          </a:bodyPr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lang="ko-KR" altLang="en-US"/>
            </a:pP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1. 핀테크 PM의 역할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16" name="모서리가 둥근 직사각형 56"/>
          <p:cNvSpPr/>
          <p:nvPr/>
        </p:nvSpPr>
        <p:spPr>
          <a:xfrm>
            <a:off x="802766" y="2027228"/>
            <a:ext cx="7385930" cy="87789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lvl="0" indent="0" algn="ctr">
              <a:buNone/>
              <a:defRPr lang="ko-KR" altLang="en-US"/>
            </a:pPr>
            <a:r>
              <a:rPr lang="ko-KR" altLang="en-US" sz="2000" b="1">
                <a:solidFill>
                  <a:srgbClr val="000000"/>
                </a:solidFill>
                <a:latin typeface="맑은 고딕"/>
                <a:ea typeface="맑은 고딕"/>
              </a:rPr>
              <a:t>금융 불편 해결 중심</a:t>
            </a:r>
            <a:r>
              <a:rPr lang="ko-KR" altLang="en-US" sz="2000" b="1">
                <a:solidFill>
                  <a:schemeClr val="accent6"/>
                </a:solidFill>
                <a:latin typeface="맑은 고딕"/>
                <a:ea typeface="맑은 고딕"/>
              </a:rPr>
              <a:t>의 디지털 서비스 기획자</a:t>
            </a:r>
            <a:endParaRPr lang="ko-KR" altLang="en-US" sz="20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24" name="모서리가 둥근 직사각형 56"/>
          <p:cNvSpPr/>
          <p:nvPr/>
        </p:nvSpPr>
        <p:spPr>
          <a:xfrm>
            <a:off x="802766" y="2948523"/>
            <a:ext cx="7385930" cy="87789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None/>
              <a:defRPr lang="ko-KR" altLang="en-US"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문제 정의 → 기획 → 협업 →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출시 전 과정 주도</a:t>
            </a:r>
            <a:endParaRPr lang="ko-KR" altLang="en-US" sz="20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다이어그램 56"/>
          <p:cNvGraphicFramePr/>
          <p:nvPr/>
        </p:nvGraphicFramePr>
        <p:xfrm>
          <a:off x="432188" y="1306969"/>
          <a:ext cx="4139811" cy="3483462"/>
        </p:xfrm>
        <a:graphic>
          <a:graphicData uri="http://schemas.openxmlformats.org/drawingml/2006/diagram">
            <dgm:relIds r:dm="rId2" r:lo="rId3" r:qs="rId4" r:cs="rId5"/>
          </a:graphicData>
        </a:graphic>
      </p:graphicFrame>
      <p:graphicFrame>
        <p:nvGraphicFramePr>
          <p:cNvPr id="58" name="다이어그램 57"/>
          <p:cNvGraphicFramePr/>
          <p:nvPr/>
        </p:nvGraphicFramePr>
        <p:xfrm>
          <a:off x="4493871" y="1306969"/>
          <a:ext cx="4139811" cy="3483462"/>
        </p:xfrm>
        <a:graphic>
          <a:graphicData uri="http://schemas.openxmlformats.org/drawingml/2006/diagram">
            <dgm:relIds r:dm="rId6" r:lo="rId7" r:qs="rId8" r:cs="rId9"/>
          </a:graphicData>
        </a:graphic>
      </p:graphicFrame>
      <p:sp>
        <p:nvSpPr>
          <p:cNvPr id="60" name="Title 1"/>
          <p:cNvSpPr>
            <a:spLocks noGrp="1"/>
          </p:cNvSpPr>
          <p:nvPr/>
        </p:nvSpPr>
        <p:spPr>
          <a:xfrm>
            <a:off x="333375" y="200153"/>
            <a:ext cx="8477249" cy="704838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6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2. 서비스 기획 8단계</a:t>
            </a:r>
            <a:endParaRPr xmlns:mc="http://schemas.openxmlformats.org/markup-compatibility/2006" xmlns:hp="http://schemas.haansoft.com/office/presentation/8.0" kumimoji="0" lang="ko-KR" altLang="en-US" sz="26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2" name="가로 글상자 61"/>
          <p:cNvSpPr txBox="1"/>
          <p:nvPr/>
        </p:nvSpPr>
        <p:spPr>
          <a:xfrm>
            <a:off x="225385" y="1659394"/>
            <a:ext cx="1410634" cy="1072376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사용자 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리서치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402680" lvl="0" indent="-442680" algn="ctr">
              <a:lnSpc>
                <a:spcPct val="120000"/>
              </a:lnSpc>
              <a:spcBef>
                <a:spcPts val="624"/>
              </a:spcBef>
              <a:buFont typeface="Wingdings"/>
              <a:buChar char="§"/>
              <a:defRPr/>
            </a:pPr>
            <a:endParaRPr lang="ko-KR" altLang="en-US" sz="15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3" name="가로 글상자 62"/>
          <p:cNvSpPr txBox="1"/>
          <p:nvPr/>
        </p:nvSpPr>
        <p:spPr>
          <a:xfrm>
            <a:off x="1286984" y="3410651"/>
            <a:ext cx="1410634" cy="1492819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lvl="0" algn="ctr">
              <a:lnSpc>
                <a:spcPct val="9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데이터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lvl="0" algn="ctr">
              <a:lnSpc>
                <a:spcPct val="9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모델링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lvl="0" algn="ctr">
              <a:lnSpc>
                <a:spcPct val="9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en-US" altLang="ko-KR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/</a:t>
            </a:r>
            <a:endParaRPr lang="en-US" altLang="ko-KR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lvl="0" algn="ctr">
              <a:lnSpc>
                <a:spcPct val="9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피처기획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402680" lvl="0" indent="-442680" algn="ctr">
              <a:lnSpc>
                <a:spcPct val="120000"/>
              </a:lnSpc>
              <a:spcBef>
                <a:spcPts val="624"/>
              </a:spcBef>
              <a:buFont typeface="Wingdings"/>
              <a:buChar char="§"/>
              <a:defRPr/>
            </a:pPr>
            <a:endParaRPr lang="ko-KR" altLang="en-US" sz="15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4" name="가로 글상자 63"/>
          <p:cNvSpPr txBox="1"/>
          <p:nvPr/>
        </p:nvSpPr>
        <p:spPr>
          <a:xfrm>
            <a:off x="4314006" y="1659394"/>
            <a:ext cx="1410634" cy="122477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lvl="0" algn="ctr">
              <a:lnSpc>
                <a:spcPct val="9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프로토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lvl="0" algn="ctr">
              <a:lnSpc>
                <a:spcPct val="9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타입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lvl="0" algn="ctr">
              <a:lnSpc>
                <a:spcPct val="9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제작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402680" lvl="0" indent="-442680" algn="ctr">
              <a:lnSpc>
                <a:spcPct val="120000"/>
              </a:lnSpc>
              <a:spcBef>
                <a:spcPts val="624"/>
              </a:spcBef>
              <a:buFont typeface="Wingdings"/>
              <a:buChar char="§"/>
              <a:defRPr/>
            </a:pPr>
            <a:endParaRPr lang="ko-KR" altLang="en-US" sz="15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5" name="가로 글상자 64"/>
          <p:cNvSpPr txBox="1"/>
          <p:nvPr/>
        </p:nvSpPr>
        <p:spPr>
          <a:xfrm>
            <a:off x="6371406" y="1659394"/>
            <a:ext cx="1410634" cy="1072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en-US" altLang="ko-KR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QA</a:t>
            </a:r>
            <a:endParaRPr lang="en-US" altLang="ko-KR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테스트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402680" lvl="0" indent="-442680" algn="ctr">
              <a:lnSpc>
                <a:spcPct val="120000"/>
              </a:lnSpc>
              <a:spcBef>
                <a:spcPts val="624"/>
              </a:spcBef>
              <a:buFont typeface="Wingdings"/>
              <a:buChar char="§"/>
              <a:defRPr/>
            </a:pPr>
            <a:endParaRPr lang="ko-KR" altLang="en-US" sz="15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7" name="가로 글상자 66"/>
          <p:cNvSpPr txBox="1"/>
          <p:nvPr/>
        </p:nvSpPr>
        <p:spPr>
          <a:xfrm>
            <a:off x="3593495" y="3424617"/>
            <a:ext cx="1041965" cy="1069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en-US" altLang="ko-KR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UX·UI</a:t>
            </a:r>
            <a:endParaRPr lang="en-US" altLang="ko-KR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디자인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402680" lvl="0" indent="-442680" algn="ctr">
              <a:lnSpc>
                <a:spcPct val="120000"/>
              </a:lnSpc>
              <a:spcBef>
                <a:spcPts val="624"/>
              </a:spcBef>
              <a:buFont typeface="Wingdings"/>
              <a:buChar char="§"/>
              <a:defRPr/>
            </a:pPr>
            <a:endParaRPr lang="ko-KR" altLang="en-US" sz="15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8" name="가로 글상자 67"/>
          <p:cNvSpPr txBox="1"/>
          <p:nvPr/>
        </p:nvSpPr>
        <p:spPr>
          <a:xfrm>
            <a:off x="5521812" y="3424617"/>
            <a:ext cx="1041965" cy="1069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백오피스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기획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402680" lvl="0" indent="-442680" algn="ctr">
              <a:lnSpc>
                <a:spcPct val="120000"/>
              </a:lnSpc>
              <a:spcBef>
                <a:spcPts val="624"/>
              </a:spcBef>
              <a:buFont typeface="Wingdings"/>
              <a:buChar char="§"/>
              <a:defRPr/>
            </a:pPr>
            <a:endParaRPr lang="ko-KR" altLang="en-US" sz="15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9" name="가로 글상자 68"/>
          <p:cNvSpPr txBox="1"/>
          <p:nvPr/>
        </p:nvSpPr>
        <p:spPr>
          <a:xfrm>
            <a:off x="7620293" y="3424617"/>
            <a:ext cx="1041966" cy="1069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데이터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분석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402680" lvl="0" indent="-442680" algn="ctr">
              <a:lnSpc>
                <a:spcPct val="120000"/>
              </a:lnSpc>
              <a:spcBef>
                <a:spcPts val="624"/>
              </a:spcBef>
              <a:buFont typeface="Wingdings"/>
              <a:buChar char="§"/>
              <a:defRPr/>
            </a:pPr>
            <a:endParaRPr lang="ko-KR" altLang="en-US" sz="15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0" name="가로 글상자 69"/>
          <p:cNvSpPr txBox="1"/>
          <p:nvPr/>
        </p:nvSpPr>
        <p:spPr>
          <a:xfrm>
            <a:off x="2355712" y="1659395"/>
            <a:ext cx="1410634" cy="719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와이어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0" lvl="0" indent="0" algn="ctr">
              <a:lnSpc>
                <a:spcPct val="120000"/>
              </a:lnSpc>
              <a:spcBef>
                <a:spcPts val="624"/>
              </a:spcBef>
              <a:buFont typeface="Wingdings"/>
              <a:buNone/>
              <a:defRPr/>
            </a:pPr>
            <a:r>
              <a:rPr lang="ko-KR" altLang="en-US" sz="1500" b="1" cap="small">
                <a:solidFill>
                  <a:schemeClr val="accent6"/>
                </a:solidFill>
                <a:latin typeface="맑은 고딕"/>
                <a:ea typeface="맑은 고딕"/>
              </a:rPr>
              <a:t>프레임</a:t>
            </a:r>
            <a:endParaRPr lang="ko-KR" altLang="en-US" sz="1500" b="1" cap="small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grpSp>
        <p:nvGrpSpPr>
          <p:cNvPr id="73" name="그룹 60"/>
          <p:cNvGrpSpPr/>
          <p:nvPr/>
        </p:nvGrpSpPr>
        <p:grpSpPr>
          <a:xfrm rot="0">
            <a:off x="225385" y="1048836"/>
            <a:ext cx="516268" cy="516267"/>
            <a:chOff x="3295651" y="1857364"/>
            <a:chExt cx="1855760" cy="1855756"/>
          </a:xfrm>
        </p:grpSpPr>
        <p:sp>
          <p:nvSpPr>
            <p:cNvPr id="74" name="타원 61"/>
            <p:cNvSpPr/>
            <p:nvPr/>
          </p:nvSpPr>
          <p:spPr>
            <a:xfrm>
              <a:off x="3295651" y="1857364"/>
              <a:ext cx="1855760" cy="1855756"/>
            </a:xfrm>
            <a:prstGeom prst="ellipse">
              <a:avLst/>
            </a:prstGeom>
            <a:solidFill>
              <a:schemeClr val="accent1"/>
            </a:solidFill>
            <a:ln w="889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타원 62"/>
            <p:cNvSpPr/>
            <p:nvPr/>
          </p:nvSpPr>
          <p:spPr>
            <a:xfrm>
              <a:off x="3428290" y="1952950"/>
              <a:ext cx="1633489" cy="1633483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6" name="TextBox 63"/>
          <p:cNvSpPr txBox="1"/>
          <p:nvPr/>
        </p:nvSpPr>
        <p:spPr>
          <a:xfrm>
            <a:off x="314661" y="1146950"/>
            <a:ext cx="33771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1</a:t>
            </a:r>
            <a:endParaRPr lang="en-US" altLang="ko-KR" sz="15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77" name="그룹 60"/>
          <p:cNvGrpSpPr/>
          <p:nvPr/>
        </p:nvGrpSpPr>
        <p:grpSpPr>
          <a:xfrm rot="0">
            <a:off x="1130260" y="4525461"/>
            <a:ext cx="516268" cy="516267"/>
            <a:chOff x="3295651" y="1857364"/>
            <a:chExt cx="1855760" cy="1855756"/>
          </a:xfrm>
        </p:grpSpPr>
        <p:sp>
          <p:nvSpPr>
            <p:cNvPr id="78" name="타원 61"/>
            <p:cNvSpPr/>
            <p:nvPr/>
          </p:nvSpPr>
          <p:spPr>
            <a:xfrm>
              <a:off x="3295651" y="1857364"/>
              <a:ext cx="1855760" cy="1855756"/>
            </a:xfrm>
            <a:prstGeom prst="ellipse">
              <a:avLst/>
            </a:prstGeom>
            <a:solidFill>
              <a:schemeClr val="accent1"/>
            </a:solidFill>
            <a:ln w="889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타원 62"/>
            <p:cNvSpPr/>
            <p:nvPr/>
          </p:nvSpPr>
          <p:spPr>
            <a:xfrm>
              <a:off x="3428290" y="1952950"/>
              <a:ext cx="1633489" cy="1633483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0" name="TextBox 63"/>
          <p:cNvSpPr txBox="1"/>
          <p:nvPr/>
        </p:nvSpPr>
        <p:spPr>
          <a:xfrm>
            <a:off x="1219536" y="4623575"/>
            <a:ext cx="33771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2</a:t>
            </a:r>
            <a:endParaRPr lang="en-US" altLang="ko-KR" sz="15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81" name="그룹 60"/>
          <p:cNvGrpSpPr/>
          <p:nvPr/>
        </p:nvGrpSpPr>
        <p:grpSpPr>
          <a:xfrm rot="0">
            <a:off x="2355712" y="1048836"/>
            <a:ext cx="516268" cy="516267"/>
            <a:chOff x="3295651" y="1857364"/>
            <a:chExt cx="1855760" cy="1855756"/>
          </a:xfrm>
        </p:grpSpPr>
        <p:sp>
          <p:nvSpPr>
            <p:cNvPr id="82" name="타원 61"/>
            <p:cNvSpPr/>
            <p:nvPr/>
          </p:nvSpPr>
          <p:spPr>
            <a:xfrm>
              <a:off x="3295651" y="1857364"/>
              <a:ext cx="1855760" cy="1855756"/>
            </a:xfrm>
            <a:prstGeom prst="ellipse">
              <a:avLst/>
            </a:prstGeom>
            <a:solidFill>
              <a:schemeClr val="accent1"/>
            </a:solidFill>
            <a:ln w="889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3" name="타원 62"/>
            <p:cNvSpPr/>
            <p:nvPr/>
          </p:nvSpPr>
          <p:spPr>
            <a:xfrm>
              <a:off x="3428290" y="1952950"/>
              <a:ext cx="1633489" cy="1633483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4" name="TextBox 63"/>
          <p:cNvSpPr txBox="1"/>
          <p:nvPr/>
        </p:nvSpPr>
        <p:spPr>
          <a:xfrm>
            <a:off x="2448261" y="1146950"/>
            <a:ext cx="33771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3</a:t>
            </a:r>
            <a:endParaRPr lang="en-US" altLang="ko-KR" sz="15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85" name="그룹 60"/>
          <p:cNvGrpSpPr/>
          <p:nvPr/>
        </p:nvGrpSpPr>
        <p:grpSpPr>
          <a:xfrm rot="0">
            <a:off x="4235737" y="1048836"/>
            <a:ext cx="516268" cy="516267"/>
            <a:chOff x="3295651" y="1857364"/>
            <a:chExt cx="1855760" cy="1855756"/>
          </a:xfrm>
        </p:grpSpPr>
        <p:sp>
          <p:nvSpPr>
            <p:cNvPr id="86" name="타원 61"/>
            <p:cNvSpPr/>
            <p:nvPr/>
          </p:nvSpPr>
          <p:spPr>
            <a:xfrm>
              <a:off x="3295651" y="1857364"/>
              <a:ext cx="1855760" cy="1855756"/>
            </a:xfrm>
            <a:prstGeom prst="ellipse">
              <a:avLst/>
            </a:prstGeom>
            <a:solidFill>
              <a:schemeClr val="accent1"/>
            </a:solidFill>
            <a:ln w="889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타원 62"/>
            <p:cNvSpPr/>
            <p:nvPr/>
          </p:nvSpPr>
          <p:spPr>
            <a:xfrm>
              <a:off x="3428290" y="1952950"/>
              <a:ext cx="1633489" cy="1633483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8" name="TextBox 63"/>
          <p:cNvSpPr txBox="1"/>
          <p:nvPr/>
        </p:nvSpPr>
        <p:spPr>
          <a:xfrm>
            <a:off x="4328286" y="1146950"/>
            <a:ext cx="33771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5</a:t>
            </a:r>
            <a:endParaRPr lang="en-US" altLang="ko-KR" sz="15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89" name="그룹 60"/>
          <p:cNvGrpSpPr/>
          <p:nvPr/>
        </p:nvGrpSpPr>
        <p:grpSpPr>
          <a:xfrm rot="0">
            <a:off x="6371406" y="1048836"/>
            <a:ext cx="516268" cy="516267"/>
            <a:chOff x="3295651" y="1857364"/>
            <a:chExt cx="1855760" cy="1855756"/>
          </a:xfrm>
        </p:grpSpPr>
        <p:sp>
          <p:nvSpPr>
            <p:cNvPr id="90" name="타원 61"/>
            <p:cNvSpPr/>
            <p:nvPr/>
          </p:nvSpPr>
          <p:spPr>
            <a:xfrm>
              <a:off x="3295651" y="1857364"/>
              <a:ext cx="1855760" cy="1855756"/>
            </a:xfrm>
            <a:prstGeom prst="ellipse">
              <a:avLst/>
            </a:prstGeom>
            <a:solidFill>
              <a:schemeClr val="accent1"/>
            </a:solidFill>
            <a:ln w="889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1" name="타원 62"/>
            <p:cNvSpPr/>
            <p:nvPr/>
          </p:nvSpPr>
          <p:spPr>
            <a:xfrm>
              <a:off x="3428290" y="1952950"/>
              <a:ext cx="1633489" cy="1633483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2" name="TextBox 63"/>
          <p:cNvSpPr txBox="1"/>
          <p:nvPr/>
        </p:nvSpPr>
        <p:spPr>
          <a:xfrm>
            <a:off x="6463955" y="1146949"/>
            <a:ext cx="33771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7</a:t>
            </a:r>
            <a:endParaRPr lang="en-US" altLang="ko-KR" sz="15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93" name="그룹 60"/>
          <p:cNvGrpSpPr/>
          <p:nvPr/>
        </p:nvGrpSpPr>
        <p:grpSpPr>
          <a:xfrm rot="0">
            <a:off x="3339354" y="4532298"/>
            <a:ext cx="516268" cy="516267"/>
            <a:chOff x="3295651" y="1857364"/>
            <a:chExt cx="1855760" cy="1855756"/>
          </a:xfrm>
        </p:grpSpPr>
        <p:sp>
          <p:nvSpPr>
            <p:cNvPr id="94" name="타원 61"/>
            <p:cNvSpPr/>
            <p:nvPr/>
          </p:nvSpPr>
          <p:spPr>
            <a:xfrm>
              <a:off x="3295651" y="1857364"/>
              <a:ext cx="1855760" cy="1855756"/>
            </a:xfrm>
            <a:prstGeom prst="ellipse">
              <a:avLst/>
            </a:prstGeom>
            <a:solidFill>
              <a:schemeClr val="accent1"/>
            </a:solidFill>
            <a:ln w="889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5" name="타원 62"/>
            <p:cNvSpPr/>
            <p:nvPr/>
          </p:nvSpPr>
          <p:spPr>
            <a:xfrm>
              <a:off x="3428290" y="1952950"/>
              <a:ext cx="1633489" cy="1633483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6" name="TextBox 63"/>
          <p:cNvSpPr txBox="1"/>
          <p:nvPr/>
        </p:nvSpPr>
        <p:spPr>
          <a:xfrm>
            <a:off x="3428631" y="4630412"/>
            <a:ext cx="33771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4</a:t>
            </a:r>
            <a:endParaRPr lang="en-US" altLang="ko-KR" sz="15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97" name="그룹 60"/>
          <p:cNvGrpSpPr/>
          <p:nvPr/>
        </p:nvGrpSpPr>
        <p:grpSpPr>
          <a:xfrm rot="0">
            <a:off x="5263677" y="4532298"/>
            <a:ext cx="516268" cy="516267"/>
            <a:chOff x="3295651" y="1857364"/>
            <a:chExt cx="1855760" cy="1855756"/>
          </a:xfrm>
        </p:grpSpPr>
        <p:sp>
          <p:nvSpPr>
            <p:cNvPr id="98" name="타원 61"/>
            <p:cNvSpPr/>
            <p:nvPr/>
          </p:nvSpPr>
          <p:spPr>
            <a:xfrm>
              <a:off x="3295651" y="1857364"/>
              <a:ext cx="1855760" cy="1855756"/>
            </a:xfrm>
            <a:prstGeom prst="ellipse">
              <a:avLst/>
            </a:prstGeom>
            <a:solidFill>
              <a:schemeClr val="accent1"/>
            </a:solidFill>
            <a:ln w="889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9" name="타원 62"/>
            <p:cNvSpPr/>
            <p:nvPr/>
          </p:nvSpPr>
          <p:spPr>
            <a:xfrm>
              <a:off x="3428290" y="1952950"/>
              <a:ext cx="1633489" cy="1633483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0" name="TextBox 63"/>
          <p:cNvSpPr txBox="1"/>
          <p:nvPr/>
        </p:nvSpPr>
        <p:spPr>
          <a:xfrm>
            <a:off x="5352954" y="4630412"/>
            <a:ext cx="33771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6</a:t>
            </a:r>
            <a:endParaRPr lang="en-US" altLang="ko-KR" sz="15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01" name="그룹 60"/>
          <p:cNvGrpSpPr/>
          <p:nvPr/>
        </p:nvGrpSpPr>
        <p:grpSpPr>
          <a:xfrm rot="0">
            <a:off x="7362159" y="4501502"/>
            <a:ext cx="516268" cy="516267"/>
            <a:chOff x="3295651" y="1857364"/>
            <a:chExt cx="1855760" cy="1855756"/>
          </a:xfrm>
        </p:grpSpPr>
        <p:sp>
          <p:nvSpPr>
            <p:cNvPr id="102" name="타원 61"/>
            <p:cNvSpPr/>
            <p:nvPr/>
          </p:nvSpPr>
          <p:spPr>
            <a:xfrm>
              <a:off x="3295651" y="1857364"/>
              <a:ext cx="1855760" cy="1855756"/>
            </a:xfrm>
            <a:prstGeom prst="ellipse">
              <a:avLst/>
            </a:prstGeom>
            <a:solidFill>
              <a:schemeClr val="accent1"/>
            </a:solidFill>
            <a:ln w="8890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3" name="타원 62"/>
            <p:cNvSpPr/>
            <p:nvPr/>
          </p:nvSpPr>
          <p:spPr>
            <a:xfrm>
              <a:off x="3428290" y="1952950"/>
              <a:ext cx="1633489" cy="1633483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" name="TextBox 63"/>
          <p:cNvSpPr txBox="1"/>
          <p:nvPr/>
        </p:nvSpPr>
        <p:spPr>
          <a:xfrm>
            <a:off x="7451435" y="4599616"/>
            <a:ext cx="33771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8</a:t>
            </a:r>
            <a:endParaRPr lang="en-US" altLang="ko-KR" sz="1500" b="1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19"/>
          <p:cNvGrpSpPr/>
          <p:nvPr/>
        </p:nvGrpSpPr>
        <p:grpSpPr>
          <a:xfrm rot="0">
            <a:off x="790604" y="1611158"/>
            <a:ext cx="771974" cy="752470"/>
            <a:chOff x="3550284" y="1904345"/>
            <a:chExt cx="859883" cy="1855756"/>
          </a:xfrm>
          <a:effectLst/>
        </p:grpSpPr>
        <p:sp>
          <p:nvSpPr>
            <p:cNvPr id="5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5" name="Title 1"/>
          <p:cNvSpPr>
            <a:spLocks noGrp="1"/>
          </p:cNvSpPr>
          <p:nvPr/>
        </p:nvSpPr>
        <p:spPr>
          <a:xfrm>
            <a:off x="457229" y="277215"/>
            <a:ext cx="8235791" cy="704838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2-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1. 사용자 리서치 (User Research)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7" name="내용 개체 틀 66"/>
          <p:cNvSpPr>
            <a:spLocks noGrp="1"/>
          </p:cNvSpPr>
          <p:nvPr>
            <p:ph sz="quarter" idx="1"/>
          </p:nvPr>
        </p:nvSpPr>
        <p:spPr>
          <a:xfrm>
            <a:off x="1961001" y="4027831"/>
            <a:ext cx="3706742" cy="665426"/>
          </a:xfrm>
        </p:spPr>
        <p:txBody>
          <a:bodyPr vert="horz" wrap="square" lIns="91440" tIns="45720" rIns="91440" bIns="45720" anchor="t"/>
          <a:lstStyle/>
          <a:p>
            <a:pPr marL="0" lvl="0" indent="0">
              <a:lnSpc>
                <a:spcPct val="90000"/>
              </a:lnSpc>
              <a:spcBef>
                <a:spcPts val="432"/>
              </a:spcBef>
              <a:buFont typeface="Wingdings"/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보안 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·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편의성 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·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신뢰성 중심 조사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9" name="가로 글상자 68"/>
          <p:cNvSpPr txBox="1"/>
          <p:nvPr/>
        </p:nvSpPr>
        <p:spPr>
          <a:xfrm>
            <a:off x="1961001" y="1819754"/>
            <a:ext cx="4572000" cy="33528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>
              <a:lnSpc>
                <a:spcPct val="90000"/>
              </a:lnSpc>
              <a:buFont typeface="Wingdings"/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사용자의 금융 니즈 및 불편 파악</a:t>
            </a:r>
            <a:endParaRPr lang="ko-KR" altLang="en-US"/>
          </a:p>
        </p:txBody>
      </p:sp>
      <p:sp>
        <p:nvSpPr>
          <p:cNvPr id="70" name="가로 글상자 69"/>
          <p:cNvSpPr txBox="1"/>
          <p:nvPr/>
        </p:nvSpPr>
        <p:spPr>
          <a:xfrm>
            <a:off x="1882646" y="2696780"/>
            <a:ext cx="4572000" cy="901765"/>
          </a:xfrm>
          <a:prstGeom prst="rect">
            <a:avLst/>
          </a:prstGeom>
        </p:spPr>
        <p:txBody>
          <a:bodyPr wrap="square">
            <a:spAutoFit/>
          </a:bodyPr>
          <a:p>
            <a:pPr marL="266700" lvl="0" indent="-306700">
              <a:buFont typeface="Wingdings"/>
              <a:buChar char="ü"/>
              <a:defRPr/>
            </a:pP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정성조사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lang="ko-KR" altLang="en-US" sz="1600">
                <a:solidFill>
                  <a:schemeClr val="accent6"/>
                </a:solidFill>
                <a:latin typeface="맑은 고딕"/>
                <a:ea typeface="맑은 고딕"/>
              </a:rPr>
              <a:t>인터뷰, 사용자 여정 맵 등</a:t>
            </a:r>
            <a:endParaRPr lang="ko-KR" altLang="en-US" sz="1600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ü"/>
              <a:defRPr/>
            </a:pP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정량조사</a:t>
            </a:r>
            <a:r>
              <a:rPr lang="ko-KR" altLang="en-US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lang="ko-KR" altLang="en-US" sz="1600">
                <a:solidFill>
                  <a:schemeClr val="accent6"/>
                </a:solidFill>
                <a:latin typeface="맑은 고딕"/>
                <a:ea typeface="맑은 고딕"/>
              </a:rPr>
              <a:t>설문, 로그 분석, NPS</a:t>
            </a:r>
            <a:endParaRPr lang="ko-KR" altLang="en-US" sz="160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1" name="가로 글상자 70"/>
          <p:cNvSpPr txBox="1"/>
          <p:nvPr/>
        </p:nvSpPr>
        <p:spPr>
          <a:xfrm>
            <a:off x="887380" y="1824329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목적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2" name="그룹 19"/>
          <p:cNvGrpSpPr/>
          <p:nvPr/>
        </p:nvGrpSpPr>
        <p:grpSpPr>
          <a:xfrm rot="0">
            <a:off x="815179" y="2673925"/>
            <a:ext cx="771974" cy="752470"/>
            <a:chOff x="3550284" y="1904345"/>
            <a:chExt cx="859883" cy="1855756"/>
          </a:xfrm>
          <a:effectLst/>
        </p:grpSpPr>
        <p:sp>
          <p:nvSpPr>
            <p:cNvPr id="73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5" name="가로 글상자 74"/>
          <p:cNvSpPr txBox="1"/>
          <p:nvPr/>
        </p:nvSpPr>
        <p:spPr>
          <a:xfrm>
            <a:off x="900905" y="2910764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방법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6" name="그룹 19"/>
          <p:cNvGrpSpPr/>
          <p:nvPr/>
        </p:nvGrpSpPr>
        <p:grpSpPr>
          <a:xfrm rot="0">
            <a:off x="815179" y="3836555"/>
            <a:ext cx="771974" cy="752470"/>
            <a:chOff x="3550284" y="1904345"/>
            <a:chExt cx="859883" cy="1855756"/>
          </a:xfrm>
          <a:effectLst/>
        </p:grpSpPr>
        <p:sp>
          <p:nvSpPr>
            <p:cNvPr id="7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9" name="가로 글상자 78"/>
          <p:cNvSpPr txBox="1"/>
          <p:nvPr/>
        </p:nvSpPr>
        <p:spPr>
          <a:xfrm>
            <a:off x="895380" y="4098860"/>
            <a:ext cx="627573" cy="261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chemeClr val="lt1"/>
                </a:solidFill>
                <a:latin typeface="맑은 고딕"/>
                <a:ea typeface="맑은 고딕"/>
              </a:rPr>
              <a:t>포인트</a:t>
            </a:r>
            <a:endParaRPr lang="ko-KR" altLang="en-US" sz="11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57229" y="1167298"/>
            <a:ext cx="8235791" cy="3761403"/>
          </a:xfrm>
          <a:prstGeom prst="rect">
            <a:avLst/>
          </a:prstGeom>
          <a:noFill/>
          <a:ln w="3175">
            <a:solidFill>
              <a:schemeClr val="dk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19"/>
          <p:cNvGrpSpPr/>
          <p:nvPr/>
        </p:nvGrpSpPr>
        <p:grpSpPr>
          <a:xfrm rot="0">
            <a:off x="914429" y="1611158"/>
            <a:ext cx="771974" cy="752470"/>
            <a:chOff x="3550284" y="1904345"/>
            <a:chExt cx="859883" cy="1855756"/>
          </a:xfrm>
          <a:solidFill>
            <a:schemeClr val="dk1"/>
          </a:solidFill>
          <a:effectLst/>
        </p:grpSpPr>
        <p:sp>
          <p:nvSpPr>
            <p:cNvPr id="5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1" name="Title 1"/>
          <p:cNvSpPr>
            <a:spLocks noGrp="1"/>
          </p:cNvSpPr>
          <p:nvPr>
            <p:ph type="title" idx="0"/>
          </p:nvPr>
        </p:nvSpPr>
        <p:spPr>
          <a:xfrm>
            <a:off x="457229" y="273826"/>
            <a:ext cx="8235791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solidFill>
                  <a:schemeClr val="accent6"/>
                </a:solidFill>
                <a:latin typeface="맑은 고딕"/>
                <a:ea typeface="맑은 고딕"/>
              </a:rPr>
              <a:t> 2</a:t>
            </a:r>
            <a:r>
              <a:rPr lang="en-US" altLang="ko-KR" sz="2800" b="1">
                <a:solidFill>
                  <a:schemeClr val="accent6"/>
                </a:solidFill>
                <a:latin typeface="맑은 고딕"/>
                <a:ea typeface="맑은 고딕"/>
              </a:rPr>
              <a:t>-2</a:t>
            </a:r>
            <a:r>
              <a:rPr lang="ko-KR" altLang="en-US" sz="2800" b="1">
                <a:solidFill>
                  <a:schemeClr val="accent6"/>
                </a:solidFill>
                <a:latin typeface="맑은 고딕"/>
                <a:ea typeface="맑은 고딕"/>
              </a:rPr>
              <a:t>. 데이터 모델링 / 피처 기획</a:t>
            </a:r>
            <a:endParaRPr lang="ko-KR" altLang="en-US" sz="28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7" name="내용 개체 틀 66"/>
          <p:cNvSpPr>
            <a:spLocks noGrp="1"/>
          </p:cNvSpPr>
          <p:nvPr>
            <p:ph sz="quarter" idx="1"/>
          </p:nvPr>
        </p:nvSpPr>
        <p:spPr>
          <a:xfrm>
            <a:off x="2418201" y="4027831"/>
            <a:ext cx="4785594" cy="665426"/>
          </a:xfrm>
        </p:spPr>
        <p:txBody>
          <a:bodyPr vert="horz" wrap="square" lIns="91440" tIns="45720" rIns="91440" bIns="45720" anchor="t"/>
          <a:lstStyle/>
          <a:p>
            <a:pPr marL="0" lvl="0" indent="0"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오픈뱅킹 API, 개인정보 보안 설계 반영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9" name="가로 글상자 68"/>
          <p:cNvSpPr txBox="1"/>
          <p:nvPr/>
        </p:nvSpPr>
        <p:spPr>
          <a:xfrm>
            <a:off x="2418201" y="1819754"/>
            <a:ext cx="4572000" cy="35956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서비스 기능 기반의 데이터 구조 설계</a:t>
            </a:r>
            <a:endParaRPr lang="ko-KR" altLang="en-US" b="1">
              <a:solidFill>
                <a:schemeClr val="accent6"/>
              </a:solidFill>
            </a:endParaRPr>
          </a:p>
        </p:txBody>
      </p:sp>
      <p:sp>
        <p:nvSpPr>
          <p:cNvPr id="70" name="가로 글상자 69"/>
          <p:cNvSpPr txBox="1"/>
          <p:nvPr/>
        </p:nvSpPr>
        <p:spPr>
          <a:xfrm>
            <a:off x="2339846" y="2696780"/>
            <a:ext cx="5232918" cy="111131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257040" lvl="0" indent="-257040">
              <a:lnSpc>
                <a:spcPct val="130000"/>
              </a:lnSpc>
              <a:buFont typeface="Wingdings"/>
              <a:buChar char="ü"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ERD 작성 (계좌, 사용자 정보 등)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257040" lvl="0" indent="-257040">
              <a:lnSpc>
                <a:spcPct val="130000"/>
              </a:lnSpc>
              <a:buFont typeface="Wingdings"/>
              <a:buChar char="ü"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주요 피처 도출 (지출 분석, 신용 점수 등)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257040" lvl="0" indent="-257040">
              <a:lnSpc>
                <a:spcPct val="130000"/>
              </a:lnSpc>
              <a:buFont typeface="Wingdings"/>
              <a:buChar char="ü"/>
              <a:defRPr/>
            </a:pPr>
            <a:endParaRPr lang="ko-KR" altLang="en-US" sz="16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1" name="가로 글상자 70"/>
          <p:cNvSpPr txBox="1"/>
          <p:nvPr/>
        </p:nvSpPr>
        <p:spPr>
          <a:xfrm>
            <a:off x="1011205" y="1824329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목적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2" name="그룹 19"/>
          <p:cNvGrpSpPr/>
          <p:nvPr/>
        </p:nvGrpSpPr>
        <p:grpSpPr>
          <a:xfrm rot="0">
            <a:off x="939004" y="2673925"/>
            <a:ext cx="771974" cy="752470"/>
            <a:chOff x="3550284" y="1904345"/>
            <a:chExt cx="859883" cy="1855756"/>
          </a:xfrm>
          <a:solidFill>
            <a:schemeClr val="dk1"/>
          </a:solidFill>
          <a:effectLst/>
        </p:grpSpPr>
        <p:sp>
          <p:nvSpPr>
            <p:cNvPr id="73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5" name="가로 글상자 74"/>
          <p:cNvSpPr txBox="1"/>
          <p:nvPr/>
        </p:nvSpPr>
        <p:spPr>
          <a:xfrm>
            <a:off x="1062830" y="2796464"/>
            <a:ext cx="627573" cy="51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chemeClr val="lt1"/>
                </a:solidFill>
                <a:latin typeface="맑은 고딕"/>
                <a:ea typeface="맑은 고딕"/>
              </a:rPr>
              <a:t>핵심</a:t>
            </a:r>
            <a:endParaRPr lang="ko-KR" altLang="en-US" sz="14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1400" b="1">
                <a:solidFill>
                  <a:schemeClr val="lt1"/>
                </a:solidFill>
                <a:latin typeface="맑은 고딕"/>
                <a:ea typeface="맑은 고딕"/>
              </a:rPr>
              <a:t>작업</a:t>
            </a:r>
            <a:endParaRPr lang="ko-KR" altLang="en-US" sz="14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6" name="그룹 19"/>
          <p:cNvGrpSpPr/>
          <p:nvPr/>
        </p:nvGrpSpPr>
        <p:grpSpPr>
          <a:xfrm rot="0">
            <a:off x="939004" y="3836555"/>
            <a:ext cx="771974" cy="752470"/>
            <a:chOff x="3550284" y="1904345"/>
            <a:chExt cx="859883" cy="1855756"/>
          </a:xfrm>
          <a:solidFill>
            <a:schemeClr val="dk1"/>
          </a:solidFill>
          <a:effectLst/>
        </p:grpSpPr>
        <p:sp>
          <p:nvSpPr>
            <p:cNvPr id="7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9" name="가로 글상자 78"/>
          <p:cNvSpPr txBox="1"/>
          <p:nvPr/>
        </p:nvSpPr>
        <p:spPr>
          <a:xfrm>
            <a:off x="1019205" y="4098860"/>
            <a:ext cx="627573" cy="261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chemeClr val="lt1"/>
                </a:solidFill>
                <a:latin typeface="맑은 고딕"/>
                <a:ea typeface="맑은 고딕"/>
              </a:rPr>
              <a:t>포인트</a:t>
            </a:r>
            <a:endParaRPr lang="ko-KR" altLang="en-US" sz="11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57229" y="1167298"/>
            <a:ext cx="8235791" cy="3761403"/>
          </a:xfrm>
          <a:prstGeom prst="rect">
            <a:avLst/>
          </a:prstGeom>
          <a:noFill/>
          <a:ln w="3175">
            <a:solidFill>
              <a:schemeClr val="dk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19"/>
          <p:cNvGrpSpPr/>
          <p:nvPr/>
        </p:nvGrpSpPr>
        <p:grpSpPr>
          <a:xfrm rot="0">
            <a:off x="981104" y="1258733"/>
            <a:ext cx="771974" cy="752470"/>
            <a:chOff x="3550284" y="1904345"/>
            <a:chExt cx="859883" cy="1855756"/>
          </a:xfrm>
          <a:solidFill>
            <a:schemeClr val="accent3"/>
          </a:solidFill>
          <a:effectLst/>
        </p:grpSpPr>
        <p:sp>
          <p:nvSpPr>
            <p:cNvPr id="5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1" name="Title 1"/>
          <p:cNvSpPr>
            <a:spLocks noGrp="1"/>
          </p:cNvSpPr>
          <p:nvPr>
            <p:ph type="title" idx="0"/>
          </p:nvPr>
        </p:nvSpPr>
        <p:spPr>
          <a:xfrm>
            <a:off x="457229" y="273826"/>
            <a:ext cx="8235791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2-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3. 와이어프레임 (Wireframe)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7" name="내용 개체 틀 66"/>
          <p:cNvSpPr>
            <a:spLocks noGrp="1"/>
          </p:cNvSpPr>
          <p:nvPr>
            <p:ph sz="quarter" idx="1"/>
          </p:nvPr>
        </p:nvSpPr>
        <p:spPr>
          <a:xfrm>
            <a:off x="2484876" y="4285006"/>
            <a:ext cx="4785594" cy="665426"/>
          </a:xfrm>
        </p:spPr>
        <p:txBody>
          <a:bodyPr vert="horz" wrap="square" lIns="91440" tIns="45720" rIns="91440" bIns="45720" anchor="t"/>
          <a:lstStyle/>
          <a:p>
            <a:pPr marL="0" lvl="0" indent="0"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금융 정보 강조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,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이체 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UX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최적화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9" name="가로 글상자 68"/>
          <p:cNvSpPr txBox="1"/>
          <p:nvPr/>
        </p:nvSpPr>
        <p:spPr>
          <a:xfrm>
            <a:off x="2484876" y="1467329"/>
            <a:ext cx="4572000" cy="35956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UI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흐름 및 기능 구조 시각화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0" name="가로 글상자 69"/>
          <p:cNvSpPr txBox="1"/>
          <p:nvPr/>
        </p:nvSpPr>
        <p:spPr>
          <a:xfrm>
            <a:off x="2406521" y="3287330"/>
            <a:ext cx="5232918" cy="7588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0" lvl="0" indent="0">
              <a:lnSpc>
                <a:spcPct val="130000"/>
              </a:lnSpc>
              <a:buFont typeface="Wingdings"/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메인플로우 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+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예외 시나리오 설계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257040" lvl="0" indent="-257040">
              <a:lnSpc>
                <a:spcPct val="130000"/>
              </a:lnSpc>
              <a:buFont typeface="Wingdings"/>
              <a:buChar char="ü"/>
              <a:defRPr/>
            </a:pPr>
            <a:endParaRPr lang="ko-KR" altLang="en-US" sz="16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1" name="가로 글상자 70"/>
          <p:cNvSpPr txBox="1"/>
          <p:nvPr/>
        </p:nvSpPr>
        <p:spPr>
          <a:xfrm>
            <a:off x="1077880" y="1471904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목적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2" name="그룹 19"/>
          <p:cNvGrpSpPr/>
          <p:nvPr/>
        </p:nvGrpSpPr>
        <p:grpSpPr>
          <a:xfrm rot="0">
            <a:off x="1005679" y="3140650"/>
            <a:ext cx="771974" cy="752470"/>
            <a:chOff x="3550284" y="1904345"/>
            <a:chExt cx="859883" cy="1855756"/>
          </a:xfrm>
          <a:solidFill>
            <a:schemeClr val="accent3"/>
          </a:solidFill>
          <a:effectLst/>
        </p:grpSpPr>
        <p:sp>
          <p:nvSpPr>
            <p:cNvPr id="73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5" name="가로 글상자 74"/>
          <p:cNvSpPr txBox="1"/>
          <p:nvPr/>
        </p:nvSpPr>
        <p:spPr>
          <a:xfrm>
            <a:off x="1091405" y="3329864"/>
            <a:ext cx="627573" cy="335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핵심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6" name="그룹 19"/>
          <p:cNvGrpSpPr/>
          <p:nvPr/>
        </p:nvGrpSpPr>
        <p:grpSpPr>
          <a:xfrm rot="0">
            <a:off x="1005679" y="4093730"/>
            <a:ext cx="771974" cy="752470"/>
            <a:chOff x="3550284" y="1904345"/>
            <a:chExt cx="859883" cy="1855756"/>
          </a:xfrm>
          <a:solidFill>
            <a:schemeClr val="accent3"/>
          </a:solidFill>
          <a:effectLst/>
        </p:grpSpPr>
        <p:sp>
          <p:nvSpPr>
            <p:cNvPr id="7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9" name="가로 글상자 78"/>
          <p:cNvSpPr txBox="1"/>
          <p:nvPr/>
        </p:nvSpPr>
        <p:spPr>
          <a:xfrm>
            <a:off x="1085880" y="4356035"/>
            <a:ext cx="627573" cy="261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chemeClr val="lt1"/>
                </a:solidFill>
                <a:latin typeface="맑은 고딕"/>
                <a:ea typeface="맑은 고딕"/>
              </a:rPr>
              <a:t>포인트</a:t>
            </a:r>
            <a:endParaRPr lang="ko-KR" altLang="en-US" sz="11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92" name="그룹 19"/>
          <p:cNvGrpSpPr/>
          <p:nvPr/>
        </p:nvGrpSpPr>
        <p:grpSpPr>
          <a:xfrm rot="0">
            <a:off x="990629" y="2195515"/>
            <a:ext cx="771974" cy="752470"/>
            <a:chOff x="3550284" y="1904345"/>
            <a:chExt cx="859883" cy="1855756"/>
          </a:xfrm>
          <a:solidFill>
            <a:schemeClr val="accent3"/>
          </a:solidFill>
          <a:effectLst/>
        </p:grpSpPr>
        <p:sp>
          <p:nvSpPr>
            <p:cNvPr id="93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4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95" name="가로 글상자 94"/>
          <p:cNvSpPr txBox="1"/>
          <p:nvPr/>
        </p:nvSpPr>
        <p:spPr>
          <a:xfrm>
            <a:off x="2522975" y="2404110"/>
            <a:ext cx="4572000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PowerPoint, FIGMA, ADOBE XD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등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96" name="가로 글상자 95"/>
          <p:cNvSpPr txBox="1"/>
          <p:nvPr/>
        </p:nvSpPr>
        <p:spPr>
          <a:xfrm>
            <a:off x="1115979" y="2408685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도구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54104" y="1166451"/>
            <a:ext cx="8235791" cy="3854900"/>
          </a:xfrm>
          <a:prstGeom prst="rect">
            <a:avLst/>
          </a:prstGeom>
          <a:noFill/>
          <a:ln w="3175">
            <a:solidFill>
              <a:schemeClr val="dk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19"/>
          <p:cNvGrpSpPr/>
          <p:nvPr/>
        </p:nvGrpSpPr>
        <p:grpSpPr>
          <a:xfrm rot="0">
            <a:off x="885854" y="1611158"/>
            <a:ext cx="771974" cy="752470"/>
            <a:chOff x="3550284" y="1904345"/>
            <a:chExt cx="859883" cy="1855756"/>
          </a:xfrm>
          <a:effectLst/>
        </p:grpSpPr>
        <p:sp>
          <p:nvSpPr>
            <p:cNvPr id="5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5" name="Title 1"/>
          <p:cNvSpPr>
            <a:spLocks noGrp="1"/>
          </p:cNvSpPr>
          <p:nvPr/>
        </p:nvSpPr>
        <p:spPr>
          <a:xfrm>
            <a:off x="457230" y="277215"/>
            <a:ext cx="8235790" cy="704838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2-4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.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UX / UI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디자인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7" name="내용 개체 틀 66"/>
          <p:cNvSpPr>
            <a:spLocks noGrp="1"/>
          </p:cNvSpPr>
          <p:nvPr>
            <p:ph sz="quarter" idx="1"/>
          </p:nvPr>
        </p:nvSpPr>
        <p:spPr>
          <a:xfrm>
            <a:off x="2389626" y="4027831"/>
            <a:ext cx="4100377" cy="665426"/>
          </a:xfrm>
        </p:spPr>
        <p:txBody>
          <a:bodyPr vert="horz" wrap="square" lIns="91440" tIns="45720" rIns="91440" bIns="45720" anchor="t"/>
          <a:lstStyle/>
          <a:p>
            <a:pPr marL="0" lvl="0" indent="0"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실수 방지 UI, 친숙한 금융언어 사용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9" name="가로 글상자 68"/>
          <p:cNvSpPr txBox="1"/>
          <p:nvPr/>
        </p:nvSpPr>
        <p:spPr>
          <a:xfrm>
            <a:off x="2389626" y="1819754"/>
            <a:ext cx="4572000" cy="33528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>
              <a:lnSpc>
                <a:spcPct val="90000"/>
              </a:lnSpc>
              <a:buFont typeface="Wingdings"/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직관적이고 신뢰감 있는 화면 설계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0" name="가로 글상자 69"/>
          <p:cNvSpPr txBox="1"/>
          <p:nvPr/>
        </p:nvSpPr>
        <p:spPr>
          <a:xfrm>
            <a:off x="2311271" y="2620580"/>
            <a:ext cx="4572000" cy="90176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257040" lvl="0" indent="-257040">
              <a:lnSpc>
                <a:spcPct val="150000"/>
              </a:lnSpc>
              <a:buFont typeface="Wingdings"/>
              <a:buChar char="ü"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직관적 구조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,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보안 강조 디자인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266700" lvl="0" indent="-306700">
              <a:lnSpc>
                <a:spcPct val="150000"/>
              </a:lnSpc>
              <a:buFont typeface="Wingdings"/>
              <a:buChar char="ü"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사용자 맞춤 용어 및 흐름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1" name="가로 글상자 70"/>
          <p:cNvSpPr txBox="1"/>
          <p:nvPr/>
        </p:nvSpPr>
        <p:spPr>
          <a:xfrm>
            <a:off x="982630" y="1824329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목적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2" name="그룹 19"/>
          <p:cNvGrpSpPr/>
          <p:nvPr/>
        </p:nvGrpSpPr>
        <p:grpSpPr>
          <a:xfrm rot="0">
            <a:off x="910429" y="2673925"/>
            <a:ext cx="771974" cy="752470"/>
            <a:chOff x="3550284" y="1904345"/>
            <a:chExt cx="859883" cy="1855756"/>
          </a:xfrm>
          <a:effectLst/>
        </p:grpSpPr>
        <p:sp>
          <p:nvSpPr>
            <p:cNvPr id="73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5" name="가로 글상자 74"/>
          <p:cNvSpPr txBox="1"/>
          <p:nvPr/>
        </p:nvSpPr>
        <p:spPr>
          <a:xfrm>
            <a:off x="996155" y="2910764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방법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6" name="그룹 19"/>
          <p:cNvGrpSpPr/>
          <p:nvPr/>
        </p:nvGrpSpPr>
        <p:grpSpPr>
          <a:xfrm rot="0">
            <a:off x="910429" y="3836555"/>
            <a:ext cx="771974" cy="752470"/>
            <a:chOff x="3550284" y="1904345"/>
            <a:chExt cx="859883" cy="1855756"/>
          </a:xfrm>
          <a:effectLst/>
        </p:grpSpPr>
        <p:sp>
          <p:nvSpPr>
            <p:cNvPr id="7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solidFill>
                <a:schemeClr val="l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9" name="가로 글상자 78"/>
          <p:cNvSpPr txBox="1"/>
          <p:nvPr/>
        </p:nvSpPr>
        <p:spPr>
          <a:xfrm>
            <a:off x="990630" y="4098860"/>
            <a:ext cx="627573" cy="261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chemeClr val="lt1"/>
                </a:solidFill>
                <a:latin typeface="맑은 고딕"/>
                <a:ea typeface="맑은 고딕"/>
              </a:rPr>
              <a:t>포인트</a:t>
            </a:r>
            <a:endParaRPr lang="ko-KR" altLang="en-US" sz="11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57229" y="1167298"/>
            <a:ext cx="8235791" cy="3761403"/>
          </a:xfrm>
          <a:prstGeom prst="rect">
            <a:avLst/>
          </a:prstGeom>
          <a:noFill/>
          <a:ln w="3175">
            <a:solidFill>
              <a:schemeClr val="dk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19"/>
          <p:cNvGrpSpPr/>
          <p:nvPr/>
        </p:nvGrpSpPr>
        <p:grpSpPr>
          <a:xfrm rot="0">
            <a:off x="933479" y="1611158"/>
            <a:ext cx="771974" cy="752470"/>
            <a:chOff x="3550284" y="1904345"/>
            <a:chExt cx="859883" cy="1855756"/>
          </a:xfrm>
          <a:effectLst/>
        </p:grpSpPr>
        <p:sp>
          <p:nvSpPr>
            <p:cNvPr id="5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5" name="Title 1"/>
          <p:cNvSpPr>
            <a:spLocks noGrp="1"/>
          </p:cNvSpPr>
          <p:nvPr/>
        </p:nvSpPr>
        <p:spPr>
          <a:xfrm>
            <a:off x="457229" y="277215"/>
            <a:ext cx="8235791" cy="704838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2-5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. 프로토 타입 제작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7" name="내용 개체 틀 66"/>
          <p:cNvSpPr>
            <a:spLocks noGrp="1"/>
          </p:cNvSpPr>
          <p:nvPr>
            <p:ph sz="quarter" idx="1"/>
          </p:nvPr>
        </p:nvSpPr>
        <p:spPr>
          <a:xfrm>
            <a:off x="2329154" y="4024603"/>
            <a:ext cx="4712699" cy="665426"/>
          </a:xfrm>
        </p:spPr>
        <p:txBody>
          <a:bodyPr vert="horz" wrap="square" lIns="91440" tIns="45720" rIns="91440" bIns="45720" anchor="t"/>
          <a:lstStyle/>
          <a:p>
            <a:pPr marL="0" lvl="0" indent="0"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테스트 기반 기획 검증, 보안 시나리오 포함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9" name="가로 글상자 68"/>
          <p:cNvSpPr txBox="1"/>
          <p:nvPr/>
        </p:nvSpPr>
        <p:spPr>
          <a:xfrm>
            <a:off x="2300579" y="1824329"/>
            <a:ext cx="4572001" cy="64074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실제 사용 경험 시뮬레이션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0" name="가로 글상자 69"/>
          <p:cNvSpPr txBox="1"/>
          <p:nvPr/>
        </p:nvSpPr>
        <p:spPr>
          <a:xfrm>
            <a:off x="2358896" y="2910764"/>
            <a:ext cx="4572000" cy="36393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lvl="0"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Figma Prototype, ProtoPie 등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1" name="가로 글상자 70"/>
          <p:cNvSpPr txBox="1"/>
          <p:nvPr/>
        </p:nvSpPr>
        <p:spPr>
          <a:xfrm>
            <a:off x="1030255" y="1824329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목적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2" name="그룹 19"/>
          <p:cNvGrpSpPr/>
          <p:nvPr/>
        </p:nvGrpSpPr>
        <p:grpSpPr>
          <a:xfrm rot="0">
            <a:off x="958054" y="2673925"/>
            <a:ext cx="771974" cy="752470"/>
            <a:chOff x="3550284" y="1904345"/>
            <a:chExt cx="859883" cy="1855756"/>
          </a:xfrm>
          <a:effectLst/>
        </p:grpSpPr>
        <p:sp>
          <p:nvSpPr>
            <p:cNvPr id="73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5" name="가로 글상자 74"/>
          <p:cNvSpPr txBox="1"/>
          <p:nvPr/>
        </p:nvSpPr>
        <p:spPr>
          <a:xfrm>
            <a:off x="1043780" y="2910764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도구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6" name="그룹 19"/>
          <p:cNvGrpSpPr/>
          <p:nvPr/>
        </p:nvGrpSpPr>
        <p:grpSpPr>
          <a:xfrm rot="0">
            <a:off x="958054" y="3836555"/>
            <a:ext cx="771974" cy="752470"/>
            <a:chOff x="3550284" y="1904345"/>
            <a:chExt cx="859883" cy="1855756"/>
          </a:xfrm>
          <a:effectLst/>
        </p:grpSpPr>
        <p:sp>
          <p:nvSpPr>
            <p:cNvPr id="7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adFill>
              <a:gsLst>
                <a:gs pos="0">
                  <a:schemeClr val="bg1">
                    <a:alpha val="56000"/>
                  </a:schemeClr>
                </a:gs>
                <a:gs pos="41000">
                  <a:schemeClr val="accent1">
                    <a:lumMod val="75000"/>
                    <a:alpha val="0"/>
                  </a:schemeClr>
                </a:gs>
              </a:gsLst>
              <a:lin ang="5400000" scaled="0"/>
            </a:gradFill>
            <a:ln w="88900"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5" name="가로 글상자 84"/>
          <p:cNvSpPr txBox="1"/>
          <p:nvPr/>
        </p:nvSpPr>
        <p:spPr>
          <a:xfrm>
            <a:off x="1049305" y="4053178"/>
            <a:ext cx="627573" cy="335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활용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457229" y="1167298"/>
            <a:ext cx="8235791" cy="3761403"/>
          </a:xfrm>
          <a:prstGeom prst="rect">
            <a:avLst/>
          </a:prstGeom>
          <a:noFill/>
          <a:ln w="3175">
            <a:solidFill>
              <a:schemeClr val="dk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19"/>
          <p:cNvGrpSpPr/>
          <p:nvPr/>
        </p:nvGrpSpPr>
        <p:grpSpPr>
          <a:xfrm rot="0">
            <a:off x="695354" y="1611158"/>
            <a:ext cx="771974" cy="752470"/>
            <a:chOff x="3550284" y="1904345"/>
            <a:chExt cx="859883" cy="1855756"/>
          </a:xfrm>
          <a:solidFill>
            <a:schemeClr val="dk1"/>
          </a:solidFill>
          <a:effectLst/>
        </p:grpSpPr>
        <p:sp>
          <p:nvSpPr>
            <p:cNvPr id="5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1" name="Title 1"/>
          <p:cNvSpPr>
            <a:spLocks noGrp="1"/>
          </p:cNvSpPr>
          <p:nvPr>
            <p:ph type="title" idx="0"/>
          </p:nvPr>
        </p:nvSpPr>
        <p:spPr>
          <a:xfrm>
            <a:off x="457229" y="273826"/>
            <a:ext cx="8235791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solidFill>
                  <a:schemeClr val="accent6"/>
                </a:solidFill>
                <a:latin typeface="맑은 고딕"/>
                <a:ea typeface="맑은 고딕"/>
              </a:rPr>
              <a:t> 2</a:t>
            </a:r>
            <a:r>
              <a:rPr lang="en-US" altLang="ko-KR" sz="2800" b="1">
                <a:solidFill>
                  <a:schemeClr val="accent6"/>
                </a:solidFill>
                <a:latin typeface="맑은 고딕"/>
                <a:ea typeface="맑은 고딕"/>
              </a:rPr>
              <a:t>-6</a:t>
            </a:r>
            <a:r>
              <a:rPr lang="ko-KR" altLang="en-US" sz="2800" b="1">
                <a:solidFill>
                  <a:schemeClr val="accent6"/>
                </a:solidFill>
                <a:latin typeface="맑은 고딕"/>
                <a:ea typeface="맑은 고딕"/>
              </a:rPr>
              <a:t>. 백오피스 기획</a:t>
            </a:r>
            <a:endParaRPr lang="ko-KR" altLang="en-US" sz="28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7" name="내용 개체 틀 66"/>
          <p:cNvSpPr>
            <a:spLocks noGrp="1"/>
          </p:cNvSpPr>
          <p:nvPr>
            <p:ph sz="quarter" idx="1"/>
          </p:nvPr>
        </p:nvSpPr>
        <p:spPr>
          <a:xfrm>
            <a:off x="2199126" y="4027831"/>
            <a:ext cx="4785594" cy="665426"/>
          </a:xfrm>
        </p:spPr>
        <p:txBody>
          <a:bodyPr vert="horz" wrap="square" lIns="91440" tIns="45720" rIns="91440" bIns="45720" anchor="t"/>
          <a:lstStyle/>
          <a:p>
            <a:pPr marL="0" lvl="0" indent="0"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보안 등급별 접근 제어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,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자동화 기능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9" name="가로 글상자 68"/>
          <p:cNvSpPr txBox="1"/>
          <p:nvPr/>
        </p:nvSpPr>
        <p:spPr>
          <a:xfrm>
            <a:off x="2199126" y="1819754"/>
            <a:ext cx="4572000" cy="35956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내부 운영 관리 기능 설계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0" name="가로 글상자 69"/>
          <p:cNvSpPr txBox="1"/>
          <p:nvPr/>
        </p:nvSpPr>
        <p:spPr>
          <a:xfrm>
            <a:off x="2120771" y="2696780"/>
            <a:ext cx="5232918" cy="111131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p>
            <a:pPr marL="257040" lvl="0" indent="-257040">
              <a:lnSpc>
                <a:spcPct val="130000"/>
              </a:lnSpc>
              <a:buFont typeface="Wingdings"/>
              <a:buChar char="ü"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고객 정보 확인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,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이상 거래 탐지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257040" lvl="0" indent="-257040">
              <a:lnSpc>
                <a:spcPct val="130000"/>
              </a:lnSpc>
              <a:buFont typeface="Wingdings"/>
              <a:buChar char="ü"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거래 승인 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/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정지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,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권한 설정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257040" lvl="0" indent="-257040">
              <a:lnSpc>
                <a:spcPct val="130000"/>
              </a:lnSpc>
              <a:buFont typeface="Wingdings"/>
              <a:buChar char="ü"/>
              <a:defRPr/>
            </a:pPr>
            <a:endParaRPr lang="ko-KR" altLang="en-US" sz="16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1" name="가로 글상자 70"/>
          <p:cNvSpPr txBox="1"/>
          <p:nvPr/>
        </p:nvSpPr>
        <p:spPr>
          <a:xfrm>
            <a:off x="792130" y="1824329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목적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2" name="그룹 19"/>
          <p:cNvGrpSpPr/>
          <p:nvPr/>
        </p:nvGrpSpPr>
        <p:grpSpPr>
          <a:xfrm rot="0">
            <a:off x="719929" y="2673925"/>
            <a:ext cx="771974" cy="752470"/>
            <a:chOff x="3550284" y="1904345"/>
            <a:chExt cx="859883" cy="1855756"/>
          </a:xfrm>
          <a:solidFill>
            <a:schemeClr val="dk1"/>
          </a:solidFill>
          <a:effectLst/>
        </p:grpSpPr>
        <p:sp>
          <p:nvSpPr>
            <p:cNvPr id="73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5" name="가로 글상자 74"/>
          <p:cNvSpPr txBox="1"/>
          <p:nvPr/>
        </p:nvSpPr>
        <p:spPr>
          <a:xfrm>
            <a:off x="805655" y="2796464"/>
            <a:ext cx="627573" cy="57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기능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예시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6" name="그룹 19"/>
          <p:cNvGrpSpPr/>
          <p:nvPr/>
        </p:nvGrpSpPr>
        <p:grpSpPr>
          <a:xfrm rot="0">
            <a:off x="719929" y="3836555"/>
            <a:ext cx="771974" cy="752470"/>
            <a:chOff x="3550284" y="1904345"/>
            <a:chExt cx="859883" cy="1855756"/>
          </a:xfrm>
          <a:solidFill>
            <a:schemeClr val="dk1"/>
          </a:solidFill>
          <a:effectLst/>
        </p:grpSpPr>
        <p:sp>
          <p:nvSpPr>
            <p:cNvPr id="7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9" name="가로 글상자 78"/>
          <p:cNvSpPr txBox="1"/>
          <p:nvPr/>
        </p:nvSpPr>
        <p:spPr>
          <a:xfrm>
            <a:off x="800130" y="4098860"/>
            <a:ext cx="627573" cy="261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chemeClr val="lt1"/>
                </a:solidFill>
                <a:latin typeface="맑은 고딕"/>
                <a:ea typeface="맑은 고딕"/>
              </a:rPr>
              <a:t>포인트</a:t>
            </a:r>
            <a:endParaRPr lang="ko-KR" altLang="en-US" sz="11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57229" y="1167298"/>
            <a:ext cx="8235791" cy="3761403"/>
          </a:xfrm>
          <a:prstGeom prst="rect">
            <a:avLst/>
          </a:prstGeom>
          <a:noFill/>
          <a:ln w="3175">
            <a:solidFill>
              <a:schemeClr val="dk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19"/>
          <p:cNvGrpSpPr/>
          <p:nvPr/>
        </p:nvGrpSpPr>
        <p:grpSpPr>
          <a:xfrm rot="0">
            <a:off x="790604" y="1611158"/>
            <a:ext cx="771974" cy="752470"/>
            <a:chOff x="3550284" y="1904345"/>
            <a:chExt cx="859883" cy="1855756"/>
          </a:xfrm>
          <a:effectLst/>
        </p:grpSpPr>
        <p:sp>
          <p:nvSpPr>
            <p:cNvPr id="5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solidFill>
              <a:schemeClr val="dk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5" name="Title 1"/>
          <p:cNvSpPr>
            <a:spLocks noGrp="1"/>
          </p:cNvSpPr>
          <p:nvPr/>
        </p:nvSpPr>
        <p:spPr>
          <a:xfrm>
            <a:off x="457229" y="277215"/>
            <a:ext cx="8235791" cy="704838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2-7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.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QA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테스트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7" name="내용 개체 틀 66"/>
          <p:cNvSpPr>
            <a:spLocks noGrp="1"/>
          </p:cNvSpPr>
          <p:nvPr>
            <p:ph sz="quarter" idx="1"/>
          </p:nvPr>
        </p:nvSpPr>
        <p:spPr>
          <a:xfrm>
            <a:off x="2294376" y="4027831"/>
            <a:ext cx="4333642" cy="665426"/>
          </a:xfrm>
        </p:spPr>
        <p:txBody>
          <a:bodyPr vert="horz" wrap="square" lIns="91440" tIns="45720" rIns="91440" bIns="45720" anchor="t"/>
          <a:lstStyle/>
          <a:p>
            <a:pPr marL="0" lvl="0" indent="0">
              <a:lnSpc>
                <a:spcPct val="90000"/>
              </a:lnSpc>
              <a:spcBef>
                <a:spcPts val="432"/>
              </a:spcBef>
              <a:buFont typeface="Wingdings"/>
              <a:buNone/>
              <a:defRPr/>
            </a:pP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OPT, 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이중 인증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,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예외 상황 필수 확인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81" name="내용 개체 틀 66"/>
          <p:cNvSpPr>
            <a:spLocks noGrp="1"/>
          </p:cNvSpPr>
          <p:nvPr>
            <p:ph sz="quarter" idx="2"/>
          </p:nvPr>
        </p:nvSpPr>
        <p:spPr>
          <a:xfrm>
            <a:off x="2294375" y="2910764"/>
            <a:ext cx="4129535" cy="665426"/>
          </a:xfrm>
        </p:spPr>
        <p:txBody>
          <a:bodyPr vert="horz" wrap="square" lIns="91440" tIns="45720" rIns="91440" bIns="45720" anchor="t"/>
          <a:lstStyle/>
          <a:p>
            <a:pPr marL="0" lvl="0" indent="0">
              <a:lnSpc>
                <a:spcPct val="90000"/>
              </a:lnSpc>
              <a:spcBef>
                <a:spcPts val="432"/>
              </a:spcBef>
              <a:buFont typeface="Wingdings"/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기능 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·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보안 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·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사용자 시나리오 테스트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9" name="가로 글상자 68"/>
          <p:cNvSpPr txBox="1"/>
          <p:nvPr/>
        </p:nvSpPr>
        <p:spPr>
          <a:xfrm>
            <a:off x="2294376" y="1819754"/>
            <a:ext cx="4572000" cy="33528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>
              <a:lnSpc>
                <a:spcPct val="90000"/>
              </a:lnSpc>
              <a:buFont typeface="Wingdings"/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모든 기능의 정상 작동 검증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1" name="가로 글상자 70"/>
          <p:cNvSpPr txBox="1"/>
          <p:nvPr/>
        </p:nvSpPr>
        <p:spPr>
          <a:xfrm>
            <a:off x="887380" y="1824329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목적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2" name="그룹 19"/>
          <p:cNvGrpSpPr/>
          <p:nvPr/>
        </p:nvGrpSpPr>
        <p:grpSpPr>
          <a:xfrm rot="0">
            <a:off x="815179" y="2673925"/>
            <a:ext cx="771974" cy="752470"/>
            <a:chOff x="3550284" y="1904345"/>
            <a:chExt cx="859883" cy="1855756"/>
          </a:xfrm>
          <a:effectLst/>
        </p:grpSpPr>
        <p:sp>
          <p:nvSpPr>
            <p:cNvPr id="73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solidFill>
              <a:schemeClr val="dk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5" name="가로 글상자 74"/>
          <p:cNvSpPr txBox="1"/>
          <p:nvPr/>
        </p:nvSpPr>
        <p:spPr>
          <a:xfrm>
            <a:off x="900905" y="2910764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종류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6" name="그룹 19"/>
          <p:cNvGrpSpPr/>
          <p:nvPr/>
        </p:nvGrpSpPr>
        <p:grpSpPr>
          <a:xfrm rot="0">
            <a:off x="815179" y="3836555"/>
            <a:ext cx="771974" cy="752470"/>
            <a:chOff x="3550284" y="1904345"/>
            <a:chExt cx="859883" cy="1855756"/>
          </a:xfrm>
          <a:effectLst/>
        </p:grpSpPr>
        <p:sp>
          <p:nvSpPr>
            <p:cNvPr id="7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solidFill>
              <a:schemeClr val="accent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solidFill>
              <a:schemeClr val="dk1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9" name="가로 글상자 78"/>
          <p:cNvSpPr txBox="1"/>
          <p:nvPr/>
        </p:nvSpPr>
        <p:spPr>
          <a:xfrm>
            <a:off x="895380" y="4098860"/>
            <a:ext cx="627573" cy="261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chemeClr val="lt1"/>
                </a:solidFill>
                <a:latin typeface="맑은 고딕"/>
                <a:ea typeface="맑은 고딕"/>
              </a:rPr>
              <a:t>포인트</a:t>
            </a:r>
            <a:endParaRPr lang="ko-KR" altLang="en-US" sz="11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57229" y="1167298"/>
            <a:ext cx="8235791" cy="3761403"/>
          </a:xfrm>
          <a:prstGeom prst="rect">
            <a:avLst/>
          </a:prstGeom>
          <a:noFill/>
          <a:ln w="3175">
            <a:solidFill>
              <a:schemeClr val="dk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그룹 19"/>
          <p:cNvGrpSpPr/>
          <p:nvPr/>
        </p:nvGrpSpPr>
        <p:grpSpPr>
          <a:xfrm rot="0">
            <a:off x="676304" y="1611158"/>
            <a:ext cx="771974" cy="752470"/>
            <a:chOff x="3550284" y="1904345"/>
            <a:chExt cx="859883" cy="1855756"/>
          </a:xfrm>
          <a:solidFill>
            <a:schemeClr val="accent2"/>
          </a:solidFill>
          <a:effectLst/>
        </p:grpSpPr>
        <p:sp>
          <p:nvSpPr>
            <p:cNvPr id="5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5" name="Title 1"/>
          <p:cNvSpPr>
            <a:spLocks noGrp="1"/>
          </p:cNvSpPr>
          <p:nvPr/>
        </p:nvSpPr>
        <p:spPr>
          <a:xfrm>
            <a:off x="457229" y="277215"/>
            <a:ext cx="8235791" cy="704838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2-8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. 데이터 분석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7" name="내용 개체 틀 66"/>
          <p:cNvSpPr>
            <a:spLocks noGrp="1"/>
          </p:cNvSpPr>
          <p:nvPr>
            <p:ph sz="quarter" idx="1"/>
          </p:nvPr>
        </p:nvSpPr>
        <p:spPr>
          <a:xfrm>
            <a:off x="2180076" y="4027831"/>
            <a:ext cx="4493645" cy="665426"/>
          </a:xfrm>
        </p:spPr>
        <p:txBody>
          <a:bodyPr vert="horz" wrap="square" lIns="91440" tIns="45720" rIns="91440" bIns="45720" anchor="t"/>
          <a:lstStyle/>
          <a:p>
            <a:pPr marL="0" lvl="0" indent="0">
              <a:lnSpc>
                <a:spcPct val="90000"/>
              </a:lnSpc>
              <a:spcBef>
                <a:spcPts val="432"/>
              </a:spcBef>
              <a:buFont typeface="Wingdings"/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사용자 맞춤 금융 추천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,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리스크 예측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69" name="가로 글상자 68"/>
          <p:cNvSpPr txBox="1"/>
          <p:nvPr/>
        </p:nvSpPr>
        <p:spPr>
          <a:xfrm>
            <a:off x="2180076" y="1819754"/>
            <a:ext cx="4572000" cy="33528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>
              <a:lnSpc>
                <a:spcPct val="90000"/>
              </a:lnSpc>
              <a:buFont typeface="Wingdings"/>
              <a:buNone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서비스 개선과 개인화 기능에 활용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0" name="가로 글상자 69"/>
          <p:cNvSpPr txBox="1"/>
          <p:nvPr/>
        </p:nvSpPr>
        <p:spPr>
          <a:xfrm>
            <a:off x="2101721" y="2696780"/>
            <a:ext cx="4572000" cy="901765"/>
          </a:xfrm>
          <a:prstGeom prst="rect">
            <a:avLst/>
          </a:prstGeom>
        </p:spPr>
        <p:txBody>
          <a:bodyPr wrap="square">
            <a:spAutoFit/>
          </a:bodyPr>
          <a:p>
            <a:pPr marL="266700" lvl="0" indent="-306700">
              <a:buFont typeface="Wingdings"/>
              <a:buChar char="ü"/>
              <a:defRPr/>
            </a:pP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전환율</a:t>
            </a: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,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이탈률 사용자 행동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ü"/>
              <a:defRPr/>
            </a:pPr>
            <a:r>
              <a:rPr lang="en-US" altLang="ko-KR" b="1">
                <a:solidFill>
                  <a:schemeClr val="accent6"/>
                </a:solidFill>
                <a:latin typeface="맑은 고딕"/>
                <a:ea typeface="맑은 고딕"/>
              </a:rPr>
              <a:t>A/B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테스트 결과 기반 개선</a:t>
            </a:r>
            <a:endParaRPr lang="ko-KR" altLang="en-US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1" name="가로 글상자 70"/>
          <p:cNvSpPr txBox="1"/>
          <p:nvPr/>
        </p:nvSpPr>
        <p:spPr>
          <a:xfrm>
            <a:off x="773080" y="1824329"/>
            <a:ext cx="627573" cy="33594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목적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2" name="그룹 19"/>
          <p:cNvGrpSpPr/>
          <p:nvPr/>
        </p:nvGrpSpPr>
        <p:grpSpPr>
          <a:xfrm rot="0">
            <a:off x="700879" y="2673925"/>
            <a:ext cx="771974" cy="752470"/>
            <a:chOff x="3550284" y="1904345"/>
            <a:chExt cx="859883" cy="1855756"/>
          </a:xfrm>
          <a:solidFill>
            <a:schemeClr val="accent2"/>
          </a:solidFill>
          <a:effectLst/>
        </p:grpSpPr>
        <p:sp>
          <p:nvSpPr>
            <p:cNvPr id="73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4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5" name="가로 글상자 74"/>
          <p:cNvSpPr txBox="1"/>
          <p:nvPr/>
        </p:nvSpPr>
        <p:spPr>
          <a:xfrm>
            <a:off x="786605" y="2796464"/>
            <a:ext cx="627573" cy="57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분석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항목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76" name="그룹 19"/>
          <p:cNvGrpSpPr/>
          <p:nvPr/>
        </p:nvGrpSpPr>
        <p:grpSpPr>
          <a:xfrm rot="0">
            <a:off x="700879" y="3836555"/>
            <a:ext cx="771974" cy="752470"/>
            <a:chOff x="3550284" y="1904345"/>
            <a:chExt cx="859883" cy="1855756"/>
          </a:xfrm>
          <a:solidFill>
            <a:schemeClr val="accent2"/>
          </a:solidFill>
          <a:effectLst/>
        </p:grpSpPr>
        <p:sp>
          <p:nvSpPr>
            <p:cNvPr id="77" name="타원 5"/>
            <p:cNvSpPr/>
            <p:nvPr/>
          </p:nvSpPr>
          <p:spPr>
            <a:xfrm>
              <a:off x="3550284" y="1904345"/>
              <a:ext cx="859883" cy="1855756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타원 6"/>
            <p:cNvSpPr/>
            <p:nvPr/>
          </p:nvSpPr>
          <p:spPr>
            <a:xfrm>
              <a:off x="3629275" y="2076178"/>
              <a:ext cx="697004" cy="1474958"/>
            </a:xfrm>
            <a:prstGeom prst="ellipse">
              <a:avLst/>
            </a:prstGeom>
            <a:grpFill/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79" name="가로 글상자 78"/>
          <p:cNvSpPr txBox="1"/>
          <p:nvPr/>
        </p:nvSpPr>
        <p:spPr>
          <a:xfrm>
            <a:off x="781080" y="4098860"/>
            <a:ext cx="627573" cy="261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100" b="1">
                <a:solidFill>
                  <a:schemeClr val="lt1"/>
                </a:solidFill>
                <a:latin typeface="맑은 고딕"/>
                <a:ea typeface="맑은 고딕"/>
              </a:rPr>
              <a:t>포인트</a:t>
            </a:r>
            <a:endParaRPr lang="ko-KR" altLang="en-US" sz="11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57229" y="1167298"/>
            <a:ext cx="8235791" cy="3761403"/>
          </a:xfrm>
          <a:prstGeom prst="rect">
            <a:avLst/>
          </a:prstGeom>
          <a:noFill/>
          <a:ln w="3175">
            <a:solidFill>
              <a:schemeClr val="dk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43736" y="235726"/>
            <a:ext cx="8656528" cy="704838"/>
          </a:xfrm>
          <a:noFill/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solidFill>
                  <a:schemeClr val="accent2"/>
                </a:solidFill>
                <a:latin typeface="맑은 고딕"/>
                <a:ea typeface="맑은 고딕"/>
              </a:rPr>
              <a:t> 3. 핀테크 PM의 협업 구조</a:t>
            </a:r>
            <a:endParaRPr lang="ko-KR" altLang="en-US" sz="2800" b="1">
              <a:solidFill>
                <a:schemeClr val="accent2"/>
              </a:solidFill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295400"/>
            <a:ext cx="8477249" cy="3720704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sz="1945" b="1">
                <a:solidFill>
                  <a:schemeClr val="accent6"/>
                </a:solidFill>
                <a:latin typeface="맑은 고딕"/>
                <a:ea typeface="맑은 고딕"/>
              </a:rPr>
              <a:t>PM/PO (Product Manager/Owner): </a:t>
            </a:r>
            <a:r>
              <a:rPr lang="ko-KR" altLang="en-US" sz="1600">
                <a:latin typeface="맑은 고딕"/>
                <a:ea typeface="맑은 고딕"/>
              </a:rPr>
              <a:t>제품 목표 설정, 일정 관리, 팀 조율 총괄</a:t>
            </a:r>
            <a:endParaRPr lang="ko-KR" altLang="en-US" sz="1729"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1945" b="1">
                <a:solidFill>
                  <a:schemeClr val="accent6"/>
                </a:solidFill>
                <a:latin typeface="맑은 고딕"/>
                <a:ea typeface="맑은 고딕"/>
              </a:rPr>
              <a:t>BA (Business Analyst):</a:t>
            </a:r>
            <a:r>
              <a:rPr lang="ko-KR" altLang="en-US" b="1">
                <a:latin typeface="맑은 고딕"/>
                <a:ea typeface="맑은 고딕"/>
              </a:rPr>
              <a:t> </a:t>
            </a:r>
            <a:r>
              <a:rPr lang="ko-KR" altLang="en-US" sz="1500">
                <a:latin typeface="맑은 고딕"/>
                <a:ea typeface="맑은 고딕"/>
              </a:rPr>
              <a:t>비즈니스 요구 분석, 데이터 기반 문제 정의 및 솔루션 도출</a:t>
            </a:r>
            <a:endParaRPr lang="ko-KR" altLang="en-US" sz="1729"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1945" b="1">
                <a:solidFill>
                  <a:schemeClr val="accent6"/>
                </a:solidFill>
                <a:latin typeface="맑은 고딕"/>
                <a:ea typeface="맑은 고딕"/>
              </a:rPr>
              <a:t>UX/UI 디자이너:</a:t>
            </a:r>
            <a:r>
              <a:rPr lang="ko-KR" altLang="en-US" b="1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lang="ko-KR" altLang="en-US" sz="1621">
                <a:latin typeface="맑은 고딕"/>
                <a:ea typeface="맑은 고딕"/>
              </a:rPr>
              <a:t>사용자 흐름, 인터페이스, 디자인 시스템 설계</a:t>
            </a:r>
            <a:endParaRPr lang="ko-KR" altLang="en-US" sz="1729"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1945" b="1">
                <a:solidFill>
                  <a:schemeClr val="accent6"/>
                </a:solidFill>
                <a:latin typeface="맑은 고딕"/>
                <a:ea typeface="맑은 고딕"/>
              </a:rPr>
              <a:t>프로덕트 디자이너:</a:t>
            </a:r>
            <a:r>
              <a:rPr lang="ko-KR" altLang="en-US" b="1">
                <a:latin typeface="맑은 고딕"/>
                <a:ea typeface="맑은 고딕"/>
              </a:rPr>
              <a:t> </a:t>
            </a:r>
            <a:r>
              <a:rPr lang="ko-KR" altLang="en-US" sz="1621">
                <a:latin typeface="맑은 고딕"/>
                <a:ea typeface="맑은 고딕"/>
              </a:rPr>
              <a:t>UX부터 UI까지 전반적 사용자 경험을 총괄하는 디자이너 역할</a:t>
            </a:r>
            <a:endParaRPr lang="ko-KR" altLang="en-US" sz="1729"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1945" b="1">
                <a:solidFill>
                  <a:schemeClr val="accent6"/>
                </a:solidFill>
                <a:latin typeface="맑은 고딕"/>
                <a:ea typeface="맑은 고딕"/>
              </a:rPr>
              <a:t>프론트엔드 개발자:</a:t>
            </a:r>
            <a:r>
              <a:rPr lang="ko-KR" altLang="en-US">
                <a:latin typeface="맑은 고딕"/>
                <a:ea typeface="맑은 고딕"/>
              </a:rPr>
              <a:t> </a:t>
            </a:r>
            <a:r>
              <a:rPr lang="ko-KR" altLang="en-US" sz="1621">
                <a:latin typeface="맑은 고딕"/>
                <a:ea typeface="맑은 고딕"/>
              </a:rPr>
              <a:t>사용자와 직접 맞닿는 화면(웹/앱)의 기능 구현 담당</a:t>
            </a:r>
            <a:endParaRPr lang="ko-KR" altLang="en-US" sz="1729"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1945" b="1">
                <a:solidFill>
                  <a:schemeClr val="accent6"/>
                </a:solidFill>
                <a:latin typeface="맑은 고딕"/>
                <a:ea typeface="맑은 고딕"/>
              </a:rPr>
              <a:t>백엔드 개발자:</a:t>
            </a:r>
            <a:r>
              <a:rPr lang="ko-KR" altLang="en-US">
                <a:latin typeface="맑은 고딕"/>
                <a:ea typeface="맑은 고딕"/>
              </a:rPr>
              <a:t> </a:t>
            </a:r>
            <a:r>
              <a:rPr lang="ko-KR" altLang="en-US" sz="1621">
                <a:latin typeface="맑은 고딕"/>
                <a:ea typeface="맑은 고딕"/>
              </a:rPr>
              <a:t>서버, DB, API 등 비즈니스 로직과 데이터 처리를 담당</a:t>
            </a:r>
            <a:endParaRPr lang="ko-KR" altLang="en-US" sz="1621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12683" y="394152"/>
            <a:ext cx="8163123" cy="704838"/>
          </a:xfrm>
          <a:solidFill>
            <a:schemeClr val="lt1"/>
          </a:solidFill>
          <a:ln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800" b="1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lang="en-US" altLang="ko-KR" sz="2800" b="1">
                <a:solidFill>
                  <a:schemeClr val="accent6"/>
                </a:solidFill>
                <a:latin typeface="맑은 고딕"/>
                <a:ea typeface="맑은 고딕"/>
              </a:rPr>
              <a:t>4.</a:t>
            </a:r>
            <a:r>
              <a:rPr lang="ko-KR" altLang="en-US" sz="2800" b="1">
                <a:solidFill>
                  <a:schemeClr val="accent6"/>
                </a:solidFill>
                <a:latin typeface="맑은 고딕"/>
                <a:ea typeface="맑은 고딕"/>
              </a:rPr>
              <a:t> 핀테크 서비스 기획: 사용자 이해</a:t>
            </a:r>
            <a:endParaRPr lang="ko-KR" altLang="en-US" sz="2800" b="1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4" name="모서리가 둥근 직사각형 56"/>
          <p:cNvSpPr/>
          <p:nvPr/>
        </p:nvSpPr>
        <p:spPr>
          <a:xfrm>
            <a:off x="412683" y="1717804"/>
            <a:ext cx="8163123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214200" lvl="0" indent="-214200">
              <a:buFont typeface="Wingdings"/>
              <a:buChar char="§"/>
              <a:defRPr lang="ko-KR" altLang="en-US"/>
            </a:pP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서비스 기획은 문제 발견에서 시작</a:t>
            </a:r>
            <a:endParaRPr lang="ko-KR" altLang="en-US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5" name="모서리가 둥근 직사각형 56"/>
          <p:cNvSpPr/>
          <p:nvPr/>
        </p:nvSpPr>
        <p:spPr>
          <a:xfrm>
            <a:off x="412683" y="2419349"/>
            <a:ext cx="8163123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214200" lvl="0" indent="-214200">
              <a:buFont typeface="Wingdings"/>
              <a:buChar char="§"/>
              <a:defRPr lang="ko-KR" altLang="en-US"/>
            </a:pP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사용자의 불편은 서비스의 출발점</a:t>
            </a:r>
            <a:endParaRPr lang="ko-KR" altLang="en-US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6" name="모서리가 둥근 직사각형 56"/>
          <p:cNvSpPr/>
          <p:nvPr/>
        </p:nvSpPr>
        <p:spPr>
          <a:xfrm>
            <a:off x="412683" y="3125755"/>
            <a:ext cx="8163123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214200" lvl="0" indent="-214200">
              <a:buFont typeface="Wingdings"/>
              <a:buChar char="§"/>
              <a:defRPr lang="ko-KR" altLang="en-US"/>
            </a:pPr>
            <a:r>
              <a:rPr lang="en-US" altLang="ko-KR" b="1">
                <a:solidFill>
                  <a:srgbClr val="000000"/>
                </a:solidFill>
                <a:latin typeface="맑은 고딕"/>
                <a:ea typeface="맑은 고딕"/>
              </a:rPr>
              <a:t>PM</a:t>
            </a: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의 핵심 역할은 문제를 발견하고 해결하는 것</a:t>
            </a:r>
            <a:endParaRPr lang="ko-KR" altLang="en-US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7" name="모서리가 둥근 직사각형 56"/>
          <p:cNvSpPr/>
          <p:nvPr/>
        </p:nvSpPr>
        <p:spPr>
          <a:xfrm>
            <a:off x="412683" y="3847833"/>
            <a:ext cx="8163123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214200" lvl="0" indent="-214200">
              <a:buFont typeface="Wingdings"/>
              <a:buChar char="§"/>
              <a:defRPr lang="ko-KR" altLang="en-US"/>
            </a:pP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단 프로덕트 핏과 마켓 핏을 정확히 파악해야 지속적인 운영 가능</a:t>
            </a:r>
            <a:endParaRPr lang="ko-KR" altLang="en-US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내용 개체 틀 52"/>
          <p:cNvSpPr>
            <a:spLocks noGrp="1"/>
          </p:cNvSpPr>
          <p:nvPr>
            <p:ph sz="quarter" idx="4"/>
          </p:nvPr>
        </p:nvSpPr>
        <p:spPr>
          <a:xfrm>
            <a:off x="5592535" y="1338942"/>
            <a:ext cx="2411600" cy="3134700"/>
          </a:xfrm>
          <a:prstGeom prst="roundRect">
            <a:avLst>
              <a:gd name="adj" fmla="val 11089"/>
            </a:avLst>
          </a:prstGeom>
          <a:solidFill>
            <a:schemeClr val="lt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anchor="t"/>
          <a:lstStyle/>
          <a:p>
            <a:pPr marL="0" lvl="0" indent="0" algn="ctr">
              <a:buNone/>
              <a:defRPr/>
            </a:pPr>
            <a:endParaRPr lang="ko-KR" altLang="en-US" sz="15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500" b="1">
                <a:solidFill>
                  <a:srgbClr val="3a3c84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1500" b="1">
                <a:solidFill>
                  <a:srgbClr val="3a3c84"/>
                </a:solidFill>
                <a:latin typeface="맑은 고딕"/>
                <a:ea typeface="맑은 고딕"/>
              </a:rPr>
              <a:t>1</a:t>
            </a:r>
            <a:r>
              <a:rPr lang="ko-KR" altLang="en-US" sz="1500" b="1">
                <a:solidFill>
                  <a:srgbClr val="3a3c84"/>
                </a:solidFill>
                <a:latin typeface="맑은 고딕"/>
                <a:ea typeface="맑은 고딕"/>
              </a:rPr>
              <a:t> 토스</a:t>
            </a:r>
            <a:r>
              <a:rPr lang="en-US" altLang="ko-KR" sz="1500" b="1">
                <a:solidFill>
                  <a:srgbClr val="3a3c84"/>
                </a:solidFill>
                <a:latin typeface="맑은 고딕"/>
                <a:ea typeface="맑은 고딕"/>
              </a:rPr>
              <a:t>(Toss)</a:t>
            </a:r>
            <a:endParaRPr lang="en-US" altLang="ko-KR" sz="1500" b="1">
              <a:solidFill>
                <a:srgbClr val="3a3c84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5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500" b="1">
                <a:solidFill>
                  <a:srgbClr val="000000"/>
                </a:solidFill>
                <a:latin typeface="맑은 고딕"/>
                <a:ea typeface="맑은 고딕"/>
              </a:rPr>
              <a:t>우리 핀테크 서비스가 사용자의 문제를 </a:t>
            </a:r>
            <a:endParaRPr lang="ko-KR" altLang="en-US" sz="15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500" b="1">
                <a:solidFill>
                  <a:srgbClr val="000000"/>
                </a:solidFill>
                <a:latin typeface="맑은 고딕"/>
                <a:ea typeface="맑은 고딕"/>
              </a:rPr>
              <a:t>정확히 해결하고 있는가?</a:t>
            </a:r>
            <a:endParaRPr lang="ko-KR" altLang="en-US" sz="15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 sz="1500" b="1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  <p:grpSp>
        <p:nvGrpSpPr>
          <p:cNvPr id="2" name="그룹 35"/>
          <p:cNvGrpSpPr/>
          <p:nvPr/>
        </p:nvGrpSpPr>
        <p:grpSpPr>
          <a:xfrm rot="0">
            <a:off x="1678761" y="1338942"/>
            <a:ext cx="3624282" cy="826223"/>
            <a:chOff x="714349" y="1785926"/>
            <a:chExt cx="4832377" cy="1101631"/>
          </a:xfrm>
        </p:grpSpPr>
        <p:sp>
          <p:nvSpPr>
            <p:cNvPr id="4" name="모서리가 둥근 직사각형 3"/>
            <p:cNvSpPr/>
            <p:nvPr/>
          </p:nvSpPr>
          <p:spPr>
            <a:xfrm>
              <a:off x="1379337" y="1785926"/>
              <a:ext cx="4167389" cy="110163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은행 앱이 복잡해서 계좌 조회, 송금, 인증서 발급이 불편함</a:t>
              </a:r>
              <a:endParaRPr lang="ko-KR" altLang="en-US" sz="15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3" name="그룹 19"/>
            <p:cNvGrpSpPr/>
            <p:nvPr/>
          </p:nvGrpSpPr>
          <p:grpSpPr>
            <a:xfrm rot="0">
              <a:off x="714349" y="1835094"/>
              <a:ext cx="1003296" cy="1003294"/>
              <a:chOff x="3295650" y="1857364"/>
              <a:chExt cx="1855759" cy="1855756"/>
            </a:xfrm>
            <a:effectLst/>
          </p:grpSpPr>
          <p:sp>
            <p:nvSpPr>
              <p:cNvPr id="6" name="타원 5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" name="타원 6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56000"/>
                    </a:schemeClr>
                  </a:gs>
                  <a:gs pos="41000">
                    <a:schemeClr val="accent1">
                      <a:lumMod val="75000"/>
                      <a:alpha val="0"/>
                    </a:schemeClr>
                  </a:gs>
                </a:gsLst>
                <a:lin ang="5400000" scaled="0"/>
              </a:gra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26" name="이등변 삼각형 25"/>
          <p:cNvSpPr/>
          <p:nvPr/>
        </p:nvSpPr>
        <p:spPr>
          <a:xfrm rot="10800000">
            <a:off x="3513180" y="2210899"/>
            <a:ext cx="242391" cy="208957"/>
          </a:xfrm>
          <a:prstGeom prst="triangle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이등변 삼각형 26"/>
          <p:cNvSpPr/>
          <p:nvPr/>
        </p:nvSpPr>
        <p:spPr>
          <a:xfrm rot="10800000">
            <a:off x="3513180" y="3355780"/>
            <a:ext cx="242391" cy="208957"/>
          </a:xfrm>
          <a:prstGeom prst="triangle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TextBox 27"/>
          <p:cNvSpPr txBox="1"/>
          <p:nvPr/>
        </p:nvSpPr>
        <p:spPr>
          <a:xfrm>
            <a:off x="1765935" y="1592580"/>
            <a:ext cx="6019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rPr>
              <a:t>문제</a:t>
            </a:r>
            <a:endParaRPr lang="ko-KR" altLang="en-US" sz="1500" b="1">
              <a:solidFill>
                <a:schemeClr val="accent1">
                  <a:lumMod val="20000"/>
                  <a:lumOff val="80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5" name="그룹 35"/>
          <p:cNvGrpSpPr/>
          <p:nvPr/>
        </p:nvGrpSpPr>
        <p:grpSpPr>
          <a:xfrm rot="0">
            <a:off x="1678761" y="2461021"/>
            <a:ext cx="3624282" cy="826223"/>
            <a:chOff x="714349" y="1785926"/>
            <a:chExt cx="4832377" cy="1101631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1379337" y="1785926"/>
              <a:ext cx="4167389" cy="110163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한 화면에서 계좌조회, 송금, 인증서 없이 간편하게 송금 가능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8" name="그룹 19"/>
            <p:cNvGrpSpPr/>
            <p:nvPr/>
          </p:nvGrpSpPr>
          <p:grpSpPr>
            <a:xfrm rot="0">
              <a:off x="714349" y="1835093"/>
              <a:ext cx="1003296" cy="1003294"/>
              <a:chOff x="3295650" y="1857364"/>
              <a:chExt cx="1855759" cy="1855756"/>
            </a:xfrm>
            <a:effectLst/>
          </p:grpSpPr>
          <p:sp>
            <p:nvSpPr>
              <p:cNvPr id="35" name="타원 34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6" name="타원 35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56000"/>
                    </a:schemeClr>
                  </a:gs>
                  <a:gs pos="41000">
                    <a:schemeClr val="accent1">
                      <a:lumMod val="75000"/>
                      <a:alpha val="0"/>
                    </a:schemeClr>
                  </a:gs>
                </a:gsLst>
                <a:lin ang="5400000" scaled="0"/>
              </a:gra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37" name="TextBox 36"/>
          <p:cNvSpPr txBox="1"/>
          <p:nvPr/>
        </p:nvSpPr>
        <p:spPr>
          <a:xfrm>
            <a:off x="1680210" y="2707005"/>
            <a:ext cx="792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rPr>
              <a:t>해결책</a:t>
            </a:r>
            <a:endParaRPr lang="ko-KR" altLang="en-US" sz="1500" b="1">
              <a:solidFill>
                <a:schemeClr val="accent1">
                  <a:lumMod val="20000"/>
                  <a:lumOff val="80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9" name="그룹 35"/>
          <p:cNvGrpSpPr/>
          <p:nvPr/>
        </p:nvGrpSpPr>
        <p:grpSpPr>
          <a:xfrm rot="0">
            <a:off x="1678763" y="3595857"/>
            <a:ext cx="3624281" cy="826223"/>
            <a:chOff x="714350" y="1785926"/>
            <a:chExt cx="4832376" cy="1101631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1379337" y="1785926"/>
              <a:ext cx="4167389" cy="110163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사용자들이 “이건 내가 원하던 금융앱이야!”라고 말함 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r>
                <a:rPr lang="ko-KR" altLang="en-US" sz="1400" b="1">
                  <a:solidFill>
                    <a:srgbClr val="ff0000"/>
                  </a:solidFill>
                  <a:latin typeface="맑은 고딕"/>
                  <a:ea typeface="맑은 고딕"/>
                </a:rPr>
                <a:t>→</a:t>
              </a: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500" b="1">
                  <a:solidFill>
                    <a:srgbClr val="ff0000"/>
                  </a:solidFill>
                  <a:latin typeface="맑은 고딕"/>
                  <a:ea typeface="맑은 고딕"/>
                </a:rPr>
                <a:t>Product Fit 달성</a:t>
              </a:r>
              <a:endParaRPr lang="ko-KR" altLang="en-US" sz="1500" b="1">
                <a:solidFill>
                  <a:srgbClr val="ff0000"/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0" name="그룹 19"/>
            <p:cNvGrpSpPr/>
            <p:nvPr/>
          </p:nvGrpSpPr>
          <p:grpSpPr>
            <a:xfrm rot="0">
              <a:off x="714350" y="1835088"/>
              <a:ext cx="1003296" cy="1003294"/>
              <a:chOff x="3295650" y="1857364"/>
              <a:chExt cx="1855759" cy="1855756"/>
            </a:xfrm>
            <a:effectLst/>
          </p:grpSpPr>
          <p:sp>
            <p:nvSpPr>
              <p:cNvPr id="48" name="타원 47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9" name="타원 48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alpha val="56000"/>
                    </a:schemeClr>
                  </a:gs>
                  <a:gs pos="41000">
                    <a:schemeClr val="accent1">
                      <a:lumMod val="75000"/>
                      <a:alpha val="0"/>
                    </a:schemeClr>
                  </a:gs>
                </a:gsLst>
                <a:lin ang="5400000" scaled="0"/>
              </a:gra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50" name="TextBox 49"/>
          <p:cNvSpPr txBox="1"/>
          <p:nvPr/>
        </p:nvSpPr>
        <p:spPr>
          <a:xfrm>
            <a:off x="1775460" y="3850005"/>
            <a:ext cx="6019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15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rPr>
              <a:t>결과</a:t>
            </a:r>
            <a:endParaRPr lang="ko-KR" altLang="en-US" sz="1500" b="1">
              <a:solidFill>
                <a:schemeClr val="accent1">
                  <a:lumMod val="20000"/>
                  <a:lumOff val="8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56" name="Title 1"/>
          <p:cNvSpPr>
            <a:spLocks noGrp="1"/>
          </p:cNvSpPr>
          <p:nvPr>
            <p:ph type="title" idx="0"/>
          </p:nvPr>
        </p:nvSpPr>
        <p:spPr>
          <a:xfrm>
            <a:off x="323849" y="197626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4-1.</a:t>
            </a:r>
            <a:r>
              <a:rPr lang="ko-KR" altLang="en-US" sz="2800" b="1">
                <a:latin typeface="맑은 고딕"/>
                <a:ea typeface="맑은 고딕"/>
              </a:rPr>
              <a:t> 프로덕트 핏 (Product Fit)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997768" y="3287244"/>
            <a:ext cx="1601133" cy="97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44707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내용 개체 틀 52"/>
          <p:cNvSpPr>
            <a:spLocks noGrp="1"/>
          </p:cNvSpPr>
          <p:nvPr>
            <p:ph sz="quarter" idx="4"/>
          </p:nvPr>
        </p:nvSpPr>
        <p:spPr>
          <a:xfrm>
            <a:off x="5592535" y="1338942"/>
            <a:ext cx="2411600" cy="3134700"/>
          </a:xfrm>
          <a:prstGeom prst="roundRect">
            <a:avLst>
              <a:gd name="adj" fmla="val 11089"/>
            </a:avLst>
          </a:prstGeom>
          <a:solidFill>
            <a:schemeClr val="lt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anchor="t"/>
          <a:lstStyle/>
          <a:p>
            <a:pPr marL="0" lvl="0" indent="0" algn="ctr">
              <a:buNone/>
              <a:defRPr/>
            </a:pPr>
            <a:endParaRPr lang="ko-KR" altLang="en-US" sz="15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500" b="1">
                <a:solidFill>
                  <a:srgbClr val="289b6e"/>
                </a:solidFill>
                <a:latin typeface="맑은 고딕"/>
                <a:ea typeface="맑은 고딕"/>
              </a:rPr>
              <a:t>예시</a:t>
            </a:r>
            <a:r>
              <a:rPr lang="en-US" altLang="ko-KR" sz="1500" b="1">
                <a:solidFill>
                  <a:srgbClr val="289b6e"/>
                </a:solidFill>
                <a:latin typeface="맑은 고딕"/>
                <a:ea typeface="맑은 고딕"/>
              </a:rPr>
              <a:t>2</a:t>
            </a:r>
            <a:r>
              <a:rPr lang="ko-KR" altLang="en-US" sz="1500" b="1">
                <a:solidFill>
                  <a:srgbClr val="289b6e"/>
                </a:solidFill>
                <a:latin typeface="맑은 고딕"/>
                <a:ea typeface="맑은 고딕"/>
              </a:rPr>
              <a:t> 뱅크샐러드</a:t>
            </a:r>
            <a:endParaRPr lang="ko-KR" altLang="en-US" sz="1500" b="1">
              <a:solidFill>
                <a:srgbClr val="289b6e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5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500" b="1">
                <a:solidFill>
                  <a:srgbClr val="000000"/>
                </a:solidFill>
                <a:latin typeface="맑은 고딕"/>
                <a:ea typeface="맑은 고딕"/>
              </a:rPr>
              <a:t>우리 핀테크 서비스가 사용자의 문제를 </a:t>
            </a:r>
            <a:endParaRPr lang="ko-KR" altLang="en-US" sz="15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500" b="1">
                <a:solidFill>
                  <a:srgbClr val="000000"/>
                </a:solidFill>
                <a:latin typeface="맑은 고딕"/>
                <a:ea typeface="맑은 고딕"/>
              </a:rPr>
              <a:t>정확히 해결하고 있는가?</a:t>
            </a:r>
            <a:endParaRPr lang="ko-KR" altLang="en-US" sz="15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 sz="1500" b="1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  <p:grpSp>
        <p:nvGrpSpPr>
          <p:cNvPr id="2" name="그룹 35"/>
          <p:cNvGrpSpPr/>
          <p:nvPr/>
        </p:nvGrpSpPr>
        <p:grpSpPr>
          <a:xfrm rot="0">
            <a:off x="1678763" y="1338942"/>
            <a:ext cx="3624281" cy="826223"/>
            <a:chOff x="714350" y="1785926"/>
            <a:chExt cx="4832376" cy="1101631"/>
          </a:xfrm>
        </p:grpSpPr>
        <p:sp>
          <p:nvSpPr>
            <p:cNvPr id="4" name="모서리가 둥근 직사각형 3"/>
            <p:cNvSpPr/>
            <p:nvPr/>
          </p:nvSpPr>
          <p:spPr>
            <a:xfrm>
              <a:off x="1379337" y="1785926"/>
              <a:ext cx="4167389" cy="1101631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자신의 소비 내역을 통합적으로 관리할 수 없음</a:t>
              </a:r>
              <a:endParaRPr lang="ko-KR" altLang="en-US" sz="1500">
                <a:solidFill>
                  <a:srgbClr val="000000"/>
                </a:solidFill>
              </a:endParaRPr>
            </a:p>
            <a:p>
              <a:pPr lvl="0">
                <a:defRPr/>
              </a:pPr>
              <a:endParaRPr lang="ko-KR" altLang="en-US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3" name="그룹 19"/>
            <p:cNvGrpSpPr/>
            <p:nvPr/>
          </p:nvGrpSpPr>
          <p:grpSpPr>
            <a:xfrm rot="0">
              <a:off x="714350" y="1835094"/>
              <a:ext cx="1003296" cy="1003294"/>
              <a:chOff x="3295650" y="1857364"/>
              <a:chExt cx="1855759" cy="1855756"/>
            </a:xfrm>
            <a:effectLst/>
          </p:grpSpPr>
          <p:sp>
            <p:nvSpPr>
              <p:cNvPr id="6" name="타원 5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" name="타원 6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solidFill>
                <a:schemeClr val="accent2"/>
              </a:solidFill>
              <a:ln w="889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26" name="이등변 삼각형 25"/>
          <p:cNvSpPr/>
          <p:nvPr/>
        </p:nvSpPr>
        <p:spPr>
          <a:xfrm rot="10800000">
            <a:off x="3513180" y="2210899"/>
            <a:ext cx="242391" cy="208957"/>
          </a:xfrm>
          <a:prstGeom prst="triangle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이등변 삼각형 26"/>
          <p:cNvSpPr/>
          <p:nvPr/>
        </p:nvSpPr>
        <p:spPr>
          <a:xfrm rot="10800000">
            <a:off x="3513180" y="3355780"/>
            <a:ext cx="242391" cy="208957"/>
          </a:xfrm>
          <a:prstGeom prst="triangle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TextBox 27"/>
          <p:cNvSpPr txBox="1"/>
          <p:nvPr/>
        </p:nvSpPr>
        <p:spPr>
          <a:xfrm>
            <a:off x="1765935" y="1592580"/>
            <a:ext cx="6019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1500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rPr>
              <a:t>문제</a:t>
            </a:r>
            <a:endParaRPr lang="ko-KR" altLang="en-US" sz="1500">
              <a:solidFill>
                <a:schemeClr val="accent1">
                  <a:lumMod val="20000"/>
                  <a:lumOff val="80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5" name="그룹 35"/>
          <p:cNvGrpSpPr/>
          <p:nvPr/>
        </p:nvGrpSpPr>
        <p:grpSpPr>
          <a:xfrm rot="0">
            <a:off x="1678761" y="2461021"/>
            <a:ext cx="3624282" cy="826223"/>
            <a:chOff x="714349" y="1785926"/>
            <a:chExt cx="4832377" cy="1101631"/>
          </a:xfrm>
          <a:solidFill>
            <a:schemeClr val="accent4"/>
          </a:solidFill>
        </p:grpSpPr>
        <p:sp>
          <p:nvSpPr>
            <p:cNvPr id="33" name="모서리가 둥근 직사각형 32"/>
            <p:cNvSpPr/>
            <p:nvPr/>
          </p:nvSpPr>
          <p:spPr>
            <a:xfrm>
              <a:off x="1379337" y="1785926"/>
              <a:ext cx="4167389" cy="1101631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모든 은행/카드/보험 데이터를 통합 조회하고 분석해줌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8" name="그룹 19"/>
            <p:cNvGrpSpPr/>
            <p:nvPr/>
          </p:nvGrpSpPr>
          <p:grpSpPr>
            <a:xfrm rot="0">
              <a:off x="714349" y="1835093"/>
              <a:ext cx="1003296" cy="1003294"/>
              <a:chOff x="3295650" y="1857364"/>
              <a:chExt cx="1855759" cy="1855756"/>
            </a:xfrm>
            <a:grpFill/>
            <a:effectLst/>
          </p:grpSpPr>
          <p:sp>
            <p:nvSpPr>
              <p:cNvPr id="35" name="타원 34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grpFill/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6" name="타원 35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solidFill>
                <a:schemeClr val="accent2"/>
              </a:solidFill>
              <a:ln w="889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37" name="TextBox 36"/>
          <p:cNvSpPr txBox="1"/>
          <p:nvPr/>
        </p:nvSpPr>
        <p:spPr>
          <a:xfrm>
            <a:off x="1680210" y="2707005"/>
            <a:ext cx="792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1500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rPr>
              <a:t>해결책</a:t>
            </a:r>
            <a:endParaRPr lang="ko-KR" altLang="en-US" sz="1500">
              <a:solidFill>
                <a:schemeClr val="accent1">
                  <a:lumMod val="20000"/>
                  <a:lumOff val="80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9" name="그룹 35"/>
          <p:cNvGrpSpPr/>
          <p:nvPr/>
        </p:nvGrpSpPr>
        <p:grpSpPr>
          <a:xfrm rot="0">
            <a:off x="1678763" y="3595857"/>
            <a:ext cx="3624281" cy="826223"/>
            <a:chOff x="714350" y="1785926"/>
            <a:chExt cx="4832376" cy="1101631"/>
          </a:xfrm>
        </p:grpSpPr>
        <p:sp>
          <p:nvSpPr>
            <p:cNvPr id="41" name="모서리가 둥근 직사각형 40"/>
            <p:cNvSpPr/>
            <p:nvPr/>
          </p:nvSpPr>
          <p:spPr>
            <a:xfrm>
              <a:off x="1379337" y="1785926"/>
              <a:ext cx="4167389" cy="1101631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복잡한 금융 정보 정리에 어려움을 겪던 사용자들의 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니즈 해결</a:t>
              </a:r>
              <a:r>
                <a:rPr lang="ko-KR" altLang="en-US" sz="1500">
                  <a:solidFill>
                    <a:srgbClr val="000000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500" b="1">
                  <a:solidFill>
                    <a:srgbClr val="ff0000"/>
                  </a:solidFill>
                  <a:latin typeface="맑은 고딕"/>
                  <a:ea typeface="맑은 고딕"/>
                </a:rPr>
                <a:t>→ Product Fit 달성</a:t>
              </a:r>
              <a:endParaRPr lang="ko-KR" altLang="en-US" sz="1500">
                <a:solidFill>
                  <a:srgbClr val="ff0000"/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0" name="그룹 19"/>
            <p:cNvGrpSpPr/>
            <p:nvPr/>
          </p:nvGrpSpPr>
          <p:grpSpPr>
            <a:xfrm rot="0">
              <a:off x="714350" y="1835088"/>
              <a:ext cx="1003296" cy="1003294"/>
              <a:chOff x="3295650" y="1857364"/>
              <a:chExt cx="1855759" cy="1855756"/>
            </a:xfrm>
            <a:effectLst/>
          </p:grpSpPr>
          <p:sp>
            <p:nvSpPr>
              <p:cNvPr id="48" name="타원 47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9" name="타원 48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solidFill>
                <a:schemeClr val="accent2"/>
              </a:solidFill>
              <a:ln w="889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50" name="TextBox 49"/>
          <p:cNvSpPr txBox="1"/>
          <p:nvPr/>
        </p:nvSpPr>
        <p:spPr>
          <a:xfrm>
            <a:off x="1775460" y="3850005"/>
            <a:ext cx="6019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1500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rPr>
              <a:t>결과</a:t>
            </a:r>
            <a:endParaRPr lang="ko-KR" altLang="en-US" sz="1500">
              <a:solidFill>
                <a:schemeClr val="accent1">
                  <a:lumMod val="20000"/>
                  <a:lumOff val="8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56" name="Title 1"/>
          <p:cNvSpPr>
            <a:spLocks noGrp="1"/>
          </p:cNvSpPr>
          <p:nvPr>
            <p:ph type="title" idx="0"/>
          </p:nvPr>
        </p:nvSpPr>
        <p:spPr>
          <a:xfrm>
            <a:off x="323849" y="197626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4-1.</a:t>
            </a:r>
            <a:r>
              <a:rPr lang="ko-KR" altLang="en-US" sz="2800" b="1">
                <a:latin typeface="맑은 고딕"/>
                <a:ea typeface="맑은 고딕"/>
              </a:rPr>
              <a:t> 프로덕트 핏 (Product Fit)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pic>
        <p:nvPicPr>
          <p:cNvPr id="62" name="그림 6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26143" y="3287244"/>
            <a:ext cx="944383" cy="94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71436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95274" y="140476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4-2.</a:t>
            </a:r>
            <a:r>
              <a:rPr lang="ko-KR" altLang="en-US" sz="2800" b="1">
                <a:latin typeface="맑은 고딕"/>
                <a:ea typeface="맑은 고딕"/>
              </a:rPr>
              <a:t> 마켓 핏 (Market Fit)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grpSp>
        <p:nvGrpSpPr>
          <p:cNvPr id="27" name=""/>
          <p:cNvGrpSpPr/>
          <p:nvPr/>
        </p:nvGrpSpPr>
        <p:grpSpPr>
          <a:xfrm rot="0">
            <a:off x="1360167" y="1904512"/>
            <a:ext cx="2436112" cy="2960856"/>
            <a:chOff x="1360167" y="1904512"/>
            <a:chExt cx="2436112" cy="2960856"/>
          </a:xfrm>
        </p:grpSpPr>
        <p:sp>
          <p:nvSpPr>
            <p:cNvPr id="5" name="갈매기형 수장 4"/>
            <p:cNvSpPr/>
            <p:nvPr/>
          </p:nvSpPr>
          <p:spPr>
            <a:xfrm>
              <a:off x="1368079" y="2426967"/>
              <a:ext cx="2428200" cy="2438401"/>
            </a:xfrm>
            <a:prstGeom prst="chevron">
              <a:avLst>
                <a:gd name="adj" fmla="val 24906"/>
              </a:avLst>
            </a:prstGeom>
            <a:solidFill>
              <a:srgbClr val="ecd174"/>
            </a:solidFill>
            <a:ln>
              <a:solidFill>
                <a:schemeClr val="l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600">
                  <a:latin typeface="맑은 고딕"/>
                  <a:ea typeface="맑은 고딕"/>
                </a:rPr>
                <a:t>온라인</a:t>
              </a:r>
              <a:endParaRPr lang="ko-KR" altLang="en-US" sz="1600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600">
                  <a:latin typeface="맑은 고딕"/>
                  <a:ea typeface="맑은 고딕"/>
                </a:rPr>
                <a:t>결제나 송금과정이 복잡하고 신뢰도가 낮음</a:t>
              </a:r>
              <a:endParaRPr lang="ko-KR" altLang="en-US" sz="1600"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>
                <a:solidFill>
                  <a:srgbClr val="c1c0c0">
                    <a:lumMod val="20000"/>
                    <a:lumOff val="80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1" name="그룹 52"/>
            <p:cNvGrpSpPr/>
            <p:nvPr/>
          </p:nvGrpSpPr>
          <p:grpSpPr>
            <a:xfrm rot="0">
              <a:off x="1360167" y="1904512"/>
              <a:ext cx="797262" cy="797260"/>
              <a:chOff x="3295651" y="1857364"/>
              <a:chExt cx="1855760" cy="1855756"/>
            </a:xfrm>
            <a:solidFill>
              <a:srgbClr val="ecd174"/>
            </a:solidFill>
          </p:grpSpPr>
          <p:sp>
            <p:nvSpPr>
              <p:cNvPr id="12" name="타원 55"/>
              <p:cNvSpPr/>
              <p:nvPr/>
            </p:nvSpPr>
            <p:spPr>
              <a:xfrm>
                <a:off x="3295651" y="1857364"/>
                <a:ext cx="1855760" cy="1855756"/>
              </a:xfrm>
              <a:prstGeom prst="ellipse">
                <a:avLst/>
              </a:prstGeom>
              <a:grpFill/>
              <a:ln w="38100">
                <a:solidFill>
                  <a:srgbClr val="ecd17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" name="타원 56"/>
              <p:cNvSpPr/>
              <p:nvPr/>
            </p:nvSpPr>
            <p:spPr>
              <a:xfrm>
                <a:off x="3409952" y="1879600"/>
                <a:ext cx="1633488" cy="1633484"/>
              </a:xfrm>
              <a:prstGeom prst="ellipse">
                <a:avLst/>
              </a:prstGeom>
              <a:grpFill/>
              <a:ln w="88900">
                <a:solidFill>
                  <a:srgbClr val="ecd17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grpSp>
        <p:nvGrpSpPr>
          <p:cNvPr id="28" name=""/>
          <p:cNvGrpSpPr/>
          <p:nvPr/>
        </p:nvGrpSpPr>
        <p:grpSpPr>
          <a:xfrm rot="0">
            <a:off x="3229879" y="1864024"/>
            <a:ext cx="2743039" cy="3001344"/>
            <a:chOff x="3229879" y="1864024"/>
            <a:chExt cx="2743039" cy="3001344"/>
          </a:xfrm>
        </p:grpSpPr>
        <p:sp>
          <p:nvSpPr>
            <p:cNvPr id="6" name="갈매기형 수장 5"/>
            <p:cNvSpPr/>
            <p:nvPr/>
          </p:nvSpPr>
          <p:spPr>
            <a:xfrm>
              <a:off x="3239404" y="2426967"/>
              <a:ext cx="2733514" cy="2438401"/>
            </a:xfrm>
            <a:prstGeom prst="chevron">
              <a:avLst>
                <a:gd name="adj" fmla="val 24906"/>
              </a:avLst>
            </a:prstGeom>
            <a:solidFill>
              <a:schemeClr val="dk1"/>
            </a:solidFill>
            <a:ln>
              <a:solidFill>
                <a:schemeClr val="l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600">
                  <a:latin typeface="맑은 고딕"/>
                  <a:ea typeface="맑은 고딕"/>
                </a:rPr>
                <a:t>카카오톡 기반 간편결제,송금, 인증까지 원스톱</a:t>
              </a:r>
              <a:endParaRPr lang="ko-KR" altLang="en-US" sz="1600"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 sz="1600">
                <a:solidFill>
                  <a:srgbClr val="c1c0c0">
                    <a:lumMod val="20000"/>
                    <a:lumOff val="80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4" name="그룹 57"/>
            <p:cNvGrpSpPr/>
            <p:nvPr/>
          </p:nvGrpSpPr>
          <p:grpSpPr>
            <a:xfrm rot="0">
              <a:off x="3229879" y="1864024"/>
              <a:ext cx="797262" cy="797260"/>
              <a:chOff x="3295651" y="1857364"/>
              <a:chExt cx="1855760" cy="1855756"/>
            </a:xfrm>
            <a:solidFill>
              <a:schemeClr val="dk1"/>
            </a:solidFill>
          </p:grpSpPr>
          <p:sp>
            <p:nvSpPr>
              <p:cNvPr id="15" name="타원 58"/>
              <p:cNvSpPr/>
              <p:nvPr/>
            </p:nvSpPr>
            <p:spPr>
              <a:xfrm>
                <a:off x="3295651" y="1857364"/>
                <a:ext cx="1855760" cy="1855756"/>
              </a:xfrm>
              <a:prstGeom prst="ellipse">
                <a:avLst/>
              </a:prstGeom>
              <a:grpFill/>
              <a:ln w="38100">
                <a:solidFill>
                  <a:schemeClr val="dk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" name="타원 59"/>
              <p:cNvSpPr/>
              <p:nvPr/>
            </p:nvSpPr>
            <p:spPr>
              <a:xfrm>
                <a:off x="3409952" y="1879600"/>
                <a:ext cx="1633488" cy="1633484"/>
              </a:xfrm>
              <a:prstGeom prst="ellipse">
                <a:avLst/>
              </a:prstGeom>
              <a:grpFill/>
              <a:ln w="88900">
                <a:solidFill>
                  <a:schemeClr val="dk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grpSp>
        <p:nvGrpSpPr>
          <p:cNvPr id="29" name=""/>
          <p:cNvGrpSpPr/>
          <p:nvPr/>
        </p:nvGrpSpPr>
        <p:grpSpPr>
          <a:xfrm rot="0">
            <a:off x="5235490" y="2106930"/>
            <a:ext cx="3711697" cy="2758438"/>
            <a:chOff x="5235490" y="2106930"/>
            <a:chExt cx="3711697" cy="2758438"/>
          </a:xfrm>
        </p:grpSpPr>
        <p:sp>
          <p:nvSpPr>
            <p:cNvPr id="7" name="갈매기형 수장 6"/>
            <p:cNvSpPr/>
            <p:nvPr/>
          </p:nvSpPr>
          <p:spPr>
            <a:xfrm>
              <a:off x="5410972" y="2426967"/>
              <a:ext cx="3536215" cy="2438401"/>
            </a:xfrm>
            <a:prstGeom prst="chevron">
              <a:avLst>
                <a:gd name="adj" fmla="val 24906"/>
              </a:avLst>
            </a:prstGeom>
            <a:solidFill>
              <a:srgbClr val="c49dd6"/>
            </a:solidFill>
            <a:ln>
              <a:solidFill>
                <a:schemeClr val="l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1600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600">
                  <a:latin typeface="맑은 고딕"/>
                  <a:ea typeface="맑은 고딕"/>
                </a:rPr>
                <a:t>오프라인 결제 수수료, 투자/보험 상품 연계 등 </a:t>
              </a:r>
              <a:endParaRPr lang="ko-KR" altLang="en-US" sz="1600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600">
                  <a:latin typeface="맑은 고딕"/>
                  <a:ea typeface="맑은 고딕"/>
                </a:rPr>
                <a:t>지불 의사 있는 </a:t>
              </a:r>
              <a:endParaRPr lang="ko-KR" altLang="en-US" sz="1600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600">
                  <a:latin typeface="맑은 고딕"/>
                  <a:ea typeface="맑은 고딕"/>
                </a:rPr>
                <a:t>사용자 확보</a:t>
              </a:r>
              <a:r>
                <a:rPr lang="ko-KR" altLang="en-US">
                  <a:latin typeface="맑은 고딕"/>
                  <a:ea typeface="맑은 고딕"/>
                </a:rPr>
                <a:t> </a:t>
              </a:r>
              <a:endParaRPr lang="ko-KR" altLang="en-US">
                <a:latin typeface="맑은 고딕"/>
                <a:ea typeface="맑은 고딕"/>
              </a:endParaRPr>
            </a:p>
            <a:p>
              <a:pPr lvl="0">
                <a:defRPr/>
              </a:pPr>
              <a:r>
                <a:rPr lang="ko-KR" altLang="en-US" b="1">
                  <a:solidFill>
                    <a:srgbClr val="ff0000"/>
                  </a:solidFill>
                  <a:latin typeface="맑은 고딕"/>
                  <a:ea typeface="맑은 고딕"/>
                </a:rPr>
                <a:t>→ Market Fit 달성</a:t>
              </a:r>
              <a:endParaRPr lang="ko-KR" altLang="en-US" b="1">
                <a:solidFill>
                  <a:srgbClr val="ff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>
                <a:solidFill>
                  <a:srgbClr val="63a6a4">
                    <a:lumMod val="20000"/>
                    <a:lumOff val="80000"/>
                  </a:srgb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0" name="TextBox 63"/>
            <p:cNvSpPr txBox="1"/>
            <p:nvPr/>
          </p:nvSpPr>
          <p:spPr>
            <a:xfrm>
              <a:off x="5235490" y="2106930"/>
              <a:ext cx="2590250" cy="367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lvl="0" indent="0" algn="ctr">
                <a:buFont typeface="Wingdings"/>
                <a:buNone/>
                <a:defRPr/>
              </a:pPr>
              <a:endParaRPr lang="ko-KR" altLang="en-US" b="1">
                <a:solidFill>
                  <a:srgbClr val="ff000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1" name="TextBox 64"/>
          <p:cNvSpPr txBox="1"/>
          <p:nvPr/>
        </p:nvSpPr>
        <p:spPr>
          <a:xfrm>
            <a:off x="3280410" y="2125980"/>
            <a:ext cx="754380" cy="3009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1400" b="1">
                <a:solidFill>
                  <a:srgbClr val="000000"/>
                </a:solidFill>
                <a:latin typeface="맑은 고딕"/>
                <a:ea typeface="맑은 고딕"/>
              </a:rPr>
              <a:t>해결책</a:t>
            </a:r>
            <a:endParaRPr lang="ko-KR" altLang="en-US" sz="14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22" name="TextBox 65"/>
          <p:cNvSpPr txBox="1"/>
          <p:nvPr/>
        </p:nvSpPr>
        <p:spPr>
          <a:xfrm>
            <a:off x="1476664" y="2145030"/>
            <a:ext cx="563880" cy="300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ko-KR" altLang="en-US" sz="1400" b="1">
                <a:solidFill>
                  <a:srgbClr val="000000"/>
                </a:solidFill>
                <a:latin typeface="맑은 고딕"/>
                <a:ea typeface="맑은 고딕"/>
              </a:rPr>
              <a:t>문제</a:t>
            </a:r>
            <a:endParaRPr lang="ko-KR" altLang="en-US" sz="14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24" name="직사각형 23"/>
          <p:cNvSpPr>
            <a:spLocks noGrp="1"/>
          </p:cNvSpPr>
          <p:nvPr>
            <p:ph idx="1"/>
          </p:nvPr>
        </p:nvSpPr>
        <p:spPr>
          <a:xfrm>
            <a:off x="107637" y="981074"/>
            <a:ext cx="8950576" cy="3720704"/>
          </a:xfrm>
        </p:spPr>
        <p:txBody>
          <a:bodyPr/>
          <a:p>
            <a:pPr lvl="0" algn="ctr">
              <a:defRPr/>
            </a:pPr>
            <a:r>
              <a:rPr lang="ko-KR" altLang="en-US" sz="1600" b="1">
                <a:latin typeface="맑은 고딕"/>
                <a:ea typeface="맑은 고딕"/>
              </a:rPr>
              <a:t>핀테크 서비스에 ‘돈을 지불하거나’, 지속적으로 사용할 충분한 사용자 기반이 존재하는가?</a:t>
            </a:r>
            <a:endParaRPr lang="ko-KR" altLang="en-US" sz="1600" b="1">
              <a:latin typeface="맑은 고딕"/>
              <a:ea typeface="맑은 고딕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5393" y="3003640"/>
            <a:ext cx="1212686" cy="1285056"/>
          </a:xfrm>
          <a:prstGeom prst="rect">
            <a:avLst/>
          </a:prstGeom>
        </p:spPr>
      </p:pic>
      <p:sp>
        <p:nvSpPr>
          <p:cNvPr id="26" name="가로 글상자 25"/>
          <p:cNvSpPr txBox="1"/>
          <p:nvPr/>
        </p:nvSpPr>
        <p:spPr>
          <a:xfrm>
            <a:off x="155262" y="2701773"/>
            <a:ext cx="1515115" cy="64281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endParaRPr lang="en-US" altLang="ko-KR" b="1">
              <a:solidFill>
                <a:srgbClr val="ffd700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b="1">
                <a:solidFill>
                  <a:srgbClr val="ffd700"/>
                </a:solidFill>
                <a:latin typeface="맑은 고딕"/>
                <a:ea typeface="맑은 고딕"/>
              </a:rPr>
              <a:t>카카오뱅크</a:t>
            </a:r>
            <a:endParaRPr lang="ko-KR" altLang="en-US" b="1">
              <a:solidFill>
                <a:srgbClr val="ffd7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71980668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40476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4-2.</a:t>
            </a:r>
            <a:r>
              <a:rPr lang="ko-KR" altLang="en-US" sz="2800" b="1">
                <a:latin typeface="맑은 고딕"/>
                <a:ea typeface="맑은 고딕"/>
              </a:rPr>
              <a:t> 마켓 핏 (Market Fit)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grpSp>
        <p:nvGrpSpPr>
          <p:cNvPr id="29" name=""/>
          <p:cNvGrpSpPr/>
          <p:nvPr/>
        </p:nvGrpSpPr>
        <p:grpSpPr>
          <a:xfrm rot="0">
            <a:off x="1239521" y="1904512"/>
            <a:ext cx="2556758" cy="2960856"/>
            <a:chOff x="1239521" y="1904512"/>
            <a:chExt cx="2556758" cy="2960856"/>
          </a:xfrm>
        </p:grpSpPr>
        <p:sp>
          <p:nvSpPr>
            <p:cNvPr id="5" name="갈매기형 수장 4"/>
            <p:cNvSpPr/>
            <p:nvPr/>
          </p:nvSpPr>
          <p:spPr>
            <a:xfrm>
              <a:off x="1239521" y="2426967"/>
              <a:ext cx="2556758" cy="2438401"/>
            </a:xfrm>
            <a:prstGeom prst="chevron">
              <a:avLst>
                <a:gd name="adj" fmla="val 24906"/>
              </a:avLst>
            </a:prstGeom>
            <a:solidFill>
              <a:schemeClr val="dk1"/>
            </a:solidFill>
            <a:ln>
              <a:solidFill>
                <a:schemeClr val="l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600">
                  <a:latin typeface="맑은 고딕"/>
                  <a:ea typeface="맑은 고딕"/>
                </a:rPr>
                <a:t>대출 상품 비교가 어렵고, 이자비용을 줄일 수 있는 정보가 없음</a:t>
              </a:r>
              <a:endParaRPr lang="ko-KR" altLang="en-US" sz="1600">
                <a:latin typeface="맑은 고딕"/>
                <a:ea typeface="맑은 고딕"/>
              </a:endParaRPr>
            </a:p>
          </p:txBody>
        </p:sp>
        <p:grpSp>
          <p:nvGrpSpPr>
            <p:cNvPr id="11" name="그룹 52"/>
            <p:cNvGrpSpPr/>
            <p:nvPr/>
          </p:nvGrpSpPr>
          <p:grpSpPr>
            <a:xfrm rot="0">
              <a:off x="1245867" y="1904512"/>
              <a:ext cx="797262" cy="797260"/>
              <a:chOff x="3295651" y="1857364"/>
              <a:chExt cx="1855760" cy="1855756"/>
            </a:xfrm>
            <a:solidFill>
              <a:schemeClr val="dk1"/>
            </a:solidFill>
          </p:grpSpPr>
          <p:sp>
            <p:nvSpPr>
              <p:cNvPr id="12" name="타원 55"/>
              <p:cNvSpPr/>
              <p:nvPr/>
            </p:nvSpPr>
            <p:spPr>
              <a:xfrm>
                <a:off x="3295651" y="1857364"/>
                <a:ext cx="1855760" cy="1855756"/>
              </a:xfrm>
              <a:prstGeom prst="ellipse">
                <a:avLst/>
              </a:prstGeom>
              <a:grpFill/>
              <a:ln w="38100">
                <a:solidFill>
                  <a:schemeClr val="dk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" name="타원 56"/>
              <p:cNvSpPr/>
              <p:nvPr/>
            </p:nvSpPr>
            <p:spPr>
              <a:xfrm>
                <a:off x="3409952" y="1879600"/>
                <a:ext cx="1633488" cy="1633484"/>
              </a:xfrm>
              <a:prstGeom prst="ellipse">
                <a:avLst/>
              </a:prstGeom>
              <a:grpFill/>
              <a:ln w="88900">
                <a:solidFill>
                  <a:schemeClr val="dk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grpSp>
        <p:nvGrpSpPr>
          <p:cNvPr id="30" name=""/>
          <p:cNvGrpSpPr/>
          <p:nvPr/>
        </p:nvGrpSpPr>
        <p:grpSpPr>
          <a:xfrm rot="0">
            <a:off x="3210829" y="1864024"/>
            <a:ext cx="2762089" cy="3001344"/>
            <a:chOff x="3210829" y="1864024"/>
            <a:chExt cx="2762089" cy="3001344"/>
          </a:xfrm>
        </p:grpSpPr>
        <p:sp>
          <p:nvSpPr>
            <p:cNvPr id="6" name="갈매기형 수장 5"/>
            <p:cNvSpPr/>
            <p:nvPr/>
          </p:nvSpPr>
          <p:spPr>
            <a:xfrm>
              <a:off x="3239404" y="2426967"/>
              <a:ext cx="2733514" cy="2438401"/>
            </a:xfrm>
            <a:prstGeom prst="chevron">
              <a:avLst>
                <a:gd name="adj" fmla="val 24906"/>
              </a:avLst>
            </a:prstGeom>
            <a:solidFill>
              <a:schemeClr val="accent1"/>
            </a:solidFill>
            <a:ln>
              <a:solidFill>
                <a:schemeClr val="l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ko-KR" altLang="en-US" sz="1600">
                  <a:latin typeface="맑은 고딕"/>
                  <a:ea typeface="맑은 고딕"/>
                </a:rPr>
                <a:t>대출 상품 비교 추천 및 자동 상환 계획 제시</a:t>
              </a:r>
              <a:endParaRPr lang="ko-KR" altLang="en-US" sz="1600"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 sz="1600">
                <a:solidFill>
                  <a:srgbClr val="c1c0c0">
                    <a:lumMod val="20000"/>
                    <a:lumOff val="80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4" name="그룹 57"/>
            <p:cNvGrpSpPr/>
            <p:nvPr/>
          </p:nvGrpSpPr>
          <p:grpSpPr>
            <a:xfrm rot="0">
              <a:off x="3210829" y="1864024"/>
              <a:ext cx="797262" cy="797260"/>
              <a:chOff x="3295651" y="1857364"/>
              <a:chExt cx="1855760" cy="1855756"/>
            </a:xfrm>
            <a:solidFill>
              <a:schemeClr val="accent1"/>
            </a:solidFill>
          </p:grpSpPr>
          <p:sp>
            <p:nvSpPr>
              <p:cNvPr id="15" name="타원 58"/>
              <p:cNvSpPr/>
              <p:nvPr/>
            </p:nvSpPr>
            <p:spPr>
              <a:xfrm>
                <a:off x="3295651" y="1857364"/>
                <a:ext cx="1855760" cy="1855756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" name="타원 59"/>
              <p:cNvSpPr/>
              <p:nvPr/>
            </p:nvSpPr>
            <p:spPr>
              <a:xfrm>
                <a:off x="3409952" y="1879600"/>
                <a:ext cx="1633488" cy="1633484"/>
              </a:xfrm>
              <a:prstGeom prst="ellipse">
                <a:avLst/>
              </a:prstGeom>
              <a:grpFill/>
              <a:ln w="889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grpSp>
        <p:nvGrpSpPr>
          <p:cNvPr id="31" name=""/>
          <p:cNvGrpSpPr/>
          <p:nvPr/>
        </p:nvGrpSpPr>
        <p:grpSpPr>
          <a:xfrm rot="0">
            <a:off x="5235490" y="2106930"/>
            <a:ext cx="3678920" cy="2758438"/>
            <a:chOff x="5235490" y="2106930"/>
            <a:chExt cx="3678920" cy="2758438"/>
          </a:xfrm>
        </p:grpSpPr>
        <p:sp>
          <p:nvSpPr>
            <p:cNvPr id="7" name="갈매기형 수장 6"/>
            <p:cNvSpPr/>
            <p:nvPr/>
          </p:nvSpPr>
          <p:spPr>
            <a:xfrm>
              <a:off x="5410972" y="2426967"/>
              <a:ext cx="3503438" cy="2438401"/>
            </a:xfrm>
            <a:prstGeom prst="chevron">
              <a:avLst>
                <a:gd name="adj" fmla="val 24906"/>
              </a:avLst>
            </a:prstGeom>
            <a:solidFill>
              <a:schemeClr val="accent3"/>
            </a:solidFill>
            <a:ln>
              <a:solidFill>
                <a:schemeClr val="l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ko-KR" altLang="en-US" sz="1600">
                  <a:latin typeface="맑은 고딕"/>
                  <a:ea typeface="맑은 고딕"/>
                </a:rPr>
                <a:t>사용자 유입 후 </a:t>
              </a:r>
              <a:endParaRPr lang="ko-KR" altLang="en-US" sz="1600">
                <a:latin typeface="맑은 고딕"/>
                <a:ea typeface="맑은 고딕"/>
              </a:endParaRPr>
            </a:p>
            <a:p>
              <a:pPr lvl="0">
                <a:defRPr/>
              </a:pPr>
              <a:r>
                <a:rPr lang="ko-KR" altLang="en-US" sz="1600">
                  <a:latin typeface="맑은 고딕"/>
                  <a:ea typeface="맑은 고딕"/>
                </a:rPr>
                <a:t>제휴 금융기관을 통한 수수료 수익 확보</a:t>
              </a:r>
              <a:endParaRPr lang="ko-KR" altLang="en-US" sz="1600">
                <a:latin typeface="맑은 고딕"/>
                <a:ea typeface="맑은 고딕"/>
              </a:endParaRPr>
            </a:p>
            <a:p>
              <a:pPr lvl="0">
                <a:defRPr/>
              </a:pPr>
              <a:r>
                <a:rPr lang="ko-KR" altLang="en-US" b="1">
                  <a:solidFill>
                    <a:srgbClr val="ff0000"/>
                  </a:solidFill>
                  <a:latin typeface="맑은 고딕"/>
                  <a:ea typeface="맑은 고딕"/>
                </a:rPr>
                <a:t>→ Market Fit 검증</a:t>
              </a:r>
              <a:endParaRPr lang="ko-KR" altLang="en-US" b="1">
                <a:solidFill>
                  <a:srgbClr val="ff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 b="1">
                <a:solidFill>
                  <a:srgbClr val="63a6a4">
                    <a:lumMod val="20000"/>
                    <a:lumOff val="80000"/>
                  </a:srgb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0" name="TextBox 63"/>
            <p:cNvSpPr txBox="1"/>
            <p:nvPr/>
          </p:nvSpPr>
          <p:spPr>
            <a:xfrm>
              <a:off x="5235490" y="2106930"/>
              <a:ext cx="2683746" cy="367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lvl="0" indent="0" algn="ctr">
                <a:buFont typeface="Wingdings"/>
                <a:buNone/>
                <a:defRPr/>
              </a:pPr>
              <a:endParaRPr lang="ko-KR" altLang="en-US" b="1">
                <a:solidFill>
                  <a:srgbClr val="ff000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1" name="TextBox 64"/>
          <p:cNvSpPr txBox="1"/>
          <p:nvPr/>
        </p:nvSpPr>
        <p:spPr>
          <a:xfrm>
            <a:off x="3270885" y="2125980"/>
            <a:ext cx="754380" cy="3009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lvl="0" algn="ctr">
              <a:defRPr/>
            </a:pPr>
            <a:r>
              <a:rPr lang="ko-KR" altLang="en-US" sz="1400" b="1">
                <a:solidFill>
                  <a:schemeClr val="accent3">
                    <a:lumMod val="20000"/>
                    <a:lumOff val="80000"/>
                  </a:schemeClr>
                </a:solidFill>
                <a:latin typeface="맑은 고딕"/>
                <a:ea typeface="맑은 고딕"/>
              </a:rPr>
              <a:t>해결책</a:t>
            </a:r>
            <a:endParaRPr lang="ko-KR" altLang="en-US" sz="1400" b="1">
              <a:solidFill>
                <a:schemeClr val="accent3">
                  <a:lumMod val="20000"/>
                  <a:lumOff val="8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2" name="TextBox 65"/>
          <p:cNvSpPr txBox="1"/>
          <p:nvPr/>
        </p:nvSpPr>
        <p:spPr>
          <a:xfrm>
            <a:off x="1352839" y="2145030"/>
            <a:ext cx="563880" cy="300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ko-KR" altLang="en-US" sz="1400" b="1">
                <a:solidFill>
                  <a:schemeClr val="accent3">
                    <a:lumMod val="20000"/>
                    <a:lumOff val="80000"/>
                  </a:schemeClr>
                </a:solidFill>
                <a:latin typeface="맑은 고딕"/>
                <a:ea typeface="맑은 고딕"/>
              </a:rPr>
              <a:t>문제</a:t>
            </a:r>
            <a:endParaRPr lang="ko-KR" altLang="en-US" sz="1400" b="1">
              <a:solidFill>
                <a:schemeClr val="accent3">
                  <a:lumMod val="20000"/>
                  <a:lumOff val="8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4" name="직사각형 23"/>
          <p:cNvSpPr>
            <a:spLocks noGrp="1"/>
          </p:cNvSpPr>
          <p:nvPr>
            <p:ph idx="1"/>
          </p:nvPr>
        </p:nvSpPr>
        <p:spPr>
          <a:xfrm>
            <a:off x="107637" y="981074"/>
            <a:ext cx="8950576" cy="3720704"/>
          </a:xfrm>
        </p:spPr>
        <p:txBody>
          <a:bodyPr/>
          <a:p>
            <a:pPr lvl="0">
              <a:defRPr/>
            </a:pPr>
            <a:r>
              <a:rPr lang="ko-KR" altLang="en-US" sz="1500" b="1">
                <a:latin typeface="맑은 고딕"/>
                <a:ea typeface="맑은 고딕"/>
              </a:rPr>
              <a:t>핀테크 서비스에 ‘돈을 지불하거나’, 지속적으로 사용할 충분한 사용자 기반이 존재하는가?</a:t>
            </a:r>
            <a:endParaRPr lang="ko-KR" altLang="en-US" sz="1500" b="1">
              <a:latin typeface="맑은 고딕"/>
              <a:ea typeface="맑은 고딕"/>
            </a:endParaRPr>
          </a:p>
        </p:txBody>
      </p:sp>
      <p:sp>
        <p:nvSpPr>
          <p:cNvPr id="26" name="가로 글상자 25"/>
          <p:cNvSpPr txBox="1"/>
          <p:nvPr/>
        </p:nvSpPr>
        <p:spPr>
          <a:xfrm>
            <a:off x="40962" y="2701773"/>
            <a:ext cx="1515115" cy="64281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endParaRPr lang="en-US" altLang="ko-KR" b="1">
              <a:solidFill>
                <a:srgbClr val="ffd7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ko-KR" altLang="en-US" b="1">
                <a:solidFill>
                  <a:srgbClr val="3a3c84"/>
                </a:solidFill>
                <a:latin typeface="맑은 고딕"/>
                <a:ea typeface="맑은 고딕"/>
              </a:rPr>
              <a:t>핀다</a:t>
            </a:r>
            <a:endParaRPr lang="ko-KR" altLang="en-US" b="1">
              <a:solidFill>
                <a:srgbClr val="3a3c84"/>
              </a:solidFill>
              <a:latin typeface="맑은 고딕"/>
              <a:ea typeface="맑은 고딕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6885" y="3344591"/>
            <a:ext cx="1171193" cy="117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48179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33375" y="221409"/>
            <a:ext cx="8477249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4-3.</a:t>
            </a:r>
            <a:r>
              <a:rPr lang="ko-KR" altLang="en-US" sz="2800" b="1">
                <a:latin typeface="맑은 고딕"/>
                <a:ea typeface="맑은 고딕"/>
              </a:rPr>
              <a:t> 실패 이유: 시장 부적합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6" name="모서리가 둥근 직사각형 56"/>
          <p:cNvSpPr/>
          <p:nvPr/>
        </p:nvSpPr>
        <p:spPr>
          <a:xfrm>
            <a:off x="333375" y="1440597"/>
            <a:ext cx="1688460" cy="58145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lvl="0" indent="0" algn="ctr">
              <a:buNone/>
              <a:defRPr lang="ko-KR" altLang="en-US"/>
            </a:pP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CB 인사이트</a:t>
            </a:r>
            <a:endParaRPr lang="ko-KR" altLang="en-US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37" name="모서리가 둥근 직사각형 56"/>
          <p:cNvSpPr/>
          <p:nvPr/>
        </p:nvSpPr>
        <p:spPr>
          <a:xfrm>
            <a:off x="2144166" y="1440597"/>
            <a:ext cx="6509395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lvl="0" indent="0">
              <a:buNone/>
              <a:defRPr lang="ko-KR" altLang="en-US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/>
              </a:rPr>
              <a:t> 실패 원인 1위는 </a:t>
            </a:r>
            <a:r>
              <a:rPr lang="ko-KR" altLang="en-US" sz="1600" b="1">
                <a:solidFill>
                  <a:srgbClr val="ff6600"/>
                </a:solidFill>
                <a:latin typeface="맑은 고딕"/>
                <a:ea typeface="맑은 고딕"/>
              </a:rPr>
              <a:t>‘시장 필요 없음’</a:t>
            </a:r>
            <a:endParaRPr lang="ko-KR" altLang="en-US" sz="1600" b="1">
              <a:solidFill>
                <a:srgbClr val="ff6600"/>
              </a:solidFill>
              <a:latin typeface="맑은 고딕"/>
              <a:ea typeface="맑은 고딕"/>
            </a:endParaRPr>
          </a:p>
        </p:txBody>
      </p:sp>
      <p:sp>
        <p:nvSpPr>
          <p:cNvPr id="38" name="모서리가 둥근 직사각형 56"/>
          <p:cNvSpPr/>
          <p:nvPr/>
        </p:nvSpPr>
        <p:spPr>
          <a:xfrm>
            <a:off x="333375" y="2118918"/>
            <a:ext cx="1688460" cy="58145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lvl="0" indent="0" algn="ctr">
              <a:buNone/>
              <a:defRPr lang="ko-KR" altLang="en-US"/>
            </a:pP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Product Fit</a:t>
            </a:r>
            <a:endParaRPr lang="ko-KR" altLang="en-US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39" name="모서리가 둥근 직사각형 56"/>
          <p:cNvSpPr/>
          <p:nvPr/>
        </p:nvSpPr>
        <p:spPr>
          <a:xfrm>
            <a:off x="2144166" y="2118918"/>
            <a:ext cx="6509395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lvl="0" indent="0">
              <a:buNone/>
              <a:defRPr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/>
              </a:rPr>
              <a:t> 문제 해결 여부</a:t>
            </a:r>
            <a:endParaRPr lang="ko-KR" altLang="en-US" sz="16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0" name="모서리가 둥근 직사각형 56"/>
          <p:cNvSpPr/>
          <p:nvPr/>
        </p:nvSpPr>
        <p:spPr>
          <a:xfrm>
            <a:off x="333375" y="2795372"/>
            <a:ext cx="1688460" cy="58145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lvl="0" indent="0" algn="ctr">
              <a:buNone/>
              <a:defRPr lang="ko-KR" altLang="en-US"/>
            </a:pP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Market Fit</a:t>
            </a:r>
            <a:endParaRPr lang="ko-KR" altLang="en-US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41" name="모서리가 둥근 직사각형 56"/>
          <p:cNvSpPr/>
          <p:nvPr/>
        </p:nvSpPr>
        <p:spPr>
          <a:xfrm>
            <a:off x="2144166" y="2795372"/>
            <a:ext cx="6509395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lvl="0" indent="0">
              <a:buNone/>
              <a:defRPr lang="ko-KR" altLang="en-US"/>
            </a:pPr>
            <a:r>
              <a:rPr lang="ko-KR" altLang="en-US" sz="1600">
                <a:solidFill>
                  <a:srgbClr val="000000"/>
                </a:solidFill>
                <a:latin typeface="맑은 고딕"/>
                <a:ea typeface="맑은 고딕"/>
              </a:rPr>
              <a:t> 사용자가 비용 지불할지 여부</a:t>
            </a:r>
            <a:endParaRPr lang="ko-KR" altLang="en-US" sz="16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2" name="모서리가 둥근 직사각형 56"/>
          <p:cNvSpPr/>
          <p:nvPr/>
        </p:nvSpPr>
        <p:spPr>
          <a:xfrm>
            <a:off x="333375" y="3549659"/>
            <a:ext cx="8320187" cy="58145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lvl="0" indent="0">
              <a:buNone/>
              <a:defRPr/>
            </a:pPr>
            <a:r>
              <a:rPr lang="ko-KR" altLang="en-US">
                <a:latin typeface="맑은 고딕"/>
                <a:ea typeface="맑은 고딕"/>
              </a:rPr>
              <a:t>  </a:t>
            </a: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Product Fit</a:t>
            </a:r>
            <a:r>
              <a:rPr lang="ko-KR" altLang="en-US" b="1">
                <a:latin typeface="맑은 고딕"/>
                <a:ea typeface="맑은 고딕"/>
              </a:rPr>
              <a:t>만 있고 </a:t>
            </a:r>
            <a:r>
              <a:rPr lang="ko-KR" altLang="en-US" b="1">
                <a:solidFill>
                  <a:srgbClr val="000000"/>
                </a:solidFill>
                <a:latin typeface="맑은 고딕"/>
                <a:ea typeface="맑은 고딕"/>
              </a:rPr>
              <a:t>Market Fit</a:t>
            </a:r>
            <a:r>
              <a:rPr lang="ko-KR" altLang="en-US" b="1">
                <a:latin typeface="맑은 고딕"/>
                <a:ea typeface="맑은 고딕"/>
              </a:rPr>
              <a:t>이 없는 경우 지속적인 운영 불가능</a:t>
            </a:r>
            <a:endParaRPr lang="ko-KR" altLang="en-US" b="1">
              <a:latin typeface="맑은 고딕"/>
              <a:ea typeface="맑은 고딕"/>
            </a:endParaRPr>
          </a:p>
        </p:txBody>
      </p:sp>
      <p:sp>
        <p:nvSpPr>
          <p:cNvPr id="43" name="모서리가 둥근 직사각형 56"/>
          <p:cNvSpPr/>
          <p:nvPr/>
        </p:nvSpPr>
        <p:spPr>
          <a:xfrm>
            <a:off x="333375" y="4291382"/>
            <a:ext cx="8320187" cy="581454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lvl="0" indent="0">
              <a:buNone/>
              <a:defRPr/>
            </a:pPr>
            <a:r>
              <a:rPr lang="ko-KR" altLang="en-US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ko-KR" altLang="en-US" b="1">
                <a:solidFill>
                  <a:srgbClr val="ff6600"/>
                </a:solidFill>
                <a:latin typeface="맑은 고딕"/>
                <a:ea typeface="맑은 고딕"/>
              </a:rPr>
              <a:t>Market Fit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을 찾기 위해서는 </a:t>
            </a:r>
            <a:r>
              <a:rPr lang="ko-KR" altLang="en-US" b="1">
                <a:solidFill>
                  <a:srgbClr val="ff6600"/>
                </a:solidFill>
                <a:latin typeface="맑은 고딕"/>
                <a:ea typeface="맑은 고딕"/>
              </a:rPr>
              <a:t>사용자에 대한 깊은 이해와 분석</a:t>
            </a:r>
            <a:r>
              <a:rPr lang="ko-KR" altLang="en-US" b="1">
                <a:solidFill>
                  <a:schemeClr val="lt1"/>
                </a:solidFill>
                <a:latin typeface="맑은 고딕"/>
                <a:ea typeface="맑은 고딕"/>
              </a:rPr>
              <a:t>이 필요함</a:t>
            </a:r>
            <a:endParaRPr lang="ko-KR" altLang="en-US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59526"/>
            <a:ext cx="8477249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4-4.</a:t>
            </a:r>
            <a:r>
              <a:rPr lang="ko-KR" altLang="en-US" sz="2800" b="1">
                <a:latin typeface="맑은 고딕"/>
                <a:ea typeface="맑은 고딕"/>
              </a:rPr>
              <a:t> 사용자 니즈 파악법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355062"/>
            <a:ext cx="6958589" cy="3720704"/>
          </a:xfrm>
        </p:spPr>
        <p:txBody>
          <a:bodyPr wrap="square"/>
          <a:lstStyle/>
          <a:p>
            <a:pPr lvl="0">
              <a:buFont typeface="Wingdings"/>
              <a:buChar char="ü"/>
              <a:defRPr/>
            </a:pPr>
            <a:r>
              <a:rPr lang="ko-KR" altLang="en-US" sz="2000">
                <a:latin typeface="맑은 고딕"/>
                <a:ea typeface="맑은 고딕"/>
              </a:rPr>
              <a:t>사용자는 자신의 필요를</a:t>
            </a:r>
            <a:r>
              <a:rPr lang="ko-KR" altLang="en-US" sz="2000">
                <a:solidFill>
                  <a:schemeClr val="dk1"/>
                </a:solidFill>
                <a:latin typeface="맑은 고딕"/>
                <a:ea typeface="맑은 고딕"/>
              </a:rPr>
              <a:t> </a:t>
            </a:r>
            <a:r>
              <a:rPr lang="ko-KR" altLang="en-US" sz="2000" b="1" u="sng">
                <a:solidFill>
                  <a:schemeClr val="dk1"/>
                </a:solidFill>
                <a:latin typeface="맑은 고딕"/>
                <a:ea typeface="맑은 고딕"/>
              </a:rPr>
              <a:t>피상적으로</a:t>
            </a:r>
            <a:r>
              <a:rPr lang="ko-KR" altLang="en-US" sz="2000">
                <a:latin typeface="맑은 고딕"/>
                <a:ea typeface="맑은 고딕"/>
              </a:rPr>
              <a:t> 표현</a:t>
            </a:r>
            <a:endParaRPr lang="ko-KR" altLang="en-US" sz="2000">
              <a:latin typeface="맑은 고딕"/>
              <a:ea typeface="맑은 고딕"/>
            </a:endParaRPr>
          </a:p>
          <a:p>
            <a:pPr lvl="0">
              <a:buFont typeface="Wingdings"/>
              <a:buChar char="ü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lvl="0">
              <a:buFont typeface="Wingdings"/>
              <a:buChar char="ü"/>
              <a:defRPr/>
            </a:pPr>
            <a:r>
              <a:rPr lang="ko-KR" altLang="en-US" sz="2000">
                <a:latin typeface="맑은 고딕"/>
                <a:ea typeface="맑은 고딕"/>
              </a:rPr>
              <a:t>헨리 포드: '만약 사람들에게 무엇을 원하느냐고 물었다면 그들은 더 빠른 말을 원한다고 했을 것'</a:t>
            </a:r>
            <a:endParaRPr lang="ko-KR" altLang="en-US" sz="2000">
              <a:latin typeface="맑은 고딕"/>
              <a:ea typeface="맑은 고딕"/>
            </a:endParaRPr>
          </a:p>
          <a:p>
            <a:pPr lvl="0">
              <a:buFont typeface="Wingdings"/>
              <a:buChar char="ü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lvl="0">
              <a:buFont typeface="Wingdings"/>
              <a:buChar char="ü"/>
              <a:defRPr/>
            </a:pPr>
            <a:r>
              <a:rPr lang="ko-KR" altLang="en-US" sz="2000">
                <a:latin typeface="맑은 고딕"/>
                <a:ea typeface="맑은 고딕"/>
              </a:rPr>
              <a:t>피상적 표현보다 </a:t>
            </a:r>
            <a:r>
              <a:rPr lang="ko-KR" altLang="en-US" sz="2000" b="1" u="sng">
                <a:solidFill>
                  <a:srgbClr val="ff6600"/>
                </a:solidFill>
                <a:latin typeface="맑은 고딕"/>
                <a:ea typeface="맑은 고딕"/>
              </a:rPr>
              <a:t>행동을 관찰 하는 것</a:t>
            </a:r>
            <a:r>
              <a:rPr lang="ko-KR" altLang="en-US" sz="2000">
                <a:latin typeface="맑은 고딕"/>
                <a:ea typeface="맑은 고딕"/>
              </a:rPr>
              <a:t>에서 인사이트 추출</a:t>
            </a:r>
            <a:endParaRPr lang="ko-KR" altLang="en-US" sz="2000">
              <a:latin typeface="맑은 고딕"/>
              <a:ea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889474" y="2746713"/>
            <a:ext cx="2452346" cy="239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52564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78576"/>
            <a:ext cx="8320186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4-5.</a:t>
            </a:r>
            <a:r>
              <a:rPr lang="ko-KR" altLang="en-US" sz="2800" b="1">
                <a:latin typeface="맑은 고딕"/>
                <a:ea typeface="맑은 고딕"/>
              </a:rPr>
              <a:t> 사용자 관찰의 5가지 요소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4" name="모서리가 둥근 직사각형 56"/>
          <p:cNvSpPr/>
          <p:nvPr/>
        </p:nvSpPr>
        <p:spPr>
          <a:xfrm>
            <a:off x="323849" y="1195924"/>
            <a:ext cx="1688460" cy="58145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 lang="ko-KR" altLang="en-US"/>
            </a:pPr>
            <a:r>
              <a:rPr lang="ko-KR" altLang="en-US" sz="1500" b="1">
                <a:solidFill>
                  <a:schemeClr val="lt1"/>
                </a:solidFill>
                <a:latin typeface="맑은 고딕"/>
                <a:ea typeface="맑은 고딕"/>
              </a:rPr>
              <a:t>맥락(Context)</a:t>
            </a:r>
            <a:endParaRPr lang="ko-KR" altLang="en-US" sz="15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5" name="모서리가 둥근 직사각형 56"/>
          <p:cNvSpPr/>
          <p:nvPr/>
        </p:nvSpPr>
        <p:spPr>
          <a:xfrm>
            <a:off x="2134640" y="1195924"/>
            <a:ext cx="6509395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사용자가 제품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서비스를 사용하는 시간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장소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상황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문화적 환경</a:t>
            </a:r>
            <a:endParaRPr lang="ko-KR" altLang="en-US" sz="15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6" name="모서리가 둥근 직사각형 56"/>
          <p:cNvSpPr/>
          <p:nvPr/>
        </p:nvSpPr>
        <p:spPr>
          <a:xfrm>
            <a:off x="323849" y="1874245"/>
            <a:ext cx="1688460" cy="581454"/>
          </a:xfrm>
          <a:prstGeom prst="roundRect">
            <a:avLst>
              <a:gd name="adj" fmla="val 0"/>
            </a:avLst>
          </a:prstGeom>
          <a:solidFill>
            <a:schemeClr val="dk1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 lang="ko-KR" altLang="en-US"/>
            </a:pPr>
            <a:r>
              <a:rPr lang="ko-KR" altLang="en-US" sz="1500" b="1">
                <a:solidFill>
                  <a:schemeClr val="lt1"/>
                </a:solidFill>
                <a:latin typeface="맑은 고딕"/>
                <a:ea typeface="맑은 고딕"/>
              </a:rPr>
              <a:t>행동(Behavior)</a:t>
            </a:r>
            <a:endParaRPr lang="ko-KR" altLang="en-US" sz="15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7" name="모서리가 둥근 직사각형 56"/>
          <p:cNvSpPr/>
          <p:nvPr/>
        </p:nvSpPr>
        <p:spPr>
          <a:xfrm>
            <a:off x="2134640" y="1874245"/>
            <a:ext cx="6509395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lvl="0"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사용자가 제품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서비스와 상호 작용하는 방식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8" name="모서리가 둥근 직사각형 56"/>
          <p:cNvSpPr/>
          <p:nvPr/>
        </p:nvSpPr>
        <p:spPr>
          <a:xfrm>
            <a:off x="323849" y="2550699"/>
            <a:ext cx="1688460" cy="581454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 lang="ko-KR" altLang="en-US"/>
            </a:pPr>
            <a:r>
              <a:rPr lang="ko-KR" altLang="en-US" sz="1500" b="1">
                <a:solidFill>
                  <a:schemeClr val="lt1"/>
                </a:solidFill>
                <a:latin typeface="맑은 고딕"/>
                <a:ea typeface="맑은 고딕"/>
              </a:rPr>
              <a:t>니즈(Needs)</a:t>
            </a:r>
            <a:endParaRPr lang="ko-KR" altLang="en-US" sz="15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9" name="모서리가 둥근 직사각형 56"/>
          <p:cNvSpPr/>
          <p:nvPr/>
        </p:nvSpPr>
        <p:spPr>
          <a:xfrm>
            <a:off x="2134640" y="2550699"/>
            <a:ext cx="6509395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사용자의 내적 욕구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0" name="모서리가 둥근 직사각형 56"/>
          <p:cNvSpPr/>
          <p:nvPr/>
        </p:nvSpPr>
        <p:spPr>
          <a:xfrm>
            <a:off x="323850" y="3247948"/>
            <a:ext cx="1688460" cy="581454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 lang="ko-KR" altLang="en-US"/>
            </a:pPr>
            <a:r>
              <a:rPr lang="ko-KR" altLang="en-US" sz="1500" b="1">
                <a:solidFill>
                  <a:schemeClr val="lt1"/>
                </a:solidFill>
                <a:latin typeface="맑은 고딕"/>
                <a:ea typeface="맑은 고딕"/>
              </a:rPr>
              <a:t>태도(Attitude))</a:t>
            </a:r>
            <a:endParaRPr lang="ko-KR" altLang="en-US" sz="15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11" name="모서리가 둥근 직사각형 56"/>
          <p:cNvSpPr/>
          <p:nvPr/>
        </p:nvSpPr>
        <p:spPr>
          <a:xfrm>
            <a:off x="2134640" y="3247948"/>
            <a:ext cx="6509395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lvl="0"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사용자가 제품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서비스에 갖는 인지적/정서적 반응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12" name="모서리가 둥근 직사각형 56"/>
          <p:cNvSpPr/>
          <p:nvPr/>
        </p:nvSpPr>
        <p:spPr>
          <a:xfrm>
            <a:off x="323849" y="3924403"/>
            <a:ext cx="1688460" cy="581454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lvl="0" algn="ctr">
              <a:defRPr lang="ko-KR" altLang="en-US"/>
            </a:pPr>
            <a:r>
              <a:rPr lang="ko-KR" altLang="en-US" sz="1500" b="1">
                <a:solidFill>
                  <a:schemeClr val="lt1"/>
                </a:solidFill>
                <a:latin typeface="맑은 고딕"/>
                <a:ea typeface="맑은 고딕"/>
              </a:rPr>
              <a:t>동기(Motivation)</a:t>
            </a:r>
            <a:endParaRPr lang="ko-KR" altLang="en-US" sz="15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sp>
        <p:nvSpPr>
          <p:cNvPr id="13" name="모서리가 둥근 직사각형 56"/>
          <p:cNvSpPr/>
          <p:nvPr/>
        </p:nvSpPr>
        <p:spPr>
          <a:xfrm>
            <a:off x="2134640" y="3924403"/>
            <a:ext cx="6509395" cy="58145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lvl="0">
              <a:defRPr lang="ko-KR" altLang="en-US"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사용자로 하여금 어떤 행동을 하게 하는 요인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97626"/>
            <a:ext cx="8477249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4-6.</a:t>
            </a:r>
            <a:r>
              <a:rPr lang="ko-KR" altLang="en-US" sz="2800" b="1">
                <a:latin typeface="맑은 고딕"/>
                <a:ea typeface="맑은 고딕"/>
              </a:rPr>
              <a:t> 실사례: 팬심 기반 피처 설계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076325"/>
            <a:ext cx="8477249" cy="3720704"/>
          </a:xfrm>
        </p:spPr>
        <p:txBody>
          <a:bodyPr wrap="square"/>
          <a:lstStyle/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>
                <a:latin typeface="맑은 고딕"/>
                <a:ea typeface="맑은 고딕"/>
              </a:rPr>
              <a:t>팬들이 광고판에 메시지를 붙이는 행동 관찰</a:t>
            </a:r>
            <a:endParaRPr lang="ko-KR" altLang="en-US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>
                <a:latin typeface="맑은 고딕"/>
                <a:ea typeface="맑은 고딕"/>
              </a:rPr>
              <a:t>아티스트에게 편지 쓰는 기능 기획 → </a:t>
            </a:r>
            <a:r>
              <a:rPr lang="ko-KR" altLang="en-US" b="1">
                <a:solidFill>
                  <a:srgbClr val="289b6e"/>
                </a:solidFill>
                <a:latin typeface="맑은 고딕"/>
                <a:ea typeface="맑은 고딕"/>
              </a:rPr>
              <a:t>대성공</a:t>
            </a:r>
            <a:endParaRPr lang="ko-KR" altLang="en-US" b="1">
              <a:solidFill>
                <a:srgbClr val="289b6e"/>
              </a:solidFill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>
                <a:latin typeface="맑은 고딕"/>
                <a:ea typeface="맑은 고딕"/>
              </a:rPr>
              <a:t>자연 유입 및 재방문율 증가</a:t>
            </a:r>
            <a:endParaRPr lang="ko-KR" altLang="en-US">
              <a:latin typeface="맑은 고딕"/>
              <a:ea typeface="맑은 고딕"/>
            </a:endParaRPr>
          </a:p>
        </p:txBody>
      </p:sp>
      <p:pic>
        <p:nvPicPr>
          <p:cNvPr id="4" name="그림 3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3849" y="2749101"/>
            <a:ext cx="2769846" cy="169755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321050" y="2749101"/>
            <a:ext cx="2540000" cy="1714500"/>
          </a:xfrm>
          <a:prstGeom prst="rect">
            <a:avLst/>
          </a:prstGeom>
        </p:spPr>
      </p:pic>
      <p:pic>
        <p:nvPicPr>
          <p:cNvPr id="6" name="그림 5">
            <a:hlinkClick r:id="rId5"/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832456" y="2749101"/>
            <a:ext cx="3070746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69051"/>
            <a:ext cx="8477249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4-7.</a:t>
            </a:r>
            <a:r>
              <a:rPr lang="ko-KR" altLang="en-US" sz="2800" b="1">
                <a:latin typeface="맑은 고딕"/>
                <a:ea typeface="맑은 고딕"/>
              </a:rPr>
              <a:t> 사용자 경험 라이브러리 구축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b="1">
                <a:solidFill>
                  <a:srgbClr val="289b6e"/>
                </a:solidFill>
                <a:latin typeface="맑은 고딕"/>
                <a:ea typeface="맑은 고딕"/>
              </a:rPr>
              <a:t>앱 비교 분석</a:t>
            </a:r>
            <a:r>
              <a:rPr lang="ko-KR" altLang="en-US">
                <a:latin typeface="맑은 고딕"/>
                <a:ea typeface="맑은 고딕"/>
              </a:rPr>
              <a:t>하며 인사이트 축적</a:t>
            </a:r>
            <a:endParaRPr lang="ko-KR" altLang="en-US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>
                <a:latin typeface="맑은 고딕"/>
                <a:ea typeface="맑은 고딕"/>
              </a:rPr>
              <a:t>다양한 서비스의 </a:t>
            </a:r>
            <a:r>
              <a:rPr lang="ko-KR" altLang="en-US" b="1" u="sng">
                <a:solidFill>
                  <a:srgbClr val="ff0000"/>
                </a:solidFill>
                <a:latin typeface="맑은 고딕"/>
                <a:ea typeface="맑은 고딕"/>
              </a:rPr>
              <a:t>‘사용 흐름’</a:t>
            </a:r>
            <a:r>
              <a:rPr lang="ko-KR" altLang="en-US">
                <a:latin typeface="맑은 고딕"/>
                <a:ea typeface="맑은 고딕"/>
              </a:rPr>
              <a:t> 체험</a:t>
            </a:r>
            <a:endParaRPr lang="ko-KR" altLang="en-US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>
                <a:latin typeface="맑은 고딕"/>
                <a:ea typeface="맑은 고딕"/>
              </a:rPr>
              <a:t>예: 지도 앱, 이커머스 앱, 결제 시스템</a:t>
            </a:r>
            <a:endParaRPr lang="ko-KR" altLang="en-US">
              <a:latin typeface="맑은 고딕"/>
              <a:ea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58158" y="2711995"/>
            <a:ext cx="3035722" cy="21855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700892" y="2711995"/>
            <a:ext cx="3126065" cy="218553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323849" y="435751"/>
            <a:ext cx="8477249" cy="704838"/>
          </a:xfrm>
          <a:prstGeom prst="rect">
            <a:avLst/>
          </a:prstGeom>
          <a:ln>
            <a:solidFill>
              <a:schemeClr val="accent6"/>
            </a:solidFill>
          </a:ln>
        </p:spPr>
        <p:txBody>
          <a:bodyPr vert="horz" lIns="91440" tIns="45720" rIns="91440" bIns="45720" anchor="ctr"/>
          <a:lstStyle/>
          <a:p>
            <a:pPr marL="0" lvl="0" indent="0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4-8.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실습 미션: 앱 비교 분석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323849" y="1838325"/>
            <a:ext cx="8477249" cy="2753848"/>
          </a:xfrm>
          <a:prstGeom prst="rect">
            <a:avLst/>
          </a:prstGeom>
        </p:spPr>
        <p:txBody>
          <a:bodyPr vert="horz" wrap="square" lIns="91440" tIns="45720" rIns="91440" bIns="45720"/>
          <a:lstStyle/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  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하나의 카테고리 선택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  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3개 이상 앱 설치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  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기능별 비교 및 인사이트 도출</a:t>
            </a:r>
            <a:endPara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  <a:p>
            <a:pPr marL="0" lvl="0" indent="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  </a:t>
            </a:r>
            <a:r>
              <a:rPr xmlns:mc="http://schemas.openxmlformats.org/markup-compatibility/2006" xmlns:hp="http://schemas.haansoft.com/office/presentation/8.0" kumimoji="0" lang="en-US" altLang="ko-KR" sz="18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-</a:t>
            </a:r>
            <a:r>
              <a:rPr xmlns:mc="http://schemas.openxmlformats.org/markup-compatibility/2006" xmlns:hp="http://schemas.haansoft.com/office/presentation/8.0" kumimoji="0" lang="ko-KR" altLang="en-US" sz="18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6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선정 앱</a:t>
            </a:r>
            <a:r>
              <a:rPr xmlns:mc="http://schemas.openxmlformats.org/markup-compatibility/2006" xmlns:hp="http://schemas.haansoft.com/office/presentation/8.0" kumimoji="0" lang="en-US" altLang="ko-KR" sz="26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, </a:t>
            </a:r>
            <a:r>
              <a:rPr xmlns:mc="http://schemas.openxmlformats.org/markup-compatibility/2006" xmlns:hp="http://schemas.haansoft.com/office/presentation/8.0" kumimoji="0" lang="ko-KR" altLang="en-US" sz="26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선정이유</a:t>
            </a:r>
            <a:r>
              <a:rPr xmlns:mc="http://schemas.openxmlformats.org/markup-compatibility/2006" xmlns:hp="http://schemas.haansoft.com/office/presentation/8.0" kumimoji="0" lang="en-US" altLang="ko-KR" sz="26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6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 선정기능</a:t>
            </a:r>
            <a:r>
              <a:rPr xmlns:mc="http://schemas.openxmlformats.org/markup-compatibility/2006" xmlns:hp="http://schemas.haansoft.com/office/presentation/8.0" kumimoji="0" lang="en-US" altLang="ko-KR" sz="26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6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6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Product Fit,</a:t>
            </a:r>
            <a:r>
              <a:rPr xmlns:mc="http://schemas.openxmlformats.org/markup-compatibility/2006" xmlns:hp="http://schemas.haansoft.com/office/presentation/8.0" kumimoji="0" lang="ko-KR" altLang="en-US" sz="26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600" b="1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Market Fit</a:t>
            </a:r>
            <a:endParaRPr xmlns:mc="http://schemas.openxmlformats.org/markup-compatibility/2006" xmlns:hp="http://schemas.haansoft.com/office/presentation/8.0" kumimoji="0" lang="en-US" altLang="ko-KR" sz="2600" b="1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36543163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075946" y="1221419"/>
          <a:ext cx="6711523" cy="3351931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77443"/>
                <a:gridCol w="1673136"/>
                <a:gridCol w="1126125"/>
                <a:gridCol w="1077723"/>
                <a:gridCol w="1157096"/>
              </a:tblGrid>
              <a:tr h="40942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발견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정의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발견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전달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4250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 rot="2700000">
            <a:off x="4926419" y="1712298"/>
            <a:ext cx="2370174" cy="2370174"/>
          </a:xfrm>
          <a:prstGeom prst="rect">
            <a:avLst/>
          </a:prstGeom>
          <a:noFill/>
          <a:ln w="285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4" name="직사각형 3"/>
          <p:cNvSpPr/>
          <p:nvPr/>
        </p:nvSpPr>
        <p:spPr>
          <a:xfrm rot="2700000">
            <a:off x="1566825" y="1712298"/>
            <a:ext cx="2370174" cy="2370174"/>
          </a:xfrm>
          <a:prstGeom prst="rect">
            <a:avLst/>
          </a:prstGeom>
          <a:noFill/>
          <a:ln w="285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079777" y="2571750"/>
          <a:ext cx="6712739" cy="64389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68624"/>
                <a:gridCol w="1677443"/>
                <a:gridCol w="1130639"/>
                <a:gridCol w="1087755"/>
                <a:gridCol w="1148278"/>
              </a:tblGrid>
              <a:tr h="64389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리서치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분석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아이디어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프로토타입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itle 1"/>
          <p:cNvSpPr>
            <a:spLocks noGrp="1"/>
          </p:cNvSpPr>
          <p:nvPr>
            <p:ph type="title" idx="0"/>
          </p:nvPr>
        </p:nvSpPr>
        <p:spPr>
          <a:xfrm>
            <a:off x="323849" y="169051"/>
            <a:ext cx="8477249" cy="704838"/>
          </a:xfrm>
          <a:ln>
            <a:solidFill>
              <a:schemeClr val="accent6"/>
            </a:solidFill>
          </a:ln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4-9.</a:t>
            </a:r>
            <a:r>
              <a:rPr lang="ko-KR" altLang="en-US" sz="2800" b="1">
                <a:latin typeface="맑은 고딕"/>
                <a:ea typeface="맑은 고딕"/>
              </a:rPr>
              <a:t> 문제 해결 도구: 더블 다이아몬드 모델</a:t>
            </a:r>
            <a:endParaRPr lang="ko-KR" altLang="en-US" sz="2800" b="1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072116" y="1791569"/>
          <a:ext cx="6712385" cy="3653068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78305"/>
                <a:gridCol w="1673136"/>
                <a:gridCol w="1126125"/>
                <a:gridCol w="1077723"/>
                <a:gridCol w="1157096"/>
              </a:tblGrid>
              <a:tr h="40942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발견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정의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발견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전달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294250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 rot="2700000">
            <a:off x="4918757" y="2282446"/>
            <a:ext cx="2370174" cy="2370174"/>
          </a:xfrm>
          <a:prstGeom prst="rect">
            <a:avLst/>
          </a:prstGeom>
          <a:noFill/>
          <a:ln w="285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4" name="직사각형 3"/>
          <p:cNvSpPr/>
          <p:nvPr/>
        </p:nvSpPr>
        <p:spPr>
          <a:xfrm rot="2700000">
            <a:off x="1559162" y="2282446"/>
            <a:ext cx="2370174" cy="2370174"/>
          </a:xfrm>
          <a:prstGeom prst="rect">
            <a:avLst/>
          </a:prstGeom>
          <a:noFill/>
          <a:ln w="28575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079777" y="2571750"/>
          <a:ext cx="6712895" cy="11201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668780"/>
                <a:gridCol w="1677443"/>
                <a:gridCol w="1130639"/>
                <a:gridCol w="1087755"/>
                <a:gridCol w="1148278"/>
              </a:tblGrid>
              <a:tr h="64389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리서치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분석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아이디어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프로토타입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설명선 2 9"/>
          <p:cNvSpPr/>
          <p:nvPr/>
        </p:nvSpPr>
        <p:spPr>
          <a:xfrm>
            <a:off x="383400" y="254019"/>
            <a:ext cx="1206579" cy="1221303"/>
          </a:xfrm>
          <a:prstGeom prst="borderCallout2">
            <a:avLst>
              <a:gd name="adj1" fmla="val 100156"/>
              <a:gd name="adj2" fmla="val 100210"/>
              <a:gd name="adj3" fmla="val 100669"/>
              <a:gd name="adj4" fmla="val 115429"/>
              <a:gd name="adj5" fmla="val 163694"/>
              <a:gd name="adj6" fmla="val 11564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lvl="0" indent="0" algn="ctr">
              <a:buNone/>
              <a:defRPr/>
            </a:pPr>
            <a:endParaRPr lang="ko-KR" altLang="en-US" sz="1400" b="1"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300" b="1">
                <a:latin typeface="맑은 고딕"/>
                <a:ea typeface="맑은 고딕"/>
              </a:rPr>
              <a:t>사용자</a:t>
            </a:r>
            <a:endParaRPr lang="ko-KR" altLang="en-US" sz="1300" b="1"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altLang="ko-KR" sz="1300" b="1">
                <a:latin typeface="맑은 고딕"/>
                <a:ea typeface="맑은 고딕"/>
              </a:rPr>
              <a:t>·</a:t>
            </a:r>
            <a:endParaRPr lang="en-US" altLang="ko-KR" sz="1300" b="1"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300" b="1">
                <a:latin typeface="맑은 고딕"/>
                <a:ea typeface="맑은 고딕"/>
              </a:rPr>
              <a:t>이해관계자 관찰</a:t>
            </a:r>
            <a:endParaRPr lang="ko-KR" altLang="en-US" sz="1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400" b="1">
              <a:latin typeface="맑은 고딕"/>
              <a:ea typeface="맑은 고딕"/>
            </a:endParaRPr>
          </a:p>
        </p:txBody>
      </p:sp>
      <p:sp>
        <p:nvSpPr>
          <p:cNvPr id="12" name="설명선 2 11"/>
          <p:cNvSpPr/>
          <p:nvPr/>
        </p:nvSpPr>
        <p:spPr>
          <a:xfrm>
            <a:off x="2958247" y="254019"/>
            <a:ext cx="1206579" cy="1221303"/>
          </a:xfrm>
          <a:prstGeom prst="borderCallout2">
            <a:avLst>
              <a:gd name="adj1" fmla="val 100669"/>
              <a:gd name="adj2" fmla="val 51056"/>
              <a:gd name="adj3" fmla="val 120125"/>
              <a:gd name="adj4" fmla="val 50914"/>
              <a:gd name="adj5" fmla="val 159084"/>
              <a:gd name="adj6" fmla="val 50100"/>
            </a:avLst>
          </a:prstGeom>
          <a:solidFill>
            <a:schemeClr val="dk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0" indent="0" algn="ctr">
              <a:buNone/>
              <a:defRPr/>
            </a:pPr>
            <a:endParaRPr lang="ko-KR" altLang="en-US" sz="1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200" b="1">
                <a:latin typeface="맑은 고딕"/>
                <a:ea typeface="맑은 고딕"/>
              </a:rPr>
              <a:t>인사이트 도출</a:t>
            </a:r>
            <a:endParaRPr lang="ko-KR" altLang="en-US" sz="1200" b="1"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en-US" altLang="ko-KR" sz="1200" b="1">
                <a:latin typeface="맑은 고딕"/>
                <a:ea typeface="맑은 고딕"/>
              </a:rPr>
              <a:t>·</a:t>
            </a:r>
            <a:endParaRPr lang="ko-KR" altLang="en-US" sz="1200" b="1"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200" b="1">
                <a:latin typeface="맑은 고딕"/>
                <a:ea typeface="맑은 고딕"/>
              </a:rPr>
              <a:t> 문제 명확화</a:t>
            </a:r>
            <a:endParaRPr lang="ko-KR" altLang="en-US" sz="14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400" b="1">
              <a:latin typeface="맑은 고딕"/>
              <a:ea typeface="맑은 고딕"/>
            </a:endParaRPr>
          </a:p>
        </p:txBody>
      </p:sp>
      <p:sp>
        <p:nvSpPr>
          <p:cNvPr id="13" name="설명선 2 12"/>
          <p:cNvSpPr/>
          <p:nvPr/>
        </p:nvSpPr>
        <p:spPr>
          <a:xfrm>
            <a:off x="5269550" y="254019"/>
            <a:ext cx="1206579" cy="1221303"/>
          </a:xfrm>
          <a:prstGeom prst="borderCallout2">
            <a:avLst>
              <a:gd name="adj1" fmla="val 98621"/>
              <a:gd name="adj2" fmla="val 1390"/>
              <a:gd name="adj3" fmla="val 98621"/>
              <a:gd name="adj4" fmla="val -26401"/>
              <a:gd name="adj5" fmla="val 157550"/>
              <a:gd name="adj6" fmla="val -2670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0" indent="0" algn="ctr">
              <a:buNone/>
              <a:defRPr/>
            </a:pPr>
            <a:endParaRPr lang="ko-KR" altLang="en-US" sz="1400" b="1">
              <a:latin typeface="맑은 고딕"/>
              <a:ea typeface="맑은 고딕"/>
            </a:endParaRPr>
          </a:p>
          <a:p>
            <a:pPr marL="0" lvl="0" indent="0" algn="ctr">
              <a:buNone/>
              <a:defRPr/>
            </a:pPr>
            <a:r>
              <a:rPr lang="ko-KR" altLang="en-US" sz="1300" b="1">
                <a:latin typeface="맑은 고딕"/>
                <a:ea typeface="맑은 고딕"/>
              </a:rPr>
              <a:t>와이어프레임 &amp; 프로토타입</a:t>
            </a:r>
            <a:endParaRPr lang="ko-KR" altLang="en-US" sz="13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300" b="1">
              <a:latin typeface="맑은 고딕"/>
              <a:ea typeface="맑은 고딕"/>
            </a:endParaRPr>
          </a:p>
        </p:txBody>
      </p:sp>
      <p:sp>
        <p:nvSpPr>
          <p:cNvPr id="14" name="설명선 2 13"/>
          <p:cNvSpPr/>
          <p:nvPr/>
        </p:nvSpPr>
        <p:spPr>
          <a:xfrm>
            <a:off x="7537318" y="254019"/>
            <a:ext cx="1206579" cy="1221303"/>
          </a:xfrm>
          <a:prstGeom prst="borderCallout2">
            <a:avLst>
              <a:gd name="adj1" fmla="val 98109"/>
              <a:gd name="adj2" fmla="val 1902"/>
              <a:gd name="adj3" fmla="val 98109"/>
              <a:gd name="adj4" fmla="val -27937"/>
              <a:gd name="adj5" fmla="val 155502"/>
              <a:gd name="adj6" fmla="val -2568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0" indent="0" algn="ctr">
              <a:lnSpc>
                <a:spcPct val="150000"/>
              </a:lnSpc>
              <a:buNone/>
              <a:defRPr/>
            </a:pPr>
            <a:r>
              <a:rPr lang="ko-KR" altLang="en-US" sz="1300"/>
              <a:t> </a:t>
            </a:r>
            <a:r>
              <a:rPr lang="ko-KR" altLang="en-US" sz="1300" b="1">
                <a:latin typeface="맑은 고딕"/>
                <a:ea typeface="맑은 고딕"/>
              </a:rPr>
              <a:t>테스트, </a:t>
            </a:r>
            <a:endParaRPr lang="ko-KR" altLang="en-US" sz="1300" b="1">
              <a:latin typeface="맑은 고딕"/>
              <a:ea typeface="맑은 고딕"/>
            </a:endParaRPr>
          </a:p>
          <a:p>
            <a:pPr marL="0" lvl="0" indent="0" algn="ctr">
              <a:lnSpc>
                <a:spcPct val="150000"/>
              </a:lnSpc>
              <a:buNone/>
              <a:defRPr/>
            </a:pPr>
            <a:r>
              <a:rPr lang="ko-KR" altLang="en-US" sz="1300" b="1">
                <a:latin typeface="맑은 고딕"/>
                <a:ea typeface="맑은 고딕"/>
              </a:rPr>
              <a:t>검증, </a:t>
            </a:r>
            <a:endParaRPr lang="ko-KR" altLang="en-US" sz="1300" b="1">
              <a:latin typeface="맑은 고딕"/>
              <a:ea typeface="맑은 고딕"/>
            </a:endParaRPr>
          </a:p>
          <a:p>
            <a:pPr marL="0" lvl="0" indent="0" algn="ctr">
              <a:lnSpc>
                <a:spcPct val="150000"/>
              </a:lnSpc>
              <a:buNone/>
              <a:defRPr/>
            </a:pPr>
            <a:r>
              <a:rPr lang="ko-KR" altLang="en-US" sz="1300" b="1">
                <a:latin typeface="맑은 고딕"/>
                <a:ea typeface="맑은 고딕"/>
              </a:rPr>
              <a:t>개선</a:t>
            </a:r>
            <a:endParaRPr lang="ko-KR" altLang="en-US" sz="1300" b="1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86036791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53753" y="2943550"/>
            <a:ext cx="3301212" cy="2199949"/>
          </a:xfrm>
          <a:prstGeom prst="ellipse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59526"/>
            <a:ext cx="8477249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4-10.</a:t>
            </a:r>
            <a:r>
              <a:rPr lang="ko-KR" altLang="en-US" sz="2800" b="1">
                <a:latin typeface="맑은 고딕"/>
                <a:ea typeface="맑은 고딕"/>
              </a:rPr>
              <a:t> 사용자 중심 사고의 중요성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2527" y="1286930"/>
            <a:ext cx="4898945" cy="3720704"/>
          </a:xfrm>
        </p:spPr>
        <p:txBody>
          <a:bodyPr wrap="square"/>
          <a:lstStyle/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b="1">
                <a:latin typeface="맑은 고딕"/>
                <a:ea typeface="맑은 고딕"/>
              </a:rPr>
              <a:t>서비스 성공의 열쇠는 ‘사용자 공감’</a:t>
            </a:r>
            <a:endParaRPr lang="ko-KR" altLang="en-US" b="1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b="1">
                <a:latin typeface="맑은 고딕"/>
                <a:ea typeface="맑은 고딕"/>
              </a:rPr>
              <a:t>문제 정의 → 해결 → </a:t>
            </a:r>
            <a:r>
              <a:rPr lang="ko-KR" altLang="en-US" b="1">
                <a:solidFill>
                  <a:schemeClr val="accent1"/>
                </a:solidFill>
                <a:latin typeface="맑은 고딕"/>
                <a:ea typeface="맑은 고딕"/>
              </a:rPr>
              <a:t>반복 개선의 구조</a:t>
            </a:r>
            <a:endParaRPr lang="ko-KR" altLang="en-US" b="1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b="1">
                <a:latin typeface="맑은 고딕"/>
                <a:ea typeface="맑은 고딕"/>
              </a:rPr>
              <a:t>기획자는 </a:t>
            </a:r>
            <a:r>
              <a:rPr lang="ko-KR" altLang="en-US" b="1">
                <a:solidFill>
                  <a:srgbClr val="ff6600"/>
                </a:solidFill>
                <a:latin typeface="맑은 고딕"/>
                <a:ea typeface="맑은 고딕"/>
              </a:rPr>
              <a:t>‘관찰자’</a:t>
            </a:r>
            <a:r>
              <a:rPr lang="ko-KR" altLang="en-US" b="1">
                <a:latin typeface="맑은 고딕"/>
                <a:ea typeface="맑은 고딕"/>
              </a:rPr>
              <a:t>이자 </a:t>
            </a:r>
            <a:r>
              <a:rPr lang="ko-KR" altLang="en-US" b="1">
                <a:solidFill>
                  <a:srgbClr val="ff0000"/>
                </a:solidFill>
                <a:latin typeface="맑은 고딕"/>
                <a:ea typeface="맑은 고딕"/>
              </a:rPr>
              <a:t>‘해결자’</a:t>
            </a:r>
            <a:endParaRPr lang="ko-KR" altLang="en-US" b="1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 b="1">
                <a:latin typeface="맑은 고딕"/>
                <a:ea typeface="맑은 고딕"/>
              </a:rPr>
              <a:t>문제 해결을 위한 </a:t>
            </a:r>
            <a:br>
              <a:rPr lang="ko-KR" altLang="en-US" b="1">
                <a:latin typeface="맑은 고딕"/>
                <a:ea typeface="맑은 고딕"/>
              </a:rPr>
            </a:br>
            <a:r>
              <a:rPr lang="ko-KR" altLang="en-US" b="1">
                <a:latin typeface="맑은 고딕"/>
                <a:ea typeface="맑은 고딕"/>
              </a:rPr>
              <a:t>      생각 도구들</a:t>
            </a:r>
            <a:endParaRPr lang="ko-KR" altLang="en-US" b="1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13370516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1</a:t>
            </a:r>
            <a:r>
              <a:rPr lang="ko-KR" altLang="en-US" sz="2800" b="1">
                <a:latin typeface="맑은 고딕"/>
                <a:ea typeface="맑은 고딕"/>
              </a:rPr>
              <a:t>. 5 Whys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5" name="내용 개체 틀 52"/>
          <p:cNvSpPr>
            <a:spLocks noGrp="1"/>
          </p:cNvSpPr>
          <p:nvPr/>
        </p:nvSpPr>
        <p:spPr>
          <a:xfrm>
            <a:off x="447119" y="1338942"/>
            <a:ext cx="3931515" cy="3134700"/>
          </a:xfrm>
          <a:prstGeom prst="roundRect">
            <a:avLst>
              <a:gd name="adj" fmla="val 4158"/>
            </a:avLst>
          </a:prstGeom>
          <a:solidFill>
            <a:schemeClr val="lt1"/>
          </a:solidFill>
          <a:ln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anchor="t">
            <a:norm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 3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 3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66700" lvl="0" indent="-30670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 3"/>
              <a:buChar char=""/>
              <a:defRPr/>
            </a:pPr>
            <a:endParaRPr xmlns:mc="http://schemas.openxmlformats.org/markup-compatibility/2006" xmlns:hp="http://schemas.haansoft.com/office/presentation/8.0" kumimoji="0" lang="ko-KR" altLang="en-US" sz="1500" b="1" i="0" u="none" strike="noStrike" kern="1200" cap="none" spc="0" normalizeH="0" baseline="0" mc:Ignorable="hp" hp:hslEmbossed="0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551894" y="1602105"/>
            <a:ext cx="4002010" cy="3720704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100">
                <a:latin typeface="맑은 고딕"/>
                <a:ea typeface="맑은 고딕"/>
              </a:rPr>
              <a:t>개념: 문제의 근본 원인을 찾기 위해 </a:t>
            </a:r>
            <a:endParaRPr lang="ko-KR" altLang="en-US" sz="11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100">
                <a:latin typeface="맑은 고딕"/>
                <a:ea typeface="맑은 고딕"/>
              </a:rPr>
              <a:t>            </a:t>
            </a:r>
            <a:r>
              <a:rPr lang="ko-KR" altLang="en-US" sz="1100" b="1">
                <a:solidFill>
                  <a:srgbClr val="3a3c84"/>
                </a:solidFill>
                <a:latin typeface="맑은 고딕"/>
                <a:ea typeface="맑은 고딕"/>
              </a:rPr>
              <a:t> '왜?'를 반복적으로 다섯 번 묻는 방법론</a:t>
            </a:r>
            <a:endParaRPr lang="ko-KR" altLang="en-US" sz="1100" b="1">
              <a:solidFill>
                <a:srgbClr val="3a3c84"/>
              </a:solidFill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endParaRPr lang="ko-KR" altLang="en-US" sz="11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r>
              <a:rPr lang="ko-KR" altLang="en-US" sz="1100">
                <a:latin typeface="맑은 고딕"/>
                <a:ea typeface="맑은 고딕"/>
              </a:rPr>
              <a:t>일본 도요타 생산방식에서 시작된 기법으로, </a:t>
            </a:r>
            <a:endParaRPr lang="ko-KR" altLang="en-US" sz="11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100">
                <a:latin typeface="맑은 고딕"/>
                <a:ea typeface="맑은 고딕"/>
              </a:rPr>
              <a:t>      문제의 표면적인 원인이 아닌 근본 원인(Root Cause)</a:t>
            </a:r>
            <a:endParaRPr lang="ko-KR" altLang="en-US" sz="11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100">
                <a:latin typeface="맑은 고딕"/>
                <a:ea typeface="맑은 고딕"/>
              </a:rPr>
              <a:t>      을 파악하는 데 사용</a:t>
            </a:r>
            <a:endParaRPr lang="ko-KR" altLang="en-US" sz="11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1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r>
              <a:rPr lang="ko-KR" altLang="en-US" sz="1100">
                <a:latin typeface="맑은 고딕"/>
                <a:ea typeface="맑은 고딕"/>
              </a:rPr>
              <a:t>표면적 현상에 머무르지 않고 </a:t>
            </a:r>
            <a:r>
              <a:rPr lang="ko-KR" altLang="en-US" sz="1100" b="1">
                <a:solidFill>
                  <a:srgbClr val="ff0000"/>
                </a:solidFill>
                <a:latin typeface="맑은 고딕"/>
                <a:ea typeface="맑은 고딕"/>
              </a:rPr>
              <a:t>문제의 뿌리를 찾아냄</a:t>
            </a:r>
            <a:endParaRPr lang="ko-KR" altLang="en-US" sz="11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100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100">
                <a:latin typeface="맑은 고딕"/>
                <a:ea typeface="맑은 고딕"/>
              </a:rPr>
              <a:t>빠르고 실용적인 문제 분석 도구</a:t>
            </a:r>
            <a:endParaRPr lang="ko-KR" altLang="en-US" sz="1100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endParaRPr lang="ko-KR" altLang="en-US" sz="1100">
              <a:latin typeface="맑은 고딕"/>
              <a:ea typeface="맑은 고딕"/>
            </a:endParaRPr>
          </a:p>
        </p:txBody>
      </p:sp>
      <p:grpSp>
        <p:nvGrpSpPr>
          <p:cNvPr id="30" name="그룹 29"/>
          <p:cNvGrpSpPr/>
          <p:nvPr/>
        </p:nvGrpSpPr>
        <p:grpSpPr>
          <a:xfrm rot="0">
            <a:off x="4803103" y="149995"/>
            <a:ext cx="3817647" cy="809027"/>
            <a:chOff x="4593411" y="1194843"/>
            <a:chExt cx="3817647" cy="809027"/>
          </a:xfrm>
        </p:grpSpPr>
        <p:sp>
          <p:nvSpPr>
            <p:cNvPr id="31" name="모서리가 둥근 직사각형 3"/>
            <p:cNvSpPr/>
            <p:nvPr/>
          </p:nvSpPr>
          <p:spPr>
            <a:xfrm>
              <a:off x="5092152" y="1338942"/>
              <a:ext cx="3318906" cy="413658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a3c8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 anchorCtr="0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해결해야 할 문제를 명확하게 설정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32" name="그룹 19"/>
            <p:cNvGrpSpPr/>
            <p:nvPr/>
          </p:nvGrpSpPr>
          <p:grpSpPr>
            <a:xfrm rot="0">
              <a:off x="4593411" y="1194843"/>
              <a:ext cx="752471" cy="752470"/>
              <a:chOff x="3295650" y="1857364"/>
              <a:chExt cx="1855759" cy="1855756"/>
            </a:xfrm>
            <a:effectLst/>
          </p:grpSpPr>
          <p:sp>
            <p:nvSpPr>
              <p:cNvPr id="33" name="타원 5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34" name="타원 6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solidFill>
                <a:srgbClr val="3a3c84"/>
              </a:solidFill>
              <a:ln w="88900">
                <a:solidFill>
                  <a:srgbClr val="3a3c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35" name="이등변 삼각형 10"/>
            <p:cNvSpPr/>
            <p:nvPr/>
          </p:nvSpPr>
          <p:spPr>
            <a:xfrm rot="10800000">
              <a:off x="6487534" y="1794913"/>
              <a:ext cx="242391" cy="208957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6" name="TextBox 27"/>
            <p:cNvSpPr txBox="1"/>
            <p:nvPr/>
          </p:nvSpPr>
          <p:spPr>
            <a:xfrm>
              <a:off x="4718542" y="1332503"/>
              <a:ext cx="525922" cy="45339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lvl="0" algn="ctr">
                <a:defRPr/>
              </a:pPr>
              <a:r>
                <a:rPr lang="ko-KR" altLang="en-US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문제</a:t>
              </a:r>
              <a:endParaRPr lang="ko-KR" altLang="en-US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정의</a:t>
              </a:r>
              <a:endParaRPr lang="ko-KR" altLang="en-US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 rot="0">
            <a:off x="4803104" y="959022"/>
            <a:ext cx="3817647" cy="809027"/>
            <a:chOff x="4593411" y="1194843"/>
            <a:chExt cx="3817647" cy="809027"/>
          </a:xfrm>
        </p:grpSpPr>
        <p:sp>
          <p:nvSpPr>
            <p:cNvPr id="52" name="모서리가 둥근 직사각형 3"/>
            <p:cNvSpPr/>
            <p:nvPr/>
          </p:nvSpPr>
          <p:spPr>
            <a:xfrm>
              <a:off x="5092152" y="1338942"/>
              <a:ext cx="3318906" cy="413658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a3c8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 anchorCtr="0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문제의 직접적인 원인 묻기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3" name="그룹 19"/>
            <p:cNvGrpSpPr/>
            <p:nvPr/>
          </p:nvGrpSpPr>
          <p:grpSpPr>
            <a:xfrm rot="0">
              <a:off x="4593411" y="1194843"/>
              <a:ext cx="752471" cy="752470"/>
              <a:chOff x="3295650" y="1857364"/>
              <a:chExt cx="1855759" cy="1855756"/>
            </a:xfrm>
            <a:effectLst/>
          </p:grpSpPr>
          <p:sp>
            <p:nvSpPr>
              <p:cNvPr id="54" name="타원 5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5" name="타원 6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solidFill>
                <a:srgbClr val="3a3c84"/>
              </a:solidFill>
              <a:ln w="88900">
                <a:solidFill>
                  <a:srgbClr val="3a3c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56" name="이등변 삼각형 10"/>
            <p:cNvSpPr/>
            <p:nvPr/>
          </p:nvSpPr>
          <p:spPr>
            <a:xfrm rot="10800000">
              <a:off x="6487534" y="1794913"/>
              <a:ext cx="242391" cy="208957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57" name="TextBox 27"/>
            <p:cNvSpPr txBox="1"/>
            <p:nvPr/>
          </p:nvSpPr>
          <p:spPr>
            <a:xfrm>
              <a:off x="4747117" y="1323575"/>
              <a:ext cx="544830" cy="45339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lvl="0" algn="ctr">
                <a:defRPr/>
              </a:pPr>
              <a:r>
                <a:rPr lang="en-US" altLang="ko-KR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1st</a:t>
              </a:r>
              <a:endParaRPr lang="en-US" altLang="ko-KR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en-US" altLang="ko-KR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Why</a:t>
              </a:r>
              <a:endParaRPr lang="en-US" altLang="ko-KR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 rot="0">
            <a:off x="4803104" y="1801989"/>
            <a:ext cx="3817647" cy="809027"/>
            <a:chOff x="4593411" y="1194843"/>
            <a:chExt cx="3817647" cy="809027"/>
          </a:xfrm>
        </p:grpSpPr>
        <p:sp>
          <p:nvSpPr>
            <p:cNvPr id="59" name="모서리가 둥근 직사각형 3"/>
            <p:cNvSpPr/>
            <p:nvPr/>
          </p:nvSpPr>
          <p:spPr>
            <a:xfrm>
              <a:off x="5092152" y="1338942"/>
              <a:ext cx="3318906" cy="413658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a3c8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 anchorCtr="0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첫번째 답변의 원인을 다시 질문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60" name="그룹 19"/>
            <p:cNvGrpSpPr/>
            <p:nvPr/>
          </p:nvGrpSpPr>
          <p:grpSpPr>
            <a:xfrm rot="0">
              <a:off x="4593411" y="1194843"/>
              <a:ext cx="752471" cy="752470"/>
              <a:chOff x="3295650" y="1857364"/>
              <a:chExt cx="1855759" cy="1855756"/>
            </a:xfrm>
            <a:effectLst/>
          </p:grpSpPr>
          <p:sp>
            <p:nvSpPr>
              <p:cNvPr id="61" name="타원 5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2" name="타원 6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solidFill>
                <a:srgbClr val="3a3c84"/>
              </a:solidFill>
              <a:ln w="88900">
                <a:solidFill>
                  <a:srgbClr val="3a3c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63" name="이등변 삼각형 10"/>
            <p:cNvSpPr/>
            <p:nvPr/>
          </p:nvSpPr>
          <p:spPr>
            <a:xfrm rot="10800000">
              <a:off x="6487534" y="1794913"/>
              <a:ext cx="242391" cy="208957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64" name="TextBox 27"/>
            <p:cNvSpPr txBox="1"/>
            <p:nvPr/>
          </p:nvSpPr>
          <p:spPr>
            <a:xfrm>
              <a:off x="4709016" y="1328333"/>
              <a:ext cx="544830" cy="45339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lvl="0" algn="ctr">
                <a:defRPr/>
              </a:pPr>
              <a:r>
                <a:rPr lang="en-US" altLang="ko-KR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2st</a:t>
              </a:r>
              <a:endParaRPr lang="en-US" altLang="ko-KR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en-US" altLang="ko-KR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Why</a:t>
              </a:r>
              <a:endParaRPr lang="ko-KR" altLang="en-US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65" name="그룹 64"/>
          <p:cNvGrpSpPr/>
          <p:nvPr/>
        </p:nvGrpSpPr>
        <p:grpSpPr>
          <a:xfrm rot="0">
            <a:off x="4803105" y="2658642"/>
            <a:ext cx="3817647" cy="809027"/>
            <a:chOff x="4593411" y="1194843"/>
            <a:chExt cx="3817647" cy="809027"/>
          </a:xfrm>
        </p:grpSpPr>
        <p:sp>
          <p:nvSpPr>
            <p:cNvPr id="66" name="모서리가 둥근 직사각형 3"/>
            <p:cNvSpPr/>
            <p:nvPr/>
          </p:nvSpPr>
          <p:spPr>
            <a:xfrm>
              <a:off x="5092152" y="1338942"/>
              <a:ext cx="3318906" cy="413658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a3c8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 anchorCtr="0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두번째 답변의 원인을 다시 질문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67" name="그룹 19"/>
            <p:cNvGrpSpPr/>
            <p:nvPr/>
          </p:nvGrpSpPr>
          <p:grpSpPr>
            <a:xfrm rot="0">
              <a:off x="4593411" y="1194843"/>
              <a:ext cx="752471" cy="752470"/>
              <a:chOff x="3295650" y="1857364"/>
              <a:chExt cx="1855759" cy="1855756"/>
            </a:xfrm>
            <a:effectLst/>
          </p:grpSpPr>
          <p:sp>
            <p:nvSpPr>
              <p:cNvPr id="68" name="타원 5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9" name="타원 6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solidFill>
                <a:srgbClr val="3a3c84"/>
              </a:solidFill>
              <a:ln w="88900">
                <a:solidFill>
                  <a:srgbClr val="3a3c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70" name="이등변 삼각형 10"/>
            <p:cNvSpPr/>
            <p:nvPr/>
          </p:nvSpPr>
          <p:spPr>
            <a:xfrm rot="10800000">
              <a:off x="6487534" y="1794913"/>
              <a:ext cx="242391" cy="208957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71" name="TextBox 27"/>
            <p:cNvSpPr txBox="1"/>
            <p:nvPr/>
          </p:nvSpPr>
          <p:spPr>
            <a:xfrm>
              <a:off x="4709016" y="1328931"/>
              <a:ext cx="544830" cy="45339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lvl="0" algn="ctr">
                <a:defRPr/>
              </a:pPr>
              <a:r>
                <a:rPr lang="en-US" altLang="ko-KR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3st</a:t>
              </a:r>
              <a:endParaRPr lang="en-US" altLang="ko-KR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en-US" altLang="ko-KR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Why</a:t>
              </a:r>
              <a:endParaRPr lang="ko-KR" altLang="en-US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72" name="그룹 71"/>
          <p:cNvGrpSpPr/>
          <p:nvPr/>
        </p:nvGrpSpPr>
        <p:grpSpPr>
          <a:xfrm rot="0">
            <a:off x="4803102" y="3521740"/>
            <a:ext cx="3817647" cy="809027"/>
            <a:chOff x="4593411" y="1194843"/>
            <a:chExt cx="3817647" cy="809027"/>
          </a:xfrm>
        </p:grpSpPr>
        <p:sp>
          <p:nvSpPr>
            <p:cNvPr id="73" name="모서리가 둥근 직사각형 3"/>
            <p:cNvSpPr/>
            <p:nvPr/>
          </p:nvSpPr>
          <p:spPr>
            <a:xfrm>
              <a:off x="5092152" y="1338942"/>
              <a:ext cx="3318906" cy="413658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a3c8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 anchorCtr="0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더 깊이 있는 원인을 탐색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74" name="그룹 19"/>
            <p:cNvGrpSpPr/>
            <p:nvPr/>
          </p:nvGrpSpPr>
          <p:grpSpPr>
            <a:xfrm rot="0">
              <a:off x="4593411" y="1194843"/>
              <a:ext cx="752471" cy="752470"/>
              <a:chOff x="3295650" y="1857364"/>
              <a:chExt cx="1855759" cy="1855756"/>
            </a:xfrm>
            <a:effectLst/>
          </p:grpSpPr>
          <p:sp>
            <p:nvSpPr>
              <p:cNvPr id="75" name="타원 5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6" name="타원 6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solidFill>
                <a:srgbClr val="3a3c84"/>
              </a:solidFill>
              <a:ln w="88900">
                <a:solidFill>
                  <a:srgbClr val="3a3c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77" name="이등변 삼각형 10"/>
            <p:cNvSpPr/>
            <p:nvPr/>
          </p:nvSpPr>
          <p:spPr>
            <a:xfrm rot="10800000">
              <a:off x="6487534" y="1794913"/>
              <a:ext cx="242391" cy="208957"/>
            </a:xfrm>
            <a:prstGeom prst="triangle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78" name="TextBox 27"/>
            <p:cNvSpPr txBox="1"/>
            <p:nvPr/>
          </p:nvSpPr>
          <p:spPr>
            <a:xfrm>
              <a:off x="4709018" y="1323083"/>
              <a:ext cx="544830" cy="45339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lvl="0" algn="ctr">
                <a:defRPr/>
              </a:pPr>
              <a:r>
                <a:rPr lang="en-US" altLang="ko-KR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4st</a:t>
              </a:r>
              <a:endParaRPr lang="en-US" altLang="ko-KR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en-US" altLang="ko-KR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Why</a:t>
              </a:r>
              <a:endParaRPr lang="ko-KR" altLang="en-US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 rot="0">
            <a:off x="4803103" y="4349817"/>
            <a:ext cx="3817647" cy="752470"/>
            <a:chOff x="4593411" y="1194843"/>
            <a:chExt cx="3817647" cy="752470"/>
          </a:xfrm>
        </p:grpSpPr>
        <p:sp>
          <p:nvSpPr>
            <p:cNvPr id="80" name="모서리가 둥근 직사각형 3"/>
            <p:cNvSpPr/>
            <p:nvPr/>
          </p:nvSpPr>
          <p:spPr>
            <a:xfrm>
              <a:off x="5092152" y="1338942"/>
              <a:ext cx="3318906" cy="413658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3a3c84"/>
              </a:solidFill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59999" anchor="t" anchorCtr="0"/>
            <a:lstStyle/>
            <a:p>
              <a:pPr lvl="0">
                <a:defRPr/>
              </a:pPr>
              <a:r>
                <a:rPr lang="ko-KR" altLang="en-US" sz="1400">
                  <a:solidFill>
                    <a:srgbClr val="000000"/>
                  </a:solidFill>
                  <a:latin typeface="맑은 고딕"/>
                  <a:ea typeface="맑은 고딕"/>
                </a:rPr>
                <a:t>근본 원인에 도달하여 해결책 모색</a:t>
              </a:r>
              <a:endParaRPr lang="ko-KR" altLang="en-US" sz="14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  <a:p>
              <a:pPr marL="171450" lvl="0" indent="-171450">
                <a:spcBef>
                  <a:spcPct val="20000"/>
                </a:spcBef>
                <a:buClr>
                  <a:srgbClr val="f3f3f3">
                    <a:lumMod val="25000"/>
                  </a:srgbClr>
                </a:buClr>
                <a:buSzPct val="80000"/>
                <a:buFont typeface="Wingdings 3"/>
                <a:buChar char=""/>
                <a:defRPr/>
              </a:pPr>
              <a:endParaRPr lang="en-US" altLang="ko-KR" sz="1500">
                <a:solidFill>
                  <a:srgbClr val="f3f3f3">
                    <a:lumMod val="25000"/>
                  </a:srgb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81" name="그룹 19"/>
            <p:cNvGrpSpPr/>
            <p:nvPr/>
          </p:nvGrpSpPr>
          <p:grpSpPr>
            <a:xfrm rot="0">
              <a:off x="4593411" y="1194843"/>
              <a:ext cx="752471" cy="752470"/>
              <a:chOff x="3295650" y="1857364"/>
              <a:chExt cx="1855759" cy="1855756"/>
            </a:xfrm>
            <a:effectLst/>
          </p:grpSpPr>
          <p:sp>
            <p:nvSpPr>
              <p:cNvPr id="82" name="타원 5"/>
              <p:cNvSpPr/>
              <p:nvPr/>
            </p:nvSpPr>
            <p:spPr>
              <a:xfrm>
                <a:off x="3295650" y="1857364"/>
                <a:ext cx="1855759" cy="1855756"/>
              </a:xfrm>
              <a:prstGeom prst="ellipse">
                <a:avLst/>
              </a:prstGeom>
              <a:solidFill>
                <a:schemeClr val="accent1"/>
              </a:solidFill>
              <a:ln w="889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83" name="타원 6"/>
              <p:cNvSpPr/>
              <p:nvPr/>
            </p:nvSpPr>
            <p:spPr>
              <a:xfrm>
                <a:off x="3409952" y="1917653"/>
                <a:ext cx="1633487" cy="1633485"/>
              </a:xfrm>
              <a:prstGeom prst="ellipse">
                <a:avLst/>
              </a:prstGeom>
              <a:solidFill>
                <a:srgbClr val="3a3c84"/>
              </a:solidFill>
              <a:ln w="88900">
                <a:solidFill>
                  <a:srgbClr val="3a3c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sp>
          <p:nvSpPr>
            <p:cNvPr id="85" name="TextBox 27"/>
            <p:cNvSpPr txBox="1"/>
            <p:nvPr/>
          </p:nvSpPr>
          <p:spPr>
            <a:xfrm>
              <a:off x="4709018" y="1323681"/>
              <a:ext cx="544830" cy="45339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lvl="0" algn="ctr">
                <a:defRPr/>
              </a:pPr>
              <a:r>
                <a:rPr lang="en-US" altLang="ko-KR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5st</a:t>
              </a:r>
              <a:endParaRPr lang="en-US" altLang="ko-KR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en-US" altLang="ko-KR" sz="1200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맑은 고딕"/>
                  <a:ea typeface="맑은 고딕"/>
                </a:rPr>
                <a:t>Why</a:t>
              </a:r>
              <a:endParaRPr lang="ko-KR" altLang="en-US" sz="1200" b="1">
                <a:solidFill>
                  <a:schemeClr val="accent1">
                    <a:lumMod val="20000"/>
                    <a:lumOff val="8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6841438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1.</a:t>
            </a:r>
            <a:r>
              <a:rPr lang="ko-KR" altLang="en-US" b="1">
                <a:latin typeface="맑은 고딕"/>
                <a:ea typeface="맑은 고딕"/>
              </a:rPr>
              <a:t> 5 Whys</a:t>
            </a:r>
            <a:endParaRPr lang="ko-KR" altLang="en-US" b="1">
              <a:latin typeface="맑은 고딕"/>
              <a:ea typeface="맑은 고딕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30835" y="727709"/>
          <a:ext cx="8482328" cy="4337398"/>
        </p:xfrm>
        <a:graphic>
          <a:graphicData uri="http://schemas.openxmlformats.org/drawingml/2006/table">
            <a:tbl>
              <a:tblPr firstRow="1" bandRow="1">
                <a:tableStyleId>{1EDF2F87-84AD-4230-966E-E561DF79DAAB}</a:tableStyleId>
              </a:tblPr>
              <a:tblGrid>
                <a:gridCol w="762757"/>
                <a:gridCol w="3674934"/>
                <a:gridCol w="4044635"/>
              </a:tblGrid>
              <a:tr h="40062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단계</a:t>
                      </a:r>
                      <a:endParaRPr xmlns:mc="http://schemas.openxmlformats.org/markup-compatibility/2006" xmlns:hp="http://schemas.haansoft.com/office/presentation/8.0" sz="14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함초롬바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질문</a:t>
                      </a:r>
                      <a:endParaRPr xmlns:mc="http://schemas.openxmlformats.org/markup-compatibility/2006" xmlns:hp="http://schemas.haansoft.com/office/presentation/8.0" sz="14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함초롬바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1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답변</a:t>
                      </a:r>
                      <a:endParaRPr xmlns:mc="http://schemas.openxmlformats.org/markup-compatibility/2006" xmlns:hp="http://schemas.haansoft.com/office/presentation/8.0" sz="1400" b="1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함초롬바탕"/>
                      </a:endParaRPr>
                    </a:p>
                  </a:txBody>
                  <a:tcPr marL="91440" marR="91440" anchor="ctr"/>
                </a:tc>
              </a:tr>
              <a:tr h="74352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Why 1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왜 송금이 불편할까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송금하려면 절차가 복잡하고 시간이 많이 걸린다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74352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Why 2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왜 절차가 복잡할까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공인인증서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보안카드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OTP </a:t>
                      </a: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등 여러 인증수단이 필요하다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79409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Why 3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왜 여러 인증수단이 필요할까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보안상의 이유로 신원 확인과 계좌 인증을 반복적으로 요구한다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74352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Why 4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왜 그렇게까지 보안을 강화해야 했을까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기존 시스템은 보안을 사람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사용자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의 책임에 의존하고 있다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74352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Why 5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왜 사용자에게 보안을 맡기면 문제가 될까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?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사용자는 보안 절차를 어려워하고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xmlns:mc="http://schemas.openxmlformats.org/markup-compatibility/2006" xmlns:hp="http://schemas.haansoft.com/office/presentation/8.0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함초롬바탕"/>
                        </a:rPr>
                        <a:t>편리함을 우선하기 때문이다</a:t>
                      </a:r>
                      <a:r>
                        <a:rPr xmlns:mc="http://schemas.openxmlformats.org/markup-compatibility/2006" xmlns:hp="http://schemas.haansoft.com/office/presentation/8.0" lang="EN-US" sz="1400" b="0" i="0" u="none" strike="noStrike" baseline="0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endParaRPr xmlns:mc="http://schemas.openxmlformats.org/markup-compatibility/2006" xmlns:hp="http://schemas.haansoft.com/office/presentation/8.0" lang="EN-US" sz="1400" b="0" i="0" u="none" strike="noStrike" baseline="0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896533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Toss</a:t>
            </a:r>
            <a:r>
              <a:rPr lang="ko-KR" altLang="en-US"/>
              <a:t>가 제시한 해결책</a:t>
            </a:r>
            <a:endParaRPr lang="ko-KR" altLang="en-US"/>
          </a:p>
        </p:txBody>
      </p:sp>
      <p:sp>
        <p:nvSpPr>
          <p:cNvPr id="3" name="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 sz="2100"/>
              <a:t>문제점</a:t>
            </a:r>
            <a:endParaRPr lang="ko-KR" altLang="en-US" sz="2100"/>
          </a:p>
          <a:p>
            <a:pPr marL="0" lvl="0" indent="0">
              <a:buNone/>
              <a:defRPr/>
            </a:pPr>
            <a:r>
              <a:rPr lang="ko-KR" altLang="en-US" sz="2100"/>
              <a:t>“기존 송금 시스템은 사용자의 편리함보다 보안 책임을 사용자에게 전가하고 있었기 때문에 불편했다.”</a:t>
            </a:r>
            <a:endParaRPr lang="ko-KR" altLang="en-US" sz="2100"/>
          </a:p>
          <a:p>
            <a:pPr lvl="0">
              <a:defRPr/>
            </a:pPr>
            <a:endParaRPr lang="ko-KR" altLang="en-US" sz="2100"/>
          </a:p>
          <a:p>
            <a:pPr lvl="0">
              <a:defRPr/>
            </a:pPr>
            <a:r>
              <a:rPr lang="ko-KR" altLang="en-US" sz="2100"/>
              <a:t>해결방안</a:t>
            </a:r>
            <a:endParaRPr lang="ko-KR" altLang="en-US" sz="2100"/>
          </a:p>
          <a:p>
            <a:pPr marL="0" lvl="0" indent="0">
              <a:buNone/>
              <a:defRPr/>
            </a:pPr>
            <a:r>
              <a:rPr lang="ko-KR" altLang="en-US" sz="2100"/>
              <a:t>사용자는 보안을 책임지는 존재가 아니다 → 시스템이 보안을 자동으로 책임져야 한다.</a:t>
            </a:r>
            <a:endParaRPr lang="ko-KR" altLang="en-US" sz="2100"/>
          </a:p>
          <a:p>
            <a:pPr marL="0" lvl="0" indent="0">
              <a:buNone/>
              <a:defRPr/>
            </a:pPr>
            <a:r>
              <a:rPr lang="ko-KR" altLang="en-US" sz="2100"/>
              <a:t>따라서, 토스는: 공인인증서 제거</a:t>
            </a:r>
            <a:r>
              <a:rPr lang="en-US" altLang="ko-KR" sz="2100"/>
              <a:t>,</a:t>
            </a:r>
            <a:r>
              <a:rPr lang="ko-KR" altLang="en-US" sz="2100"/>
              <a:t> 6자리 비밀번호와 간편 인증 도입</a:t>
            </a:r>
            <a:r>
              <a:rPr lang="en-US" altLang="ko-KR" sz="2100"/>
              <a:t>,</a:t>
            </a:r>
            <a:r>
              <a:rPr lang="ko-KR" altLang="en-US" sz="2100"/>
              <a:t> UI/UX 단순화</a:t>
            </a:r>
            <a:r>
              <a:rPr lang="en-US" altLang="ko-KR" sz="2100"/>
              <a:t>,</a:t>
            </a:r>
            <a:r>
              <a:rPr lang="ko-KR" altLang="en-US" sz="2100"/>
              <a:t> 보안은 백그라운드에서 자동 처리</a:t>
            </a:r>
            <a:endParaRPr lang="ko-KR" altLang="en-US" sz="2100"/>
          </a:p>
        </p:txBody>
      </p:sp>
    </p:spTree>
    <p:extLst>
      <p:ext uri="{BB962C8B-B14F-4D97-AF65-F5344CB8AC3E}">
        <p14:creationId xmlns:p14="http://schemas.microsoft.com/office/powerpoint/2010/main" val="3959814476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97626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2</a:t>
            </a:r>
            <a:r>
              <a:rPr lang="ko-KR" altLang="en-US" sz="2800" b="1">
                <a:latin typeface="맑은 고딕"/>
                <a:ea typeface="맑은 고딕"/>
              </a:rPr>
              <a:t>. 2x2 매트릭스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169" y="1449166"/>
            <a:ext cx="3975577" cy="3694334"/>
          </a:xfrm>
        </p:spPr>
        <p:txBody>
          <a:bodyPr>
            <a:normAutofit/>
          </a:bodyPr>
          <a:lstStyle/>
          <a:p>
            <a:pPr marL="266700" lvl="0" indent="-306700">
              <a:buFont typeface="Wingdings"/>
              <a:buChar char="§"/>
              <a:defRPr/>
            </a:pPr>
            <a:r>
              <a:rPr lang="ko-KR" altLang="en-US" sz="1500">
                <a:latin typeface="맑은 고딕"/>
                <a:ea typeface="맑은 고딕"/>
              </a:rPr>
              <a:t>두 개의 기준 축(예: 중요도 vs 긴급도)을 기준으로 사안을 네 가지로 나누는 분석 도구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r>
              <a:rPr lang="en-US" altLang="ko-KR" sz="1500">
                <a:latin typeface="맑은 고딕"/>
                <a:ea typeface="맑은 고딕"/>
              </a:rPr>
              <a:t>우선순위 결정</a:t>
            </a:r>
            <a:endParaRPr lang="en-US" altLang="ko-KR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en-US" altLang="ko-KR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r>
              <a:rPr lang="en-US" altLang="ko-KR" sz="1500">
                <a:latin typeface="맑은 고딕"/>
                <a:ea typeface="맑은 고딕"/>
              </a:rPr>
              <a:t>전략적 판단을 돕는 시각화 도구</a:t>
            </a:r>
            <a:endParaRPr lang="en-US" altLang="ko-KR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en-US" altLang="ko-KR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r>
              <a:rPr lang="en-US" altLang="ko-KR" sz="1500">
                <a:latin typeface="맑은 고딕"/>
                <a:ea typeface="맑은 고딕"/>
              </a:rPr>
              <a:t>대표적인 유형: 아이젠하워 매트릭스 (업무 우선순위 매트릭스)</a:t>
            </a:r>
            <a:endParaRPr lang="en-US" altLang="ko-KR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4571999" y="1449165"/>
          <a:ext cx="4229098" cy="274296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98777"/>
                <a:gridCol w="1620947"/>
                <a:gridCol w="1409373"/>
              </a:tblGrid>
              <a:tr h="74093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latin typeface="맑은 고딕"/>
                          <a:ea typeface="맑은 고딕"/>
                        </a:rPr>
                        <a:t>긴급</a:t>
                      </a:r>
                      <a:endParaRPr lang="ko-KR" altLang="en-US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latin typeface="맑은 고딕"/>
                          <a:ea typeface="맑은 고딕"/>
                        </a:rPr>
                        <a:t>비긴급</a:t>
                      </a:r>
                      <a:endParaRPr lang="ko-KR" altLang="en-US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100101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중요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지금 바로 실행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일정 잡고 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나중에 처리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100101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비중요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위임하거나 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자동화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과감히 제외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 b="1">
                          <a:latin typeface="맑은 고딕"/>
                          <a:ea typeface="맑은 고딕"/>
                        </a:rPr>
                        <a:t>/</a:t>
                      </a:r>
                      <a:endParaRPr lang="en-US" altLang="ko-KR" b="1"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무시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906089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2</a:t>
            </a:r>
            <a:r>
              <a:rPr lang="ko-KR" altLang="en-US" sz="2800" b="1">
                <a:latin typeface="맑은 고딕"/>
                <a:ea typeface="맑은 고딕"/>
              </a:rPr>
              <a:t>. 2x2 매트릭스</a:t>
            </a:r>
            <a:r>
              <a:rPr lang="en-US" altLang="ko-KR" sz="2800" b="1">
                <a:solidFill>
                  <a:schemeClr val="tx1"/>
                </a:solidFill>
                <a:latin typeface="맑은 고딕"/>
                <a:ea typeface="맑은 고딕"/>
              </a:rPr>
              <a:t>(</a:t>
            </a:r>
            <a:r>
              <a:rPr lang="ko-KR" altLang="en-US" sz="2800" b="1">
                <a:solidFill>
                  <a:schemeClr val="tx1"/>
                </a:solidFill>
                <a:latin typeface="맑은 고딕"/>
                <a:ea typeface="맑은 고딕"/>
              </a:rPr>
              <a:t>피처크립 대응하기</a:t>
            </a:r>
            <a:r>
              <a:rPr lang="en-US" altLang="ko-KR" sz="2800" b="1">
                <a:solidFill>
                  <a:schemeClr val="tx1"/>
                </a:solidFill>
                <a:latin typeface="맑은 고딕"/>
                <a:ea typeface="맑은 고딕"/>
              </a:rPr>
              <a:t>)</a:t>
            </a:r>
            <a:endParaRPr lang="en-US" altLang="ko-KR" sz="2800" b="1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47" y="1528984"/>
            <a:ext cx="4451349" cy="2330450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837196" y="3914560"/>
            <a:ext cx="3079512" cy="23643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>
                <a:latin typeface="맑은 고딕"/>
                <a:ea typeface="맑은 고딕"/>
              </a:rPr>
              <a:t>출처 </a:t>
            </a:r>
            <a:r>
              <a:rPr lang="en-US" altLang="ko-KR" sz="1000">
                <a:latin typeface="맑은 고딕"/>
                <a:ea typeface="맑은 고딕"/>
              </a:rPr>
              <a:t>:https://brunch.co.kr/@kinghong/100</a:t>
            </a:r>
            <a:endParaRPr lang="en-US" altLang="ko-KR" sz="1000">
              <a:latin typeface="맑은 고딕"/>
              <a:ea typeface="맑은 고딕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822657" y="1449166"/>
          <a:ext cx="3864807" cy="2490087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095597"/>
                <a:gridCol w="1481430"/>
                <a:gridCol w="1287780"/>
              </a:tblGrid>
              <a:tr h="672623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endParaRPr lang="ko-KR" altLang="en-US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latin typeface="맑은 고딕"/>
                          <a:ea typeface="맑은 고딕"/>
                        </a:rPr>
                        <a:t>긴급</a:t>
                      </a:r>
                      <a:endParaRPr lang="ko-KR" altLang="en-US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latin typeface="맑은 고딕"/>
                          <a:ea typeface="맑은 고딕"/>
                        </a:rPr>
                        <a:t>비긴급</a:t>
                      </a:r>
                      <a:endParaRPr lang="ko-KR" altLang="en-US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90873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중요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잘라내는 기능</a:t>
                      </a:r>
                      <a:endParaRPr lang="ko-KR" altLang="en-US" sz="13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스크류</a:t>
                      </a:r>
                      <a:r>
                        <a:rPr lang="en-US" altLang="ko-KR" sz="1300" b="1"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 </a:t>
                      </a:r>
                      <a:endParaRPr lang="ko-KR" altLang="en-US" sz="1300" b="1"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줄 칼 등</a:t>
                      </a:r>
                      <a:endParaRPr lang="ko-KR" altLang="en-US" sz="13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  <a:tr h="90873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latin typeface="맑은 고딕"/>
                          <a:ea typeface="맑은 고딕"/>
                        </a:rPr>
                        <a:t>비중요</a:t>
                      </a:r>
                      <a:endParaRPr lang="ko-KR" altLang="en-US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다양한 모양의 칼</a:t>
                      </a:r>
                      <a:endParaRPr lang="ko-KR" altLang="en-US" sz="13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300" b="1">
                          <a:latin typeface="맑은 고딕"/>
                          <a:ea typeface="맑은 고딕"/>
                        </a:rPr>
                        <a:t>여러 사이즈의 작은 칼</a:t>
                      </a:r>
                      <a:endParaRPr lang="ko-KR" altLang="en-US" sz="1300" b="1">
                        <a:latin typeface="맑은 고딕"/>
                        <a:ea typeface="맑은 고딕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662276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모서리가 둥근 직사각형 28"/>
          <p:cNvSpPr/>
          <p:nvPr/>
        </p:nvSpPr>
        <p:spPr>
          <a:xfrm>
            <a:off x="904408" y="1102682"/>
            <a:ext cx="7214067" cy="3487460"/>
          </a:xfrm>
          <a:prstGeom prst="roundRect">
            <a:avLst>
              <a:gd name="adj" fmla="val 5208"/>
            </a:avLst>
          </a:prstGeom>
          <a:solidFill>
            <a:srgbClr val="faf3db"/>
          </a:solidFill>
          <a:ln>
            <a:solidFill>
              <a:schemeClr val="lt1"/>
            </a:solidFill>
          </a:ln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5459522" y="4782447"/>
            <a:ext cx="3422210" cy="236936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>
                <a:latin typeface="맑은 고딕"/>
                <a:ea typeface="맑은 고딕"/>
              </a:rPr>
              <a:t>참조</a:t>
            </a:r>
            <a:r>
              <a:rPr lang="en-US" altLang="ko-KR" sz="1000">
                <a:latin typeface="맑은 고딕"/>
                <a:ea typeface="맑은 고딕"/>
              </a:rPr>
              <a:t>:</a:t>
            </a:r>
            <a:r>
              <a:rPr lang="ko-KR" altLang="en-US" sz="1000">
                <a:latin typeface="맑은 고딕"/>
                <a:ea typeface="맑은 고딕"/>
              </a:rPr>
              <a:t> 세상 모든 </a:t>
            </a:r>
            <a:r>
              <a:rPr lang="en-US" altLang="ko-KR" sz="1000">
                <a:latin typeface="맑은 고딕"/>
                <a:ea typeface="맑은 고딕"/>
              </a:rPr>
              <a:t>CEO</a:t>
            </a:r>
            <a:r>
              <a:rPr lang="ko-KR" altLang="en-US" sz="1000">
                <a:latin typeface="맑은 고딕"/>
                <a:ea typeface="맑은 고딕"/>
              </a:rPr>
              <a:t>가 묻고 싶은 질문들</a:t>
            </a:r>
            <a:r>
              <a:rPr lang="en-US" altLang="ko-KR" sz="1000">
                <a:latin typeface="맑은 고딕"/>
                <a:ea typeface="맑은 고딕"/>
              </a:rPr>
              <a:t>(</a:t>
            </a:r>
            <a:r>
              <a:rPr lang="ko-KR" altLang="en-US" sz="1000">
                <a:latin typeface="맑은 고딕"/>
                <a:ea typeface="맑은 고딕"/>
              </a:rPr>
              <a:t>위즈덤 하우스</a:t>
            </a:r>
            <a:r>
              <a:rPr lang="en-US" altLang="ko-KR" sz="1000">
                <a:latin typeface="맑은 고딕"/>
                <a:ea typeface="맑은 고딕"/>
              </a:rPr>
              <a:t>)</a:t>
            </a:r>
            <a:endParaRPr lang="en-US" altLang="ko-KR" sz="1000">
              <a:latin typeface="맑은 고딕"/>
              <a:ea typeface="맑은 고딕"/>
            </a:endParaRPr>
          </a:p>
        </p:txBody>
      </p:sp>
      <p:sp>
        <p:nvSpPr>
          <p:cNvPr id="22" name="가로 글상자 21"/>
          <p:cNvSpPr txBox="1"/>
          <p:nvPr/>
        </p:nvSpPr>
        <p:spPr>
          <a:xfrm>
            <a:off x="904408" y="2786287"/>
            <a:ext cx="797909" cy="3180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500" b="1">
                <a:latin typeface="맑은 고딕"/>
                <a:ea typeface="맑은 고딕"/>
              </a:rPr>
              <a:t>중요성</a:t>
            </a:r>
            <a:endParaRPr lang="ko-KR" altLang="en-US" sz="1500" b="1">
              <a:latin typeface="맑은 고딕"/>
              <a:ea typeface="맑은 고딕"/>
            </a:endParaRPr>
          </a:p>
        </p:txBody>
      </p:sp>
      <p:grpSp>
        <p:nvGrpSpPr>
          <p:cNvPr id="27" name=""/>
          <p:cNvGrpSpPr/>
          <p:nvPr/>
        </p:nvGrpSpPr>
        <p:grpSpPr>
          <a:xfrm rot="0">
            <a:off x="1654692" y="1227067"/>
            <a:ext cx="5978125" cy="3076328"/>
            <a:chOff x="944622" y="83059"/>
            <a:chExt cx="7691617" cy="4242231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1714500" y="641683"/>
              <a:ext cx="2492256" cy="307951"/>
            </a:xfrm>
            <a:prstGeom prst="roundRect">
              <a:avLst>
                <a:gd name="adj" fmla="val 16667"/>
              </a:avLst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ko-KR" altLang="en-US" sz="1300" b="1">
                  <a:latin typeface="맑은 고딕"/>
                  <a:ea typeface="맑은 고딕"/>
                </a:rPr>
                <a:t>반드시 위임할 것</a:t>
              </a:r>
              <a:endParaRPr lang="ko-KR" altLang="en-US" sz="1300" b="1">
                <a:latin typeface="맑은 고딕"/>
                <a:ea typeface="맑은 고딕"/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1714500" y="2680678"/>
              <a:ext cx="2492256" cy="307951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300" b="1">
                  <a:latin typeface="맑은 고딕"/>
                  <a:ea typeface="맑은 고딕"/>
                </a:rPr>
                <a:t>위임 또는 제거</a:t>
              </a:r>
              <a:endParaRPr lang="ko-KR" altLang="en-US" sz="1300" b="1">
                <a:latin typeface="맑은 고딕"/>
                <a:ea typeface="맑은 고딕"/>
              </a:endParaRPr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5247202" y="641683"/>
              <a:ext cx="2492256" cy="307951"/>
            </a:xfrm>
            <a:prstGeom prst="roundRect">
              <a:avLst>
                <a:gd name="adj" fmla="val 16667"/>
              </a:avLst>
            </a:prstGeom>
            <a:solidFill>
              <a:schemeClr val="dk2"/>
            </a:solidFill>
            <a:ln>
              <a:solidFill>
                <a:schemeClr val="dk2"/>
              </a:solidFill>
            </a:ln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300" b="1">
                  <a:latin typeface="맑은 고딕"/>
                  <a:ea typeface="맑은 고딕"/>
                </a:rPr>
                <a:t>직접 처리할 것</a:t>
              </a:r>
              <a:endParaRPr lang="ko-KR" altLang="en-US" sz="1300" b="1">
                <a:latin typeface="맑은 고딕"/>
                <a:ea typeface="맑은 고딕"/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5247202" y="2680678"/>
              <a:ext cx="2492256" cy="307951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solidFill>
                <a:srgbClr val="3a3c84"/>
              </a:solidFill>
            </a:ln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300" b="1">
                  <a:latin typeface="맑은 고딕"/>
                  <a:ea typeface="맑은 고딕"/>
                </a:rPr>
                <a:t>코칭 통해 위임할 것</a:t>
              </a:r>
              <a:endParaRPr lang="ko-KR" altLang="en-US" sz="1300" b="1">
                <a:latin typeface="맑은 고딕"/>
                <a:ea typeface="맑은 고딕"/>
              </a:endParaRPr>
            </a:p>
          </p:txBody>
        </p:sp>
        <p:cxnSp>
          <p:nvCxnSpPr>
            <p:cNvPr id="18" name="화살표 17"/>
            <p:cNvCxnSpPr/>
            <p:nvPr/>
          </p:nvCxnSpPr>
          <p:spPr>
            <a:xfrm>
              <a:off x="944622" y="2439259"/>
              <a:ext cx="7691617" cy="0"/>
            </a:xfrm>
            <a:prstGeom prst="straightConnector1">
              <a:avLst/>
            </a:prstGeom>
            <a:ln w="12700">
              <a:solidFill>
                <a:srgbClr val="0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화살표 19"/>
            <p:cNvCxnSpPr/>
            <p:nvPr/>
          </p:nvCxnSpPr>
          <p:spPr>
            <a:xfrm rot="16200000" flipH="1" flipV="1">
              <a:off x="2798717" y="2353736"/>
              <a:ext cx="3747097" cy="1"/>
            </a:xfrm>
            <a:prstGeom prst="straightConnector1">
              <a:avLst/>
            </a:prstGeom>
            <a:ln w="12700">
              <a:solidFill>
                <a:srgbClr val="0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가로 글상자 20"/>
            <p:cNvSpPr txBox="1"/>
            <p:nvPr/>
          </p:nvSpPr>
          <p:spPr>
            <a:xfrm>
              <a:off x="4150631" y="83059"/>
              <a:ext cx="1181643" cy="43311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500" b="1">
                  <a:latin typeface="맑은 고딕"/>
                  <a:ea typeface="맑은 고딕"/>
                </a:rPr>
                <a:t>시급성</a:t>
              </a:r>
              <a:endParaRPr lang="ko-KR" altLang="en-US" sz="1500" b="1">
                <a:latin typeface="맑은 고딕"/>
                <a:ea typeface="맑은 고딕"/>
              </a:endParaRPr>
            </a:p>
          </p:txBody>
        </p:sp>
        <p:sp>
          <p:nvSpPr>
            <p:cNvPr id="23" name="가로 글상자 22"/>
            <p:cNvSpPr txBox="1"/>
            <p:nvPr/>
          </p:nvSpPr>
          <p:spPr>
            <a:xfrm>
              <a:off x="1445938" y="1069733"/>
              <a:ext cx="3029380" cy="11539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부문별 계획 수립 및 중간 점검</a:t>
              </a:r>
              <a:endParaRPr lang="ko-KR" altLang="en-US" sz="1100" b="1">
                <a:latin typeface="맑은 고딕"/>
                <a:ea typeface="맑은 고딕"/>
              </a:endParaRPr>
            </a:p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일정 금액 이하 결제</a:t>
              </a:r>
              <a:endParaRPr lang="ko-KR" altLang="en-US" sz="1100" b="1">
                <a:latin typeface="맑은 고딕"/>
                <a:ea typeface="맑은 고딕"/>
              </a:endParaRPr>
            </a:p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단기적 경비 절감</a:t>
              </a:r>
              <a:endParaRPr lang="ko-KR" altLang="en-US" sz="1100" b="1">
                <a:latin typeface="맑은 고딕"/>
                <a:ea typeface="맑은 고딕"/>
              </a:endParaRPr>
            </a:p>
          </p:txBody>
        </p:sp>
        <p:sp>
          <p:nvSpPr>
            <p:cNvPr id="24" name="가로 글상자 23"/>
            <p:cNvSpPr txBox="1"/>
            <p:nvPr/>
          </p:nvSpPr>
          <p:spPr>
            <a:xfrm>
              <a:off x="5247201" y="1067957"/>
              <a:ext cx="3029380" cy="11557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비전 및 전략 제시</a:t>
              </a:r>
              <a:endParaRPr lang="ko-KR" altLang="en-US" sz="1100" b="1">
                <a:latin typeface="맑은 고딕"/>
                <a:ea typeface="맑은 고딕"/>
              </a:endParaRPr>
            </a:p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위기 대응</a:t>
              </a:r>
              <a:endParaRPr lang="ko-KR" altLang="en-US" sz="1100" b="1">
                <a:latin typeface="맑은 고딕"/>
                <a:ea typeface="맑은 고딕"/>
              </a:endParaRPr>
            </a:p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투자 결정</a:t>
              </a:r>
              <a:endParaRPr lang="ko-KR" altLang="en-US" sz="1100" b="1">
                <a:latin typeface="맑은 고딕"/>
                <a:ea typeface="맑은 고딕"/>
              </a:endParaRPr>
            </a:p>
          </p:txBody>
        </p:sp>
        <p:sp>
          <p:nvSpPr>
            <p:cNvPr id="25" name="가로 글상자 24"/>
            <p:cNvSpPr txBox="1"/>
            <p:nvPr/>
          </p:nvSpPr>
          <p:spPr>
            <a:xfrm>
              <a:off x="1445938" y="3165519"/>
              <a:ext cx="3029380" cy="11597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정보 전달 </a:t>
              </a:r>
              <a:r>
                <a:rPr lang="en-US" altLang="ko-KR" sz="1100" b="1">
                  <a:latin typeface="맑은 고딕"/>
                  <a:ea typeface="맑은 고딕"/>
                </a:rPr>
                <a:t>/</a:t>
              </a:r>
              <a:r>
                <a:rPr lang="ko-KR" altLang="en-US" sz="1100" b="1">
                  <a:latin typeface="맑은 고딕"/>
                  <a:ea typeface="맑은 고딕"/>
                </a:rPr>
                <a:t> 통보성 회의</a:t>
              </a:r>
              <a:endParaRPr lang="ko-KR" altLang="en-US" sz="1100" b="1">
                <a:latin typeface="맑은 고딕"/>
                <a:ea typeface="맑은 고딕"/>
              </a:endParaRPr>
            </a:p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현황 파악</a:t>
              </a:r>
              <a:endParaRPr lang="ko-KR" altLang="en-US" sz="1100" b="1">
                <a:latin typeface="맑은 고딕"/>
                <a:ea typeface="맑은 고딕"/>
              </a:endParaRPr>
            </a:p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단기적 경비 절감</a:t>
              </a:r>
              <a:endParaRPr lang="ko-KR" altLang="en-US" sz="1100" b="1">
                <a:latin typeface="맑은 고딕"/>
                <a:ea typeface="맑은 고딕"/>
              </a:endParaRPr>
            </a:p>
          </p:txBody>
        </p:sp>
        <p:sp>
          <p:nvSpPr>
            <p:cNvPr id="26" name="가로 글상자 25"/>
            <p:cNvSpPr txBox="1"/>
            <p:nvPr/>
          </p:nvSpPr>
          <p:spPr>
            <a:xfrm>
              <a:off x="5247201" y="3165519"/>
              <a:ext cx="3029380" cy="11597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인력 개발</a:t>
              </a:r>
              <a:endParaRPr lang="ko-KR" altLang="en-US" sz="1100" b="1">
                <a:latin typeface="맑은 고딕"/>
                <a:ea typeface="맑은 고딕"/>
              </a:endParaRPr>
            </a:p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신성장 동력 발굴</a:t>
              </a:r>
              <a:endParaRPr lang="ko-KR" altLang="en-US" sz="1100" b="1">
                <a:latin typeface="맑은 고딕"/>
                <a:ea typeface="맑은 고딕"/>
              </a:endParaRPr>
            </a:p>
            <a:p>
              <a:pPr marL="214200" lvl="0" indent="-214200">
                <a:lnSpc>
                  <a:spcPct val="150000"/>
                </a:lnSpc>
                <a:buFont typeface="Wingdings"/>
                <a:buChar char="§"/>
                <a:defRPr/>
              </a:pPr>
              <a:r>
                <a:rPr lang="ko-KR" altLang="en-US" sz="1100" b="1">
                  <a:latin typeface="맑은 고딕"/>
                  <a:ea typeface="맑은 고딕"/>
                </a:rPr>
                <a:t>업무 프로세스 재설계</a:t>
              </a:r>
              <a:endParaRPr lang="ko-KR" altLang="en-US" sz="1100" b="1">
                <a:latin typeface="맑은 고딕"/>
                <a:ea typeface="맑은 고딕"/>
              </a:endParaRPr>
            </a:p>
          </p:txBody>
        </p:sp>
      </p:grpSp>
      <p:sp>
        <p:nvSpPr>
          <p:cNvPr id="28" name="Title 1"/>
          <p:cNvSpPr>
            <a:spLocks noGrp="1"/>
          </p:cNvSpPr>
          <p:nvPr>
            <p:ph type="title" idx="0"/>
          </p:nvPr>
        </p:nvSpPr>
        <p:spPr>
          <a:xfrm>
            <a:off x="323849" y="92851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2</a:t>
            </a:r>
            <a:r>
              <a:rPr lang="ko-KR" altLang="en-US" sz="2800" b="1">
                <a:latin typeface="맑은 고딕"/>
                <a:ea typeface="맑은 고딕"/>
              </a:rPr>
              <a:t>. 2x2 매트릭스</a:t>
            </a:r>
            <a:r>
              <a:rPr lang="en-US" altLang="ko-KR" sz="2800" b="1">
                <a:solidFill>
                  <a:schemeClr val="tx1"/>
                </a:solidFill>
                <a:latin typeface="맑은 고딕"/>
                <a:ea typeface="맑은 고딕"/>
              </a:rPr>
              <a:t>(</a:t>
            </a:r>
            <a:r>
              <a:rPr lang="ko-KR" altLang="en-US" sz="2800" b="1">
                <a:solidFill>
                  <a:schemeClr val="tx1"/>
                </a:solidFill>
                <a:latin typeface="맑은 고딕"/>
                <a:ea typeface="맑은 고딕"/>
              </a:rPr>
              <a:t>관리자로서 권한 위임하기</a:t>
            </a:r>
            <a:r>
              <a:rPr lang="en-US" altLang="ko-KR" sz="2800" b="1">
                <a:solidFill>
                  <a:schemeClr val="tx1"/>
                </a:solidFill>
                <a:latin typeface="맑은 고딕"/>
                <a:ea typeface="맑은 고딕"/>
              </a:rPr>
              <a:t>)</a:t>
            </a:r>
            <a:endParaRPr lang="en-US" altLang="ko-KR" sz="2800" b="1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26630521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3</a:t>
            </a:r>
            <a:r>
              <a:rPr lang="ko-KR" altLang="en-US" sz="2800" b="1">
                <a:latin typeface="맑은 고딕"/>
                <a:ea typeface="맑은 고딕"/>
              </a:rPr>
              <a:t>. 골든 서클 (Golden Circle)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009650"/>
            <a:ext cx="4430384" cy="3720704"/>
          </a:xfrm>
        </p:spPr>
        <p:txBody>
          <a:bodyPr/>
          <a:lstStyle/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500">
                <a:latin typeface="맑은 고딕"/>
                <a:ea typeface="맑은 고딕"/>
              </a:rPr>
              <a:t>위대한 조직은 </a:t>
            </a:r>
            <a:r>
              <a:rPr lang="ko-KR" altLang="en-US" sz="1500" b="1">
                <a:solidFill>
                  <a:schemeClr val="tx1"/>
                </a:solidFill>
                <a:latin typeface="맑은 고딕"/>
                <a:ea typeface="맑은 고딕"/>
              </a:rPr>
              <a:t>Why → How → What </a:t>
            </a:r>
            <a:r>
              <a:rPr lang="ko-KR" altLang="en-US" sz="1500">
                <a:latin typeface="맑은 고딕"/>
                <a:ea typeface="맑은 고딕"/>
              </a:rPr>
              <a:t>순서로 생각한다</a:t>
            </a: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Why :</a:t>
            </a:r>
            <a:r>
              <a:rPr lang="ko-KR" altLang="en-US" sz="1500">
                <a:latin typeface="맑은 고딕"/>
                <a:ea typeface="맑은 고딕"/>
              </a:rPr>
              <a:t> 왜 만드는 것인가?</a:t>
            </a:r>
            <a:r>
              <a:rPr lang="en-US" altLang="ko-KR" sz="1500">
                <a:latin typeface="맑은 고딕"/>
                <a:ea typeface="맑은 고딕"/>
              </a:rPr>
              <a:t>,</a:t>
            </a:r>
            <a:r>
              <a:rPr lang="ko-KR" altLang="en-US" sz="1500">
                <a:latin typeface="맑은 고딕"/>
                <a:ea typeface="맑은 고딕"/>
              </a:rPr>
              <a:t> </a:t>
            </a:r>
            <a:r>
              <a:rPr lang="ko-KR" altLang="en-US" sz="1500" u="sng">
                <a:latin typeface="맑은 고딕"/>
                <a:ea typeface="맑은 고딕"/>
              </a:rPr>
              <a:t>목적과 존재 이유</a:t>
            </a:r>
            <a:endParaRPr lang="ko-KR" altLang="en-US" sz="1500" u="sng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 u="sng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How :</a:t>
            </a:r>
            <a:r>
              <a:rPr lang="ko-KR" altLang="en-US" sz="1500">
                <a:latin typeface="맑은 고딕"/>
                <a:ea typeface="맑은 고딕"/>
              </a:rPr>
              <a:t> 어떻게 해결할 것인가? 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          </a:t>
            </a:r>
            <a:r>
              <a:rPr lang="en-US" altLang="ko-KR" sz="1500" u="sng">
                <a:latin typeface="맑은 고딕"/>
                <a:ea typeface="맑은 고딕"/>
              </a:rPr>
              <a:t>why</a:t>
            </a:r>
            <a:r>
              <a:rPr lang="ko-KR" altLang="en-US" sz="1500" u="sng">
                <a:latin typeface="맑은 고딕"/>
                <a:ea typeface="맑은 고딕"/>
              </a:rPr>
              <a:t>를 실현하기 위한 구체적인 행동</a:t>
            </a:r>
            <a:endParaRPr lang="ko-KR" altLang="en-US" sz="1500" u="sng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 u="sng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What :</a:t>
            </a:r>
            <a:r>
              <a:rPr lang="ko-KR" altLang="en-US" sz="1500">
                <a:latin typeface="맑은 고딕"/>
                <a:ea typeface="맑은 고딕"/>
              </a:rPr>
              <a:t> 어떤 기능을 만들 것인가?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           </a:t>
            </a:r>
            <a:r>
              <a:rPr lang="ko-KR" altLang="en-US" sz="1500" u="sng">
                <a:latin typeface="맑은 고딕"/>
                <a:ea typeface="맑은 고딕"/>
              </a:rPr>
              <a:t>행동의 결과물</a:t>
            </a:r>
            <a:r>
              <a:rPr lang="en-US" altLang="ko-KR" sz="1500" u="sng">
                <a:latin typeface="맑은 고딕"/>
                <a:ea typeface="맑은 고딕"/>
              </a:rPr>
              <a:t>(</a:t>
            </a:r>
            <a:r>
              <a:rPr lang="ko-KR" altLang="en-US" sz="1500" u="sng">
                <a:latin typeface="맑은 고딕"/>
                <a:ea typeface="맑은 고딕"/>
              </a:rPr>
              <a:t>제품</a:t>
            </a:r>
            <a:r>
              <a:rPr lang="en-US" altLang="ko-KR" sz="1500" u="sng">
                <a:latin typeface="맑은 고딕"/>
                <a:ea typeface="맑은 고딕"/>
              </a:rPr>
              <a:t>,</a:t>
            </a:r>
            <a:r>
              <a:rPr lang="ko-KR" altLang="en-US" sz="1500" u="sng">
                <a:latin typeface="맑은 고딕"/>
                <a:ea typeface="맑은 고딕"/>
              </a:rPr>
              <a:t> 서비스</a:t>
            </a:r>
            <a:r>
              <a:rPr lang="en-US" altLang="ko-KR" sz="1500" u="sng">
                <a:latin typeface="맑은 고딕"/>
                <a:ea typeface="맑은 고딕"/>
              </a:rPr>
              <a:t>)</a:t>
            </a:r>
            <a:endParaRPr lang="en-US" altLang="ko-KR" sz="1500" u="sng">
              <a:latin typeface="맑은 고딕"/>
              <a:ea typeface="맑은 고딕"/>
            </a:endParaRPr>
          </a:p>
        </p:txBody>
      </p:sp>
      <p:grpSp>
        <p:nvGrpSpPr>
          <p:cNvPr id="17" name=""/>
          <p:cNvGrpSpPr/>
          <p:nvPr/>
        </p:nvGrpSpPr>
        <p:grpSpPr>
          <a:xfrm rot="0">
            <a:off x="5091088" y="1111603"/>
            <a:ext cx="3331230" cy="3375687"/>
            <a:chOff x="5091087" y="1111603"/>
            <a:chExt cx="3331230" cy="3375687"/>
          </a:xfrm>
        </p:grpSpPr>
        <p:sp>
          <p:nvSpPr>
            <p:cNvPr id="4" name="타원 3"/>
            <p:cNvSpPr/>
            <p:nvPr/>
          </p:nvSpPr>
          <p:spPr>
            <a:xfrm>
              <a:off x="5091087" y="1111603"/>
              <a:ext cx="3331230" cy="3375687"/>
            </a:xfrm>
            <a:prstGeom prst="ellipse">
              <a:avLst/>
            </a:prstGeom>
            <a:solidFill>
              <a:srgbClr val="f4e5b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5574897" y="1692829"/>
              <a:ext cx="2363611" cy="2297195"/>
            </a:xfrm>
            <a:prstGeom prst="ellipse">
              <a:avLst/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6094757" y="2224429"/>
              <a:ext cx="1323891" cy="1291145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8" name="가로 글상자 7"/>
            <p:cNvSpPr txBox="1"/>
            <p:nvPr/>
          </p:nvSpPr>
          <p:spPr>
            <a:xfrm>
              <a:off x="6373950" y="2657869"/>
              <a:ext cx="765506" cy="36711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en-US" altLang="ko-KR" b="1">
                  <a:latin typeface="맑은 고딕"/>
                  <a:ea typeface="맑은 고딕"/>
                </a:rPr>
                <a:t>WHY</a:t>
              </a:r>
              <a:endParaRPr lang="en-US" altLang="ko-KR" b="1">
                <a:latin typeface="맑은 고딕"/>
                <a:ea typeface="맑은 고딕"/>
              </a:endParaRPr>
            </a:p>
          </p:txBody>
        </p:sp>
        <p:sp>
          <p:nvSpPr>
            <p:cNvPr id="11" name="가로 글상자 10"/>
            <p:cNvSpPr txBox="1"/>
            <p:nvPr/>
          </p:nvSpPr>
          <p:spPr>
            <a:xfrm>
              <a:off x="6354900" y="1886577"/>
              <a:ext cx="934969" cy="3594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b="1">
                  <a:latin typeface="맑은 고딕"/>
                  <a:ea typeface="맑은 고딕"/>
                </a:rPr>
                <a:t>HOW</a:t>
              </a:r>
              <a:endParaRPr lang="en-US" altLang="ko-KR" b="1">
                <a:latin typeface="맑은 고딕"/>
                <a:ea typeface="맑은 고딕"/>
              </a:endParaRPr>
            </a:p>
          </p:txBody>
        </p:sp>
        <p:sp>
          <p:nvSpPr>
            <p:cNvPr id="12" name="가로 글상자 11"/>
            <p:cNvSpPr txBox="1"/>
            <p:nvPr/>
          </p:nvSpPr>
          <p:spPr>
            <a:xfrm>
              <a:off x="6326325" y="1273528"/>
              <a:ext cx="934969" cy="3671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b="1">
                  <a:latin typeface="맑은 고딕"/>
                  <a:ea typeface="맑은 고딕"/>
                </a:rPr>
                <a:t>WHAT</a:t>
              </a:r>
              <a:endParaRPr lang="en-US" altLang="ko-KR" b="1">
                <a:latin typeface="맑은 고딕"/>
                <a:ea typeface="맑은 고딕"/>
              </a:endParaRPr>
            </a:p>
          </p:txBody>
        </p:sp>
        <p:cxnSp>
          <p:nvCxnSpPr>
            <p:cNvPr id="13" name="화살표 12"/>
            <p:cNvCxnSpPr/>
            <p:nvPr/>
          </p:nvCxnSpPr>
          <p:spPr>
            <a:xfrm rot="5400000" flipH="1" flipV="1">
              <a:off x="6505464" y="1744684"/>
              <a:ext cx="1384340" cy="442029"/>
            </a:xfrm>
            <a:prstGeom prst="straightConnector1">
              <a:avLst/>
            </a:prstGeom>
            <a:ln w="38100">
              <a:solidFill>
                <a:schemeClr val="accent1">
                  <a:shade val="95000"/>
                  <a:satMod val="10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화살표 13"/>
            <p:cNvCxnSpPr/>
            <p:nvPr/>
          </p:nvCxnSpPr>
          <p:spPr>
            <a:xfrm rot="16200000" flipH="1">
              <a:off x="5508794" y="1670895"/>
              <a:ext cx="1171928" cy="84011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곱셈 기호 14"/>
            <p:cNvSpPr/>
            <p:nvPr/>
          </p:nvSpPr>
          <p:spPr>
            <a:xfrm rot="19976026">
              <a:off x="5393746" y="1195024"/>
              <a:ext cx="362301" cy="367115"/>
            </a:xfrm>
            <a:prstGeom prst="mathMultiply">
              <a:avLst>
                <a:gd name="adj1" fmla="val 2352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en-US" altLang="ko-KR"/>
            </a:p>
          </p:txBody>
        </p:sp>
      </p:grpSp>
      <p:sp>
        <p:nvSpPr>
          <p:cNvPr id="16" name="도넛 15"/>
          <p:cNvSpPr/>
          <p:nvPr/>
        </p:nvSpPr>
        <p:spPr>
          <a:xfrm>
            <a:off x="7322037" y="990600"/>
            <a:ext cx="274647" cy="263878"/>
          </a:xfrm>
          <a:prstGeom prst="donut">
            <a:avLst>
              <a:gd name="adj" fmla="val 25000"/>
            </a:avLst>
          </a:pr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en-US" altLang="ko-K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033478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219" y="3205100"/>
            <a:ext cx="4440463" cy="550068"/>
          </a:xfrm>
        </p:spPr>
        <p:txBody>
          <a:bodyPr>
            <a:normAutofit/>
          </a:bodyPr>
          <a:p>
            <a:pPr marL="0" lvl="0" indent="0">
              <a:buNone/>
              <a:defRPr/>
            </a:pPr>
            <a:r>
              <a:rPr lang="ko-KR" altLang="en-US" sz="1300">
                <a:latin typeface="맑은 고딕"/>
                <a:ea typeface="맑은 고딕"/>
              </a:rPr>
              <a:t>Why</a:t>
            </a:r>
            <a:r>
              <a:rPr lang="en-US" altLang="ko-KR" sz="1300">
                <a:latin typeface="맑은 고딕"/>
                <a:ea typeface="맑은 고딕"/>
              </a:rPr>
              <a:t> </a:t>
            </a:r>
            <a:r>
              <a:rPr lang="ko-KR" altLang="en-US" sz="1300">
                <a:latin typeface="맑은 고딕"/>
                <a:ea typeface="맑은 고딕"/>
              </a:rPr>
              <a:t>: 복잡한 금융을 누구나 쉽게 만들자</a:t>
            </a:r>
            <a:endParaRPr lang="ko-KR" altLang="en-US" sz="13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3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300">
              <a:latin typeface="맑은 고딕"/>
              <a:ea typeface="맑은 고딕"/>
            </a:endParaRPr>
          </a:p>
        </p:txBody>
      </p:sp>
      <p:sp>
        <p:nvSpPr>
          <p:cNvPr id="17" name="Content Placeholder 2"/>
          <p:cNvSpPr>
            <a:spLocks noGrp="1"/>
          </p:cNvSpPr>
          <p:nvPr/>
        </p:nvSpPr>
        <p:spPr>
          <a:xfrm>
            <a:off x="1089856" y="1444978"/>
            <a:ext cx="6399953" cy="36662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 3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What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: 송금, 계좌조회, 보험/투자 연결 등 금융 슈퍼앱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18" name="Content Placeholder 2"/>
          <p:cNvSpPr>
            <a:spLocks noGrp="1"/>
          </p:cNvSpPr>
          <p:nvPr/>
        </p:nvSpPr>
        <p:spPr>
          <a:xfrm>
            <a:off x="1101219" y="2159041"/>
            <a:ext cx="5152526" cy="42856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 3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How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: 직관적인 UI, 인증 절차 간소화, 신뢰 기반 설계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 3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37" name=""/>
          <p:cNvGrpSpPr/>
          <p:nvPr/>
        </p:nvGrpSpPr>
        <p:grpSpPr>
          <a:xfrm rot="0">
            <a:off x="720589" y="1330678"/>
            <a:ext cx="7701729" cy="3375687"/>
            <a:chOff x="720589" y="1330678"/>
            <a:chExt cx="7701729" cy="3375687"/>
          </a:xfrm>
        </p:grpSpPr>
        <p:grpSp>
          <p:nvGrpSpPr>
            <p:cNvPr id="36" name=""/>
            <p:cNvGrpSpPr/>
            <p:nvPr/>
          </p:nvGrpSpPr>
          <p:grpSpPr>
            <a:xfrm rot="0">
              <a:off x="5091088" y="1330678"/>
              <a:ext cx="3331230" cy="3375687"/>
              <a:chOff x="5091087" y="1330678"/>
              <a:chExt cx="3331230" cy="3375687"/>
            </a:xfrm>
          </p:grpSpPr>
          <p:sp>
            <p:nvSpPr>
              <p:cNvPr id="5" name="타원 3"/>
              <p:cNvSpPr/>
              <p:nvPr/>
            </p:nvSpPr>
            <p:spPr>
              <a:xfrm>
                <a:off x="5091087" y="1330678"/>
                <a:ext cx="3331230" cy="3375687"/>
              </a:xfrm>
              <a:prstGeom prst="ellipse">
                <a:avLst/>
              </a:prstGeom>
              <a:solidFill>
                <a:srgbClr val="f4e5b2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6" name="타원 4"/>
              <p:cNvSpPr/>
              <p:nvPr/>
            </p:nvSpPr>
            <p:spPr>
              <a:xfrm>
                <a:off x="5574897" y="1911904"/>
                <a:ext cx="2363611" cy="2297195"/>
              </a:xfrm>
              <a:prstGeom prst="ellipse">
                <a:avLst/>
              </a:prstGeom>
              <a:solidFill>
                <a:srgbClr val="ffe766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6094757" y="2443504"/>
                <a:ext cx="1323891" cy="1291145"/>
              </a:xfrm>
              <a:prstGeom prst="ellipse">
                <a:avLst/>
              </a:prstGeom>
              <a:solidFill>
                <a:srgbClr val="ffd70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8" name="가로 글상자 7"/>
              <p:cNvSpPr txBox="1"/>
              <p:nvPr/>
            </p:nvSpPr>
            <p:spPr>
              <a:xfrm>
                <a:off x="6373950" y="2876944"/>
                <a:ext cx="765506" cy="367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b="1">
                    <a:latin typeface="맑은 고딕"/>
                    <a:ea typeface="맑은 고딕"/>
                  </a:rPr>
                  <a:t>WHY</a:t>
                </a:r>
                <a:endParaRPr lang="en-US" altLang="ko-KR" b="1">
                  <a:latin typeface="맑은 고딕"/>
                  <a:ea typeface="맑은 고딕"/>
                </a:endParaRPr>
              </a:p>
            </p:txBody>
          </p:sp>
          <p:sp>
            <p:nvSpPr>
              <p:cNvPr id="9" name="가로 글상자 10"/>
              <p:cNvSpPr txBox="1"/>
              <p:nvPr/>
            </p:nvSpPr>
            <p:spPr>
              <a:xfrm>
                <a:off x="6354900" y="2105652"/>
                <a:ext cx="934969" cy="3594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b="1">
                    <a:latin typeface="맑은 고딕"/>
                    <a:ea typeface="맑은 고딕"/>
                  </a:rPr>
                  <a:t>HOW</a:t>
                </a:r>
                <a:endParaRPr lang="en-US" altLang="ko-KR" b="1">
                  <a:latin typeface="맑은 고딕"/>
                  <a:ea typeface="맑은 고딕"/>
                </a:endParaRPr>
              </a:p>
            </p:txBody>
          </p:sp>
          <p:sp>
            <p:nvSpPr>
              <p:cNvPr id="10" name="가로 글상자 11"/>
              <p:cNvSpPr txBox="1"/>
              <p:nvPr/>
            </p:nvSpPr>
            <p:spPr>
              <a:xfrm>
                <a:off x="6326325" y="1492603"/>
                <a:ext cx="934969" cy="367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b="1">
                    <a:latin typeface="맑은 고딕"/>
                    <a:ea typeface="맑은 고딕"/>
                  </a:rPr>
                  <a:t>WHAT</a:t>
                </a:r>
                <a:endParaRPr lang="en-US" altLang="ko-KR" b="1">
                  <a:latin typeface="맑은 고딕"/>
                  <a:ea typeface="맑은 고딕"/>
                </a:endParaRPr>
              </a:p>
            </p:txBody>
          </p:sp>
        </p:grpSp>
        <p:cxnSp>
          <p:nvCxnSpPr>
            <p:cNvPr id="16" name="화살표 15"/>
            <p:cNvCxnSpPr/>
            <p:nvPr/>
          </p:nvCxnSpPr>
          <p:spPr>
            <a:xfrm rot="10800000">
              <a:off x="771248" y="3483769"/>
              <a:ext cx="5985455" cy="8"/>
            </a:xfrm>
            <a:prstGeom prst="straightConnector1">
              <a:avLst/>
            </a:prstGeom>
            <a:ln>
              <a:solidFill>
                <a:schemeClr val="accent1">
                  <a:shade val="95000"/>
                  <a:satMod val="10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화살표 18"/>
            <p:cNvCxnSpPr/>
            <p:nvPr/>
          </p:nvCxnSpPr>
          <p:spPr>
            <a:xfrm rot="10800000">
              <a:off x="720589" y="2424198"/>
              <a:ext cx="5674833" cy="0"/>
            </a:xfrm>
            <a:prstGeom prst="straightConnector1">
              <a:avLst/>
            </a:prstGeom>
            <a:ln>
              <a:solidFill>
                <a:schemeClr val="accent1">
                  <a:shade val="95000"/>
                  <a:satMod val="10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화살표 20"/>
            <p:cNvCxnSpPr/>
            <p:nvPr/>
          </p:nvCxnSpPr>
          <p:spPr>
            <a:xfrm rot="10800000">
              <a:off x="720589" y="1712501"/>
              <a:ext cx="5618882" cy="10"/>
            </a:xfrm>
            <a:prstGeom prst="straightConnector1">
              <a:avLst/>
            </a:prstGeom>
            <a:ln>
              <a:solidFill>
                <a:schemeClr val="accent1">
                  <a:shade val="95000"/>
                  <a:satMod val="10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itle 1"/>
          <p:cNvSpPr>
            <a:spLocks noGrp="1"/>
          </p:cNvSpPr>
          <p:nvPr>
            <p:ph type="title" idx="0"/>
          </p:nvPr>
        </p:nvSpPr>
        <p:spPr>
          <a:xfrm>
            <a:off x="323849" y="92851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3</a:t>
            </a:r>
            <a:r>
              <a:rPr lang="ko-KR" altLang="en-US" sz="2800" b="1">
                <a:latin typeface="맑은 고딕"/>
                <a:ea typeface="맑은 고딕"/>
              </a:rPr>
              <a:t>. 토스 골든 서클</a:t>
            </a:r>
            <a:endParaRPr lang="ko-KR" altLang="en-US" sz="2800" b="1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57279067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745" y="3313797"/>
            <a:ext cx="4085921" cy="550068"/>
          </a:xfrm>
        </p:spPr>
        <p:txBody>
          <a:bodyPr>
            <a:normAutofit/>
          </a:bodyPr>
          <a:p>
            <a:pPr marL="0" lvl="0" indent="0">
              <a:buNone/>
              <a:defRPr/>
            </a:pPr>
            <a:r>
              <a:rPr lang="ko-KR" altLang="en-US" sz="1200">
                <a:latin typeface="맑은 고딕"/>
                <a:ea typeface="맑은 고딕"/>
              </a:rPr>
              <a:t>우리는 기존의 것에 도전하고 다르게 생각한다는 것의 </a:t>
            </a:r>
            <a:endParaRPr lang="ko-KR" altLang="en-US" sz="12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200">
                <a:latin typeface="맑은 고딕"/>
                <a:ea typeface="맑은 고딕"/>
              </a:rPr>
              <a:t>힘을 믿습니다</a:t>
            </a:r>
            <a:r>
              <a:rPr lang="en-US" altLang="ko-KR" sz="1200">
                <a:latin typeface="맑은 고딕"/>
                <a:ea typeface="맑은 고딕"/>
              </a:rPr>
              <a:t>.</a:t>
            </a:r>
            <a:endParaRPr lang="en-US" altLang="ko-KR" sz="12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2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200">
              <a:latin typeface="맑은 고딕"/>
              <a:ea typeface="맑은 고딕"/>
            </a:endParaRPr>
          </a:p>
        </p:txBody>
      </p:sp>
      <p:sp>
        <p:nvSpPr>
          <p:cNvPr id="17" name="Content Placeholder 2"/>
          <p:cNvSpPr>
            <a:spLocks noGrp="1"/>
          </p:cNvSpPr>
          <p:nvPr/>
        </p:nvSpPr>
        <p:spPr>
          <a:xfrm>
            <a:off x="856745" y="1707445"/>
            <a:ext cx="6399953" cy="36662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 3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우리가 만든 훌륭한 컴퓨터를 사고 싶나요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?</a:t>
            </a:r>
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18" name="Content Placeholder 2"/>
          <p:cNvSpPr>
            <a:spLocks noGrp="1"/>
          </p:cNvSpPr>
          <p:nvPr/>
        </p:nvSpPr>
        <p:spPr>
          <a:xfrm>
            <a:off x="806314" y="2477600"/>
            <a:ext cx="5152526" cy="428567"/>
          </a:xfrm>
          <a:prstGeom prst="rect">
            <a:avLst/>
          </a:prstGeom>
        </p:spPr>
        <p:txBody>
          <a:bodyPr vert="horz" lIns="91440" tIns="45720" rIns="91440" bIns="45720">
            <a:normAutofit lnSpcReduction="10000"/>
          </a:bodyPr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 3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우리는 제품을 아름답게 만들면서도 심플하게 만듭니다</a:t>
            </a:r>
            <a:r>
              <a: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300" b="0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 3"/>
              <a:buNone/>
              <a:defRPr/>
            </a:pP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37" name=""/>
          <p:cNvGrpSpPr/>
          <p:nvPr/>
        </p:nvGrpSpPr>
        <p:grpSpPr>
          <a:xfrm rot="0">
            <a:off x="720589" y="1635478"/>
            <a:ext cx="7701729" cy="3375687"/>
            <a:chOff x="720589" y="1330678"/>
            <a:chExt cx="7701729" cy="3375687"/>
          </a:xfrm>
        </p:grpSpPr>
        <p:grpSp>
          <p:nvGrpSpPr>
            <p:cNvPr id="36" name=""/>
            <p:cNvGrpSpPr/>
            <p:nvPr/>
          </p:nvGrpSpPr>
          <p:grpSpPr>
            <a:xfrm rot="0">
              <a:off x="5091088" y="1330678"/>
              <a:ext cx="3331230" cy="3375687"/>
              <a:chOff x="5091087" y="1330678"/>
              <a:chExt cx="3331230" cy="3375687"/>
            </a:xfrm>
          </p:grpSpPr>
          <p:sp>
            <p:nvSpPr>
              <p:cNvPr id="5" name="타원 3"/>
              <p:cNvSpPr/>
              <p:nvPr/>
            </p:nvSpPr>
            <p:spPr>
              <a:xfrm>
                <a:off x="5091087" y="1330678"/>
                <a:ext cx="3331230" cy="3375687"/>
              </a:xfrm>
              <a:prstGeom prst="ellipse">
                <a:avLst/>
              </a:prstGeom>
              <a:solidFill>
                <a:srgbClr val="f4e5b2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6" name="타원 4"/>
              <p:cNvSpPr/>
              <p:nvPr/>
            </p:nvSpPr>
            <p:spPr>
              <a:xfrm>
                <a:off x="5574897" y="1911904"/>
                <a:ext cx="2363611" cy="2297195"/>
              </a:xfrm>
              <a:prstGeom prst="ellipse">
                <a:avLst/>
              </a:prstGeom>
              <a:solidFill>
                <a:srgbClr val="ffe766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6094757" y="2443504"/>
                <a:ext cx="1323891" cy="1291145"/>
              </a:xfrm>
              <a:prstGeom prst="ellipse">
                <a:avLst/>
              </a:prstGeom>
              <a:solidFill>
                <a:srgbClr val="ffd70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8" name="가로 글상자 7"/>
              <p:cNvSpPr txBox="1"/>
              <p:nvPr/>
            </p:nvSpPr>
            <p:spPr>
              <a:xfrm>
                <a:off x="6373950" y="2876944"/>
                <a:ext cx="765506" cy="367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b="1">
                    <a:latin typeface="맑은 고딕"/>
                    <a:ea typeface="맑은 고딕"/>
                  </a:rPr>
                  <a:t>WHY</a:t>
                </a:r>
                <a:endParaRPr lang="en-US" altLang="ko-KR" b="1">
                  <a:latin typeface="맑은 고딕"/>
                  <a:ea typeface="맑은 고딕"/>
                </a:endParaRPr>
              </a:p>
            </p:txBody>
          </p:sp>
          <p:sp>
            <p:nvSpPr>
              <p:cNvPr id="9" name="가로 글상자 10"/>
              <p:cNvSpPr txBox="1"/>
              <p:nvPr/>
            </p:nvSpPr>
            <p:spPr>
              <a:xfrm>
                <a:off x="6354900" y="2105652"/>
                <a:ext cx="934969" cy="3594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b="1">
                    <a:latin typeface="맑은 고딕"/>
                    <a:ea typeface="맑은 고딕"/>
                  </a:rPr>
                  <a:t>HOW</a:t>
                </a:r>
                <a:endParaRPr lang="en-US" altLang="ko-KR" b="1">
                  <a:latin typeface="맑은 고딕"/>
                  <a:ea typeface="맑은 고딕"/>
                </a:endParaRPr>
              </a:p>
            </p:txBody>
          </p:sp>
          <p:sp>
            <p:nvSpPr>
              <p:cNvPr id="10" name="가로 글상자 11"/>
              <p:cNvSpPr txBox="1"/>
              <p:nvPr/>
            </p:nvSpPr>
            <p:spPr>
              <a:xfrm>
                <a:off x="6326325" y="1492603"/>
                <a:ext cx="934969" cy="3671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b="1">
                    <a:latin typeface="맑은 고딕"/>
                    <a:ea typeface="맑은 고딕"/>
                  </a:rPr>
                  <a:t>WHAT</a:t>
                </a:r>
                <a:endParaRPr lang="en-US" altLang="ko-KR" b="1">
                  <a:latin typeface="맑은 고딕"/>
                  <a:ea typeface="맑은 고딕"/>
                </a:endParaRPr>
              </a:p>
            </p:txBody>
          </p:sp>
        </p:grpSp>
        <p:cxnSp>
          <p:nvCxnSpPr>
            <p:cNvPr id="16" name="화살표 15"/>
            <p:cNvCxnSpPr/>
            <p:nvPr/>
          </p:nvCxnSpPr>
          <p:spPr>
            <a:xfrm rot="10800000">
              <a:off x="771248" y="3483769"/>
              <a:ext cx="5985455" cy="8"/>
            </a:xfrm>
            <a:prstGeom prst="straightConnector1">
              <a:avLst/>
            </a:prstGeom>
            <a:ln>
              <a:solidFill>
                <a:schemeClr val="accent1">
                  <a:shade val="95000"/>
                  <a:satMod val="10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화살표 18"/>
            <p:cNvCxnSpPr/>
            <p:nvPr/>
          </p:nvCxnSpPr>
          <p:spPr>
            <a:xfrm rot="10800000">
              <a:off x="720589" y="2424198"/>
              <a:ext cx="5674833" cy="0"/>
            </a:xfrm>
            <a:prstGeom prst="straightConnector1">
              <a:avLst/>
            </a:prstGeom>
            <a:ln>
              <a:solidFill>
                <a:schemeClr val="accent1">
                  <a:shade val="95000"/>
                  <a:satMod val="10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화살표 20"/>
            <p:cNvCxnSpPr/>
            <p:nvPr/>
          </p:nvCxnSpPr>
          <p:spPr>
            <a:xfrm rot="10800000">
              <a:off x="720589" y="1712501"/>
              <a:ext cx="5618882" cy="10"/>
            </a:xfrm>
            <a:prstGeom prst="straightConnector1">
              <a:avLst/>
            </a:prstGeom>
            <a:ln>
              <a:solidFill>
                <a:schemeClr val="accent1">
                  <a:shade val="95000"/>
                  <a:satMod val="10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itle 1"/>
          <p:cNvSpPr>
            <a:spLocks noGrp="1"/>
          </p:cNvSpPr>
          <p:nvPr>
            <p:ph type="title" idx="0"/>
          </p:nvPr>
        </p:nvSpPr>
        <p:spPr>
          <a:xfrm>
            <a:off x="323849" y="92851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3</a:t>
            </a:r>
            <a:r>
              <a:rPr lang="ko-KR" altLang="en-US" sz="2800" b="1">
                <a:latin typeface="맑은 고딕"/>
                <a:ea typeface="맑은 고딕"/>
              </a:rPr>
              <a:t>. 애플</a:t>
            </a:r>
            <a:r>
              <a:rPr lang="en-US" altLang="ko-KR" sz="2800" b="1">
                <a:latin typeface="맑은 고딕"/>
                <a:ea typeface="맑은 고딕"/>
              </a:rPr>
              <a:t>(APPLE)</a:t>
            </a:r>
            <a:r>
              <a:rPr lang="ko-KR" altLang="en-US" sz="2800" b="1">
                <a:latin typeface="맑은 고딕"/>
                <a:ea typeface="맑은 고딕"/>
              </a:rPr>
              <a:t>의 골든 서클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8" name="가로 글상자 37"/>
          <p:cNvSpPr txBox="1"/>
          <p:nvPr/>
        </p:nvSpPr>
        <p:spPr>
          <a:xfrm rot="506953">
            <a:off x="5191822" y="593491"/>
            <a:ext cx="4263102" cy="1005099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1200" b="1">
                <a:solidFill>
                  <a:srgbClr val="ff0000"/>
                </a:solidFill>
                <a:latin typeface="맑은 고딕"/>
                <a:ea typeface="맑은 고딕"/>
              </a:rPr>
              <a:t>WHAT : </a:t>
            </a:r>
            <a:r>
              <a:rPr lang="ko-KR" altLang="en-US" sz="1200" b="1">
                <a:solidFill>
                  <a:srgbClr val="ff0000"/>
                </a:solidFill>
                <a:latin typeface="맑은 고딕"/>
                <a:ea typeface="맑은 고딕"/>
              </a:rPr>
              <a:t>우리는 훌륭한 컴퓨터를 만듭니다</a:t>
            </a:r>
            <a:endParaRPr lang="ko-KR" altLang="en-US" sz="12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200" b="1">
                <a:solidFill>
                  <a:srgbClr val="ff0000"/>
                </a:solidFill>
                <a:latin typeface="맑은 고딕"/>
                <a:ea typeface="맑은 고딕"/>
              </a:rPr>
              <a:t>↓</a:t>
            </a:r>
            <a:endParaRPr lang="en-US" altLang="ko-KR" sz="12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200" b="1">
                <a:solidFill>
                  <a:srgbClr val="ff0000"/>
                </a:solidFill>
                <a:latin typeface="맑은 고딕"/>
                <a:ea typeface="맑은 고딕"/>
              </a:rPr>
              <a:t>HOW : </a:t>
            </a:r>
            <a:r>
              <a:rPr lang="ko-KR" altLang="en-US" sz="1200" b="1">
                <a:solidFill>
                  <a:srgbClr val="ff0000"/>
                </a:solidFill>
                <a:latin typeface="맑은 고딕"/>
                <a:ea typeface="맑은 고딕"/>
              </a:rPr>
              <a:t>그 컴퓨터는 좋습니다</a:t>
            </a:r>
            <a:endParaRPr lang="ko-KR" altLang="en-US" sz="12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200" b="1">
                <a:solidFill>
                  <a:srgbClr val="ff0000"/>
                </a:solidFill>
                <a:latin typeface="맑은 고딕"/>
                <a:ea typeface="맑은 고딕"/>
              </a:rPr>
              <a:t>↓</a:t>
            </a:r>
            <a:endParaRPr lang="en-US" altLang="ko-KR" sz="12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200" b="1">
                <a:solidFill>
                  <a:srgbClr val="ff0000"/>
                </a:solidFill>
                <a:latin typeface="맑은 고딕"/>
                <a:ea typeface="맑은 고딕"/>
              </a:rPr>
              <a:t>WHY :</a:t>
            </a:r>
            <a:r>
              <a:rPr lang="ko-KR" altLang="en-US" sz="1200" b="1">
                <a:solidFill>
                  <a:srgbClr val="ff0000"/>
                </a:solidFill>
                <a:latin typeface="맑은 고딕"/>
                <a:ea typeface="맑은 고딕"/>
              </a:rPr>
              <a:t>사고 싶나요</a:t>
            </a:r>
            <a:r>
              <a:rPr lang="en-US" altLang="ko-KR" sz="1200" b="1">
                <a:solidFill>
                  <a:srgbClr val="ff0000"/>
                </a:solidFill>
                <a:latin typeface="맑은 고딕"/>
                <a:ea typeface="맑은 고딕"/>
              </a:rPr>
              <a:t>?</a:t>
            </a:r>
            <a:endParaRPr lang="en-US" altLang="ko-KR" sz="1200" b="1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  <p:cxnSp>
        <p:nvCxnSpPr>
          <p:cNvPr id="39" name="화살표 38"/>
          <p:cNvCxnSpPr/>
          <p:nvPr/>
        </p:nvCxnSpPr>
        <p:spPr>
          <a:xfrm rot="5400000">
            <a:off x="6557882" y="2123093"/>
            <a:ext cx="1263513" cy="13411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가로 글상자 40"/>
          <p:cNvSpPr txBox="1"/>
          <p:nvPr/>
        </p:nvSpPr>
        <p:spPr>
          <a:xfrm>
            <a:off x="2807635" y="4421188"/>
            <a:ext cx="2201839" cy="41560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100" b="1">
                <a:latin typeface="맑은 고딕"/>
                <a:ea typeface="맑은 고딕"/>
                <a:hlinkClick r:id="rId2"/>
              </a:rPr>
              <a:t>출처</a:t>
            </a:r>
            <a:r>
              <a:rPr lang="en-US" altLang="ko-KR" sz="1100" b="1">
                <a:latin typeface="맑은 고딕"/>
                <a:ea typeface="맑은 고딕"/>
                <a:hlinkClick r:id="rId2"/>
              </a:rPr>
              <a:t>:</a:t>
            </a:r>
            <a:r>
              <a:rPr lang="ko-KR" altLang="en-US" sz="1100" b="1">
                <a:latin typeface="맑은 고딕"/>
                <a:ea typeface="맑은 고딕"/>
                <a:hlinkClick r:id="rId2"/>
              </a:rPr>
              <a:t> 사이먼 사이넥 </a:t>
            </a:r>
            <a:r>
              <a:rPr lang="en-US" altLang="ko-KR" sz="1100" b="1">
                <a:latin typeface="맑은 고딕"/>
                <a:ea typeface="맑은 고딕"/>
                <a:hlinkClick r:id="rId2"/>
              </a:rPr>
              <a:t>with TED)</a:t>
            </a:r>
            <a:endParaRPr lang="en-US" altLang="ko-KR" sz="1100" b="1">
              <a:latin typeface="맑은 고딕"/>
              <a:ea typeface="맑은 고딕"/>
            </a:endParaRPr>
          </a:p>
          <a:p>
            <a:pPr lvl="0">
              <a:defRPr/>
            </a:pPr>
            <a:endParaRPr lang="en-US" altLang="ko-KR" sz="1100" b="1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04334280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 b="1">
                <a:latin typeface="맑은 고딕"/>
                <a:ea typeface="맑은 고딕"/>
              </a:rPr>
              <a:t>서비스 기획을 위한 실무용어</a:t>
            </a:r>
            <a:br>
              <a:rPr lang="ko-KR" altLang="en-US" b="1">
                <a:latin typeface="맑은 고딕"/>
                <a:ea typeface="맑은 고딕"/>
              </a:rPr>
            </a:br>
            <a:r>
              <a:rPr lang="ko-KR" altLang="en-US" b="1">
                <a:latin typeface="맑은 고딕"/>
                <a:ea typeface="맑은 고딕"/>
              </a:rPr>
              <a:t>      </a:t>
            </a:r>
            <a:endParaRPr lang="ko-KR" altLang="en-US" b="1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01458372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50001"/>
            <a:ext cx="8477249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</a:t>
            </a:r>
            <a:r>
              <a:rPr lang="ko-KR" altLang="en-US" sz="2800" b="1">
                <a:latin typeface="맑은 고딕"/>
                <a:ea typeface="맑은 고딕"/>
              </a:rPr>
              <a:t>. 실무 용어 정리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190625"/>
            <a:ext cx="8477249" cy="3720704"/>
          </a:xfrm>
        </p:spPr>
        <p:txBody>
          <a:bodyPr>
            <a:normAutofit lnSpcReduction="10000"/>
          </a:bodyPr>
          <a:lstStyle/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CTA</a:t>
            </a:r>
            <a:r>
              <a:rPr lang="en-US" altLang="ko-KR" sz="2400" b="1">
                <a:solidFill>
                  <a:schemeClr val="accent1"/>
                </a:solidFill>
                <a:latin typeface="맑은 고딕"/>
                <a:ea typeface="맑은 고딕"/>
              </a:rPr>
              <a:t>(Call to Action)</a:t>
            </a: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:</a:t>
            </a:r>
            <a:r>
              <a:rPr lang="ko-KR" altLang="en-US" sz="2400">
                <a:latin typeface="맑은 고딕"/>
                <a:ea typeface="맑은 고딕"/>
              </a:rPr>
              <a:t> 행동 유도 버튼</a:t>
            </a:r>
            <a:r>
              <a:rPr lang="en-US" altLang="ko-KR" sz="2400">
                <a:latin typeface="맑은 고딕"/>
                <a:ea typeface="맑은 고딕"/>
              </a:rPr>
              <a:t>/</a:t>
            </a:r>
            <a:r>
              <a:rPr lang="ko-KR" altLang="en-US" sz="2400">
                <a:latin typeface="맑은 고딕"/>
                <a:ea typeface="맑은 고딕"/>
              </a:rPr>
              <a:t>배너</a:t>
            </a:r>
            <a:endParaRPr lang="ko-KR" altLang="en-US" sz="2400">
              <a:latin typeface="맑은 고딕"/>
              <a:ea typeface="맑은 고딕"/>
            </a:endParaRPr>
          </a:p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IA</a:t>
            </a:r>
            <a:r>
              <a:rPr lang="en-US" altLang="ko-KR" sz="2400" b="1">
                <a:solidFill>
                  <a:schemeClr val="accent1"/>
                </a:solidFill>
                <a:latin typeface="맑은 고딕"/>
                <a:ea typeface="맑은 고딕"/>
              </a:rPr>
              <a:t>(Information architecture)</a:t>
            </a: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: </a:t>
            </a:r>
            <a:r>
              <a:rPr lang="ko-KR" altLang="en-US" sz="2400">
                <a:latin typeface="맑은 고딕"/>
                <a:ea typeface="맑은 고딕"/>
              </a:rPr>
              <a:t>제품</a:t>
            </a:r>
            <a:r>
              <a:rPr lang="en-US" altLang="ko-KR" sz="2400">
                <a:latin typeface="맑은 고딕"/>
                <a:ea typeface="맑은 고딕"/>
              </a:rPr>
              <a:t>/</a:t>
            </a:r>
            <a:r>
              <a:rPr lang="ko-KR" altLang="en-US" sz="2400">
                <a:latin typeface="맑은 고딕"/>
                <a:ea typeface="맑은 고딕"/>
              </a:rPr>
              <a:t>서비스를 구성하는 정보의 구조와 우선순위</a:t>
            </a:r>
            <a:r>
              <a:rPr lang="en-US" altLang="ko-KR" sz="2400">
                <a:latin typeface="맑은 고딕"/>
                <a:ea typeface="맑은 고딕"/>
              </a:rPr>
              <a:t>,</a:t>
            </a:r>
            <a:r>
              <a:rPr lang="ko-KR" altLang="en-US" sz="2400">
                <a:latin typeface="맑은 고딕"/>
                <a:ea typeface="맑은 고딕"/>
              </a:rPr>
              <a:t> 흐름의 설계                                            등을 포함한 도식</a:t>
            </a:r>
            <a:r>
              <a:rPr lang="en-US" altLang="ko-KR" sz="2400">
                <a:latin typeface="맑은 고딕"/>
                <a:ea typeface="맑은 고딕"/>
              </a:rPr>
              <a:t>.</a:t>
            </a:r>
            <a:r>
              <a:rPr lang="ko-KR" altLang="en-US" sz="2400">
                <a:latin typeface="맑은 고딕"/>
                <a:ea typeface="맑은 고딕"/>
              </a:rPr>
              <a:t> 금융 정보 구조</a:t>
            </a:r>
            <a:endParaRPr lang="ko-KR" altLang="en-US" sz="2400">
              <a:latin typeface="맑은 고딕"/>
              <a:ea typeface="맑은 고딕"/>
            </a:endParaRPr>
          </a:p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en-US" altLang="ko-KR" sz="2400" b="1">
                <a:solidFill>
                  <a:schemeClr val="accent1"/>
                </a:solidFill>
                <a:latin typeface="맑은 고딕"/>
                <a:ea typeface="맑은 고딕"/>
              </a:rPr>
              <a:t>UGC(User generated Content):</a:t>
            </a: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lang="ko-KR" altLang="en-US" sz="2400">
                <a:latin typeface="맑은 고딕"/>
                <a:ea typeface="맑은 고딕"/>
              </a:rPr>
              <a:t>사용자가 생성한 콘텐츠</a:t>
            </a:r>
            <a:endParaRPr lang="ko-KR" altLang="en-US" sz="2400">
              <a:latin typeface="맑은 고딕"/>
              <a:ea typeface="맑은 고딕"/>
            </a:endParaRPr>
          </a:p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VOC</a:t>
            </a:r>
            <a:r>
              <a:rPr lang="en-US" altLang="ko-KR" sz="2400" b="1">
                <a:solidFill>
                  <a:schemeClr val="accent1"/>
                </a:solidFill>
                <a:latin typeface="맑은 고딕"/>
                <a:ea typeface="맑은 고딕"/>
              </a:rPr>
              <a:t>(voice of customer)</a:t>
            </a: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: </a:t>
            </a:r>
            <a:r>
              <a:rPr lang="ko-KR" altLang="en-US" sz="2400">
                <a:latin typeface="맑은 고딕"/>
                <a:ea typeface="맑은 고딕"/>
              </a:rPr>
              <a:t>고객 의견 분석</a:t>
            </a:r>
            <a:endParaRPr lang="ko-KR" altLang="en-US" sz="2400">
              <a:latin typeface="맑은 고딕"/>
              <a:ea typeface="맑은 고딕"/>
            </a:endParaRPr>
          </a:p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endParaRPr lang="en-US" altLang="ko-KR" sz="24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89075734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50001"/>
            <a:ext cx="8477249" cy="704838"/>
          </a:xfrm>
          <a:ln>
            <a:solidFill>
              <a:schemeClr val="accent6"/>
            </a:solidFill>
          </a:ln>
        </p:spPr>
        <p:txBody>
          <a:bodyPr/>
          <a:lstStyle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</a:t>
            </a:r>
            <a:r>
              <a:rPr lang="ko-KR" altLang="en-US" sz="2800" b="1">
                <a:latin typeface="맑은 고딕"/>
                <a:ea typeface="맑은 고딕"/>
              </a:rPr>
              <a:t>. 실무 용어 정리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190625"/>
            <a:ext cx="8477249" cy="3720704"/>
          </a:xfrm>
        </p:spPr>
        <p:txBody>
          <a:bodyPr>
            <a:normAutofit lnSpcReduction="10000"/>
          </a:bodyPr>
          <a:lstStyle/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사용성</a:t>
            </a:r>
            <a:r>
              <a:rPr lang="en-US" altLang="ko-KR" sz="2400" b="1">
                <a:solidFill>
                  <a:schemeClr val="accent1"/>
                </a:solidFill>
                <a:latin typeface="맑은 고딕"/>
                <a:ea typeface="맑은 고딕"/>
              </a:rPr>
              <a:t>(usability): </a:t>
            </a:r>
            <a:r>
              <a:rPr lang="ko-KR" altLang="en-US" sz="2400">
                <a:latin typeface="맑은 고딕"/>
                <a:ea typeface="맑은 고딕"/>
              </a:rPr>
              <a:t>서비스 사용시의 사용 편의성</a:t>
            </a:r>
            <a:endParaRPr lang="ko-KR" altLang="en-US" sz="2400">
              <a:latin typeface="맑은 고딕"/>
              <a:ea typeface="맑은 고딕"/>
            </a:endParaRPr>
          </a:p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스토리보드</a:t>
            </a:r>
            <a:r>
              <a:rPr lang="en-US" altLang="ko-KR" sz="2400" b="1">
                <a:solidFill>
                  <a:schemeClr val="accent1"/>
                </a:solidFill>
                <a:latin typeface="맑은 고딕"/>
                <a:ea typeface="맑은 고딕"/>
              </a:rPr>
              <a:t>(Story Board)</a:t>
            </a: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:</a:t>
            </a:r>
            <a:r>
              <a:rPr lang="ko-KR" altLang="en-US" sz="2400">
                <a:latin typeface="맑은 고딕"/>
                <a:ea typeface="맑은 고딕"/>
              </a:rPr>
              <a:t> 사용자가 서비스를 이용하는 과정을 시각적으로 표현 </a:t>
            </a:r>
            <a:r>
              <a:rPr lang="en-US" altLang="ko-KR" sz="2400">
                <a:latin typeface="맑은 고딕"/>
                <a:ea typeface="맑은 고딕"/>
              </a:rPr>
              <a:t>→</a:t>
            </a:r>
            <a:r>
              <a:rPr lang="ko-KR" altLang="en-US" sz="2400">
                <a:latin typeface="맑은 고딕"/>
                <a:ea typeface="맑은 고딕"/>
              </a:rPr>
              <a:t> 와이어프레임으로 간소화</a:t>
            </a:r>
            <a:endParaRPr lang="ko-KR" altLang="en-US" sz="2400">
              <a:latin typeface="맑은 고딕"/>
              <a:ea typeface="맑은 고딕"/>
            </a:endParaRPr>
          </a:p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어포던스</a:t>
            </a:r>
            <a:r>
              <a:rPr lang="en-US" altLang="ko-KR" sz="2400" b="1">
                <a:solidFill>
                  <a:schemeClr val="accent1"/>
                </a:solidFill>
                <a:latin typeface="맑은 고딕"/>
                <a:ea typeface="맑은 고딕"/>
              </a:rPr>
              <a:t>(Affordance)</a:t>
            </a:r>
            <a:r>
              <a:rPr lang="ko-KR" altLang="en-US" sz="2400" b="1">
                <a:solidFill>
                  <a:schemeClr val="accent1"/>
                </a:solidFill>
                <a:latin typeface="맑은 고딕"/>
                <a:ea typeface="맑은 고딕"/>
              </a:rPr>
              <a:t>: </a:t>
            </a:r>
            <a:r>
              <a:rPr lang="ko-KR" altLang="en-US" sz="2400">
                <a:latin typeface="맑은 고딕"/>
                <a:ea typeface="맑은 고딕"/>
              </a:rPr>
              <a:t>행동 유도성</a:t>
            </a:r>
            <a:r>
              <a:rPr lang="en-US" altLang="ko-KR" sz="2400">
                <a:latin typeface="맑은 고딕"/>
                <a:ea typeface="맑은 고딕"/>
              </a:rPr>
              <a:t>,</a:t>
            </a:r>
            <a:r>
              <a:rPr lang="ko-KR" altLang="en-US" sz="2400">
                <a:latin typeface="맑은 고딕"/>
                <a:ea typeface="맑은 고딕"/>
              </a:rPr>
              <a:t> 사용자가 기능을 직관적으로 파악하는가</a:t>
            </a:r>
            <a:r>
              <a:rPr lang="en-US" altLang="ko-KR" sz="2400">
                <a:latin typeface="맑은 고딕"/>
                <a:ea typeface="맑은 고딕"/>
              </a:rPr>
              <a:t>?,</a:t>
            </a:r>
            <a:r>
              <a:rPr lang="ko-KR" altLang="en-US" sz="2400">
                <a:latin typeface="맑은 고딕"/>
                <a:ea typeface="맑은 고딕"/>
              </a:rPr>
              <a:t> 기획자의 의도대로 행동하는가</a:t>
            </a:r>
            <a:r>
              <a:rPr lang="en-US" altLang="ko-KR" sz="2400">
                <a:latin typeface="맑은 고딕"/>
                <a:ea typeface="맑은 고딕"/>
              </a:rPr>
              <a:t>?</a:t>
            </a:r>
            <a:endParaRPr lang="en-US" altLang="ko-KR" sz="24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164918000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59526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1</a:t>
            </a:r>
            <a:r>
              <a:rPr lang="ko-KR" altLang="en-US" sz="2800" b="1">
                <a:latin typeface="맑은 고딕"/>
                <a:ea typeface="맑은 고딕"/>
              </a:rPr>
              <a:t>. 실무 용어 정리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171575"/>
            <a:ext cx="8477249" cy="3720704"/>
          </a:xfrm>
        </p:spPr>
        <p:txBody>
          <a:bodyPr>
            <a:normAutofit/>
          </a:bodyPr>
          <a:lstStyle/>
          <a:p>
            <a:pPr marL="266700" lvl="0" indent="-30670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와이어프레임</a:t>
            </a:r>
            <a:r>
              <a:rPr lang="en-US" altLang="ko-KR" sz="1500" b="1">
                <a:solidFill>
                  <a:schemeClr val="accent1"/>
                </a:solidFill>
                <a:latin typeface="맑은 고딕"/>
                <a:ea typeface="맑은 고딕"/>
              </a:rPr>
              <a:t>(Wireframe):</a:t>
            </a:r>
            <a:r>
              <a:rPr lang="ko-KR" altLang="en-US" sz="1500">
                <a:latin typeface="맑은 고딕"/>
                <a:ea typeface="맑은 고딕"/>
              </a:rPr>
              <a:t> 서비스의 화면별 구성과 정보를 로우 피델리티로 구성한 것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피델리티</a:t>
            </a:r>
            <a:r>
              <a:rPr lang="en-US" altLang="ko-KR" sz="1500" b="1">
                <a:solidFill>
                  <a:schemeClr val="accent1"/>
                </a:solidFill>
                <a:latin typeface="맑은 고딕"/>
                <a:ea typeface="맑은 고딕"/>
              </a:rPr>
              <a:t>(fidelity):</a:t>
            </a: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>
                <a:latin typeface="맑은 고딕"/>
                <a:ea typeface="맑은 고딕"/>
              </a:rPr>
              <a:t>디자인의 완성도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피처</a:t>
            </a:r>
            <a:r>
              <a:rPr lang="en-US" altLang="ko-KR" sz="1500" b="1">
                <a:solidFill>
                  <a:schemeClr val="accent1"/>
                </a:solidFill>
                <a:latin typeface="맑은 고딕"/>
                <a:ea typeface="맑은 고딕"/>
              </a:rPr>
              <a:t>(feature):</a:t>
            </a:r>
            <a:r>
              <a:rPr lang="ko-KR" altLang="en-US" sz="1500">
                <a:latin typeface="맑은 고딕"/>
                <a:ea typeface="맑은 고딕"/>
              </a:rPr>
              <a:t> 서비스에서 하나의 기능을 가리키는 단위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피저빌리티</a:t>
            </a:r>
            <a:r>
              <a:rPr lang="en-US" altLang="ko-KR" sz="1500" b="1">
                <a:solidFill>
                  <a:schemeClr val="accent1"/>
                </a:solidFill>
                <a:latin typeface="맑은 고딕"/>
                <a:ea typeface="맑은 고딕"/>
              </a:rPr>
              <a:t>(Feasibility):</a:t>
            </a: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200000"/>
              </a:lnSpc>
              <a:buFont typeface="Wingdings"/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 디자인과 개발에 필요한 자원</a:t>
            </a:r>
            <a:r>
              <a:rPr lang="en-US" altLang="ko-KR" sz="1500">
                <a:latin typeface="맑은 고딕"/>
                <a:ea typeface="맑은 고딕"/>
              </a:rPr>
              <a:t>,</a:t>
            </a:r>
            <a:r>
              <a:rPr lang="ko-KR" altLang="en-US" sz="1500">
                <a:latin typeface="맑은 고딕"/>
                <a:ea typeface="맑은 고딕"/>
              </a:rPr>
              <a:t>기간</a:t>
            </a:r>
            <a:r>
              <a:rPr lang="en-US" altLang="ko-KR" sz="1500">
                <a:latin typeface="맑은 고딕"/>
                <a:ea typeface="맑은 고딕"/>
              </a:rPr>
              <a:t>,</a:t>
            </a:r>
            <a:r>
              <a:rPr lang="ko-KR" altLang="en-US" sz="1500">
                <a:latin typeface="맑은 고딕"/>
                <a:ea typeface="맑은 고딕"/>
              </a:rPr>
              <a:t> 예산 등을 바탕으로 도출한 실현 가능성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프로토타입</a:t>
            </a:r>
            <a:r>
              <a:rPr lang="en-US" altLang="ko-KR" sz="1500" b="1">
                <a:solidFill>
                  <a:schemeClr val="accent1"/>
                </a:solidFill>
                <a:latin typeface="맑은 고딕"/>
                <a:ea typeface="맑은 고딕"/>
              </a:rPr>
              <a:t>(prototype):</a:t>
            </a:r>
            <a:r>
              <a:rPr lang="ko-KR" altLang="en-US" sz="1500">
                <a:latin typeface="맑은 고딕"/>
                <a:ea typeface="맑은 고딕"/>
              </a:rPr>
              <a:t> 서비스의 기능 및 사용성 테스트를 위해 제작하는 시제품</a:t>
            </a:r>
            <a:endParaRPr lang="ko-KR" altLang="en-US" sz="15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33375" y="402121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</a:t>
            </a:r>
            <a:r>
              <a:rPr lang="ko-KR" altLang="en-US" sz="2800" b="1">
                <a:latin typeface="맑은 고딕"/>
                <a:ea typeface="맑은 고딕"/>
              </a:rPr>
              <a:t>1. CTA (Call To Action)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112" y="1342830"/>
            <a:ext cx="8477249" cy="3720704"/>
          </a:xfrm>
        </p:spPr>
        <p:txBody>
          <a:bodyPr>
            <a:normAutofit/>
          </a:bodyPr>
          <a:p>
            <a:pPr lvl="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뜻 : </a:t>
            </a:r>
            <a:r>
              <a:rPr lang="ko-KR" altLang="en-US" sz="1500" b="1" u="sng">
                <a:solidFill>
                  <a:schemeClr val="accent1"/>
                </a:solidFill>
                <a:latin typeface="맑은 고딕"/>
                <a:ea typeface="맑은 고딕"/>
              </a:rPr>
              <a:t>사용자의 행동을 유도</a:t>
            </a:r>
            <a:r>
              <a:rPr lang="ko-KR" altLang="en-US" sz="1500">
                <a:latin typeface="맑은 고딕"/>
                <a:ea typeface="맑은 고딕"/>
              </a:rPr>
              <a:t>하는 버튼, 링크, 배너 등의 요소</a:t>
            </a: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핀테크 예시 :</a:t>
            </a:r>
            <a:r>
              <a:rPr lang="ko-KR" altLang="en-US" sz="1500">
                <a:latin typeface="맑은 고딕"/>
                <a:ea typeface="맑은 고딕"/>
              </a:rPr>
              <a:t> [</a:t>
            </a:r>
            <a:r>
              <a:rPr lang="ko-KR" altLang="en-US" sz="1500" b="1">
                <a:solidFill>
                  <a:srgbClr val="ff6600"/>
                </a:solidFill>
                <a:latin typeface="맑은 고딕"/>
                <a:ea typeface="맑은 고딕"/>
              </a:rPr>
              <a:t>송금하기], [계좌 개설], [지금 투자하기], [자동 납부 신청]</a:t>
            </a:r>
            <a:r>
              <a:rPr lang="ko-KR" altLang="en-US" sz="1500">
                <a:latin typeface="맑은 고딕"/>
                <a:ea typeface="맑은 고딕"/>
              </a:rPr>
              <a:t> 등</a:t>
            </a: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활용 :</a:t>
            </a:r>
            <a:r>
              <a:rPr lang="ko-KR" altLang="en-US" sz="1500">
                <a:latin typeface="맑은 고딕"/>
                <a:ea typeface="맑은 고딕"/>
              </a:rPr>
              <a:t> 사용자가 서비스 흐름에서 원하는 방향으로 자연스럽게 이동하도록 설계</a:t>
            </a:r>
            <a:endParaRPr lang="ko-KR" altLang="en-US" sz="15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708" y="466842"/>
            <a:ext cx="7984391" cy="348970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lvl="0" indent="0">
              <a:buNone/>
              <a:defRPr/>
            </a:pPr>
            <a:r>
              <a:rPr lang="ko-KR" altLang="en-US" sz="1600" b="1">
                <a:solidFill>
                  <a:schemeClr val="accent1"/>
                </a:solidFill>
                <a:latin typeface="맑은 고딕"/>
                <a:ea typeface="맑은 고딕"/>
              </a:rPr>
              <a:t>CTA</a:t>
            </a:r>
            <a:r>
              <a:rPr lang="en-US" altLang="ko-KR" sz="1600" b="1">
                <a:solidFill>
                  <a:schemeClr val="accent1"/>
                </a:solidFill>
                <a:latin typeface="맑은 고딕"/>
                <a:ea typeface="맑은 고딕"/>
              </a:rPr>
              <a:t>(Call to Action)</a:t>
            </a:r>
            <a:r>
              <a:rPr lang="ko-KR" altLang="en-US" sz="1600" b="1">
                <a:solidFill>
                  <a:schemeClr val="accent1"/>
                </a:solidFill>
                <a:latin typeface="맑은 고딕"/>
                <a:ea typeface="맑은 고딕"/>
              </a:rPr>
              <a:t>: 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행동 유도 버튼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/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배너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en-US" altLang="ko-KR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3708" y="1279643"/>
            <a:ext cx="1969999" cy="3622256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802933" y="1279643"/>
            <a:ext cx="2140258" cy="3613745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091708" y="1185251"/>
            <a:ext cx="3526391" cy="3708137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26654" y="513700"/>
            <a:ext cx="8477249" cy="704838"/>
          </a:xfrm>
          <a:ln>
            <a:solidFill>
              <a:schemeClr val="accent6"/>
            </a:solidFill>
          </a:ln>
        </p:spPr>
        <p:txBody>
          <a:bodyPr>
            <a:noAutofit/>
          </a:bodyPr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</a:t>
            </a:r>
            <a:r>
              <a:rPr lang="ko-KR" altLang="en-US" sz="2800" b="1">
                <a:latin typeface="맑은 고딕"/>
                <a:ea typeface="맑은 고딕"/>
              </a:rPr>
              <a:t>2. IA (Information Architecture</a:t>
            </a:r>
            <a:r>
              <a:rPr lang="en-US" altLang="ko-KR" sz="2800" b="1">
                <a:latin typeface="맑은 고딕"/>
                <a:ea typeface="맑은 고딕"/>
              </a:rPr>
              <a:t>)</a:t>
            </a:r>
            <a:r>
              <a:rPr lang="ko-KR" altLang="en-US" sz="2800" b="1">
                <a:latin typeface="맑은 고딕"/>
                <a:ea typeface="맑은 고딕"/>
              </a:rPr>
              <a:t>               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627414"/>
            <a:ext cx="8477249" cy="3074364"/>
          </a:xfrm>
        </p:spPr>
        <p:txBody>
          <a:bodyPr>
            <a:normAutofit/>
          </a:bodyPr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뜻 : </a:t>
            </a:r>
            <a:r>
              <a:rPr lang="ko-KR" altLang="en-US" sz="2000">
                <a:latin typeface="맑은 고딕"/>
                <a:ea typeface="맑은 고딕"/>
              </a:rPr>
              <a:t>정보 구조 설계</a:t>
            </a:r>
            <a:r>
              <a:rPr lang="en-US" altLang="ko-KR" sz="2000">
                <a:latin typeface="맑은 고딕"/>
                <a:ea typeface="맑은 고딕"/>
              </a:rPr>
              <a:t>,</a:t>
            </a:r>
            <a:r>
              <a:rPr lang="ko-KR" altLang="en-US" sz="2000">
                <a:latin typeface="맑은 고딕"/>
                <a:ea typeface="맑은 고딕"/>
              </a:rPr>
              <a:t> 서비스 내 정보의 구조와 흐름을 설계하는 것</a:t>
            </a: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핀테크 예시:</a:t>
            </a:r>
            <a:endParaRPr lang="ko-KR" altLang="en-US" sz="2000" b="1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marL="0" lvl="0" indent="0">
              <a:lnSpc>
                <a:spcPct val="80000"/>
              </a:lnSpc>
              <a:buFont typeface="Wingdings"/>
              <a:buNone/>
              <a:defRPr/>
            </a:pPr>
            <a:r>
              <a:rPr lang="ko-KR" altLang="en-US" sz="2000">
                <a:latin typeface="맑은 고딕"/>
                <a:ea typeface="맑은 고딕"/>
              </a:rPr>
              <a:t>     </a:t>
            </a:r>
            <a:r>
              <a:rPr lang="ko-KR" altLang="en-US" sz="2000" b="1">
                <a:solidFill>
                  <a:srgbClr val="ff6600"/>
                </a:solidFill>
                <a:latin typeface="맑은 고딕"/>
                <a:ea typeface="맑은 고딕"/>
              </a:rPr>
              <a:t>'내 자산' &gt; '계좌 목록' &gt; '개별 계좌 상세 보기' &gt; '거래내역'</a:t>
            </a:r>
            <a:endParaRPr lang="ko-KR" altLang="en-US" sz="2000" b="1">
              <a:solidFill>
                <a:srgbClr val="ff6600"/>
              </a:solidFill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 b="1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>
                <a:latin typeface="맑은 고딕"/>
                <a:ea typeface="맑은 고딕"/>
              </a:rPr>
              <a:t>투자 메뉴의 카테고리 분류 (예: 펀드 / 주식 / 채권 / ETF 등)</a:t>
            </a: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활용 : </a:t>
            </a:r>
            <a:r>
              <a:rPr lang="ko-KR" altLang="en-US" sz="2000">
                <a:latin typeface="맑은 고딕"/>
                <a:ea typeface="맑은 고딕"/>
              </a:rPr>
              <a:t>정보가 복잡한 금융 앱에서 </a:t>
            </a:r>
            <a:r>
              <a:rPr lang="ko-KR" altLang="en-US" sz="2000" b="1" u="sng">
                <a:latin typeface="맑은 고딕"/>
                <a:ea typeface="맑은 고딕"/>
              </a:rPr>
              <a:t>사용자 탐색을 쉽게 만드는 핵심</a:t>
            </a:r>
            <a:endParaRPr lang="ko-KR" altLang="en-US" sz="2000" b="1" u="sng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557" y="390875"/>
            <a:ext cx="8320884" cy="733476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882" b="1">
                <a:solidFill>
                  <a:schemeClr val="accent1"/>
                </a:solidFill>
                <a:latin typeface="맑은 고딕"/>
                <a:ea typeface="맑은 고딕"/>
              </a:rPr>
              <a:t>IA</a:t>
            </a:r>
            <a:r>
              <a:rPr lang="en-US" altLang="ko-KR" sz="1882" b="1">
                <a:solidFill>
                  <a:schemeClr val="accent1"/>
                </a:solidFill>
                <a:latin typeface="맑은 고딕"/>
                <a:ea typeface="맑은 고딕"/>
              </a:rPr>
              <a:t>(Information architecture)</a:t>
            </a:r>
            <a:endParaRPr lang="ko-KR" altLang="en-US" sz="1882">
              <a:solidFill>
                <a:schemeClr val="accent1"/>
              </a:solidFill>
              <a:latin typeface="맑은 고딕"/>
              <a:ea typeface="맑은 고딕"/>
            </a:endParaRPr>
          </a:p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600">
                <a:solidFill>
                  <a:schemeClr val="lt1"/>
                </a:solidFill>
                <a:latin typeface="맑은 고딕"/>
                <a:ea typeface="맑은 고딕"/>
              </a:rPr>
              <a:t>제품</a:t>
            </a:r>
            <a:r>
              <a:rPr lang="en-US" altLang="ko-KR" sz="1600">
                <a:solidFill>
                  <a:schemeClr val="lt1"/>
                </a:solidFill>
                <a:latin typeface="맑은 고딕"/>
                <a:ea typeface="맑은 고딕"/>
              </a:rPr>
              <a:t>/</a:t>
            </a:r>
            <a:r>
              <a:rPr lang="ko-KR" altLang="en-US" sz="1600">
                <a:solidFill>
                  <a:schemeClr val="lt1"/>
                </a:solidFill>
                <a:latin typeface="맑은 고딕"/>
                <a:ea typeface="맑은 고딕"/>
              </a:rPr>
              <a:t>서비스를 구성하는 정보의 구조와 우선순위</a:t>
            </a:r>
            <a:r>
              <a:rPr lang="en-US" altLang="ko-KR" sz="1600">
                <a:solidFill>
                  <a:schemeClr val="lt1"/>
                </a:solidFill>
                <a:latin typeface="맑은 고딕"/>
                <a:ea typeface="맑은 고딕"/>
              </a:rPr>
              <a:t>,</a:t>
            </a:r>
            <a:r>
              <a:rPr lang="ko-KR" altLang="en-US" sz="1600">
                <a:solidFill>
                  <a:schemeClr val="lt1"/>
                </a:solidFill>
                <a:latin typeface="맑은 고딕"/>
                <a:ea typeface="맑은 고딕"/>
              </a:rPr>
              <a:t> 흐름의 설계 등을 포함한 도식</a:t>
            </a:r>
            <a:r>
              <a:rPr lang="en-US" altLang="ko-KR" sz="1600">
                <a:solidFill>
                  <a:schemeClr val="lt1"/>
                </a:solidFill>
                <a:latin typeface="맑은 고딕"/>
                <a:ea typeface="맑은 고딕"/>
              </a:rPr>
              <a:t>.</a:t>
            </a:r>
            <a:r>
              <a:rPr lang="ko-KR" altLang="en-US" sz="1600">
                <a:solidFill>
                  <a:schemeClr val="lt1"/>
                </a:solidFill>
                <a:latin typeface="맑은 고딕"/>
                <a:ea typeface="맑은 고딕"/>
              </a:rPr>
              <a:t> 금융 정보 구조</a:t>
            </a:r>
            <a:endParaRPr lang="en-US" altLang="ko-KR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558" y="1584155"/>
            <a:ext cx="4505883" cy="2988533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029123" y="1584155"/>
            <a:ext cx="3703319" cy="2988533"/>
          </a:xfrm>
          <a:prstGeom prst="rect">
            <a:avLst/>
          </a:prstGeom>
        </p:spPr>
      </p:pic>
      <p:sp>
        <p:nvSpPr>
          <p:cNvPr id="10" name="가로 글상자 9"/>
          <p:cNvSpPr txBox="1"/>
          <p:nvPr/>
        </p:nvSpPr>
        <p:spPr>
          <a:xfrm>
            <a:off x="397655" y="4634526"/>
            <a:ext cx="8046236" cy="22131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900">
                <a:latin typeface="맑은 고딕"/>
                <a:ea typeface="맑은 고딕"/>
              </a:rPr>
              <a:t>출처</a:t>
            </a:r>
            <a:r>
              <a:rPr lang="en-US" altLang="ko-KR" sz="900">
                <a:latin typeface="맑은 고딕"/>
                <a:ea typeface="맑은 고딕"/>
              </a:rPr>
              <a:t>:</a:t>
            </a:r>
            <a:r>
              <a:rPr lang="ko-KR" altLang="en-US" sz="900">
                <a:latin typeface="맑은 고딕"/>
                <a:ea typeface="맑은 고딕"/>
              </a:rPr>
              <a:t> 웹어벤저스</a:t>
            </a:r>
            <a:r>
              <a:rPr lang="en-US" altLang="ko-KR" sz="900">
                <a:latin typeface="맑은 고딕"/>
                <a:ea typeface="맑은 고딕"/>
              </a:rPr>
              <a:t>,</a:t>
            </a:r>
            <a:r>
              <a:rPr lang="ko-KR" altLang="en-US" sz="900">
                <a:latin typeface="맑은 고딕"/>
                <a:ea typeface="맑은 고딕"/>
              </a:rPr>
              <a:t> 세균무기 </a:t>
            </a:r>
            <a:endParaRPr lang="ko-KR" altLang="en-US" sz="9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59037175"/>
      </p:ext>
    </p:extLst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292876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</a:t>
            </a:r>
            <a:r>
              <a:rPr lang="ko-KR" altLang="en-US" sz="2800" b="1">
                <a:latin typeface="맑은 고딕"/>
                <a:ea typeface="맑은 고딕"/>
              </a:rPr>
              <a:t>3. UGC (User Generated Content)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437886"/>
            <a:ext cx="8477249" cy="3263892"/>
          </a:xfrm>
        </p:spPr>
        <p:txBody>
          <a:bodyPr>
            <a:normAutofit/>
          </a:bodyPr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뜻 : </a:t>
            </a:r>
            <a:r>
              <a:rPr lang="ko-KR" altLang="en-US" sz="2000">
                <a:latin typeface="맑은 고딕"/>
                <a:ea typeface="맑은 고딕"/>
              </a:rPr>
              <a:t>사용자가 직접 생성한 콘텐츠</a:t>
            </a: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핀테크 예시</a:t>
            </a:r>
            <a:r>
              <a:rPr lang="ko-KR" altLang="en-US" sz="2000">
                <a:latin typeface="맑은 고딕"/>
                <a:ea typeface="맑은 고딕"/>
              </a:rPr>
              <a:t> </a:t>
            </a:r>
            <a:r>
              <a:rPr lang="en-US" altLang="ko-KR" sz="2000">
                <a:latin typeface="맑은 고딕"/>
                <a:ea typeface="맑은 고딕"/>
              </a:rPr>
              <a:t>:</a:t>
            </a:r>
            <a:r>
              <a:rPr lang="ko-KR" altLang="en-US" sz="2000">
                <a:latin typeface="맑은 고딕"/>
                <a:ea typeface="맑은 고딕"/>
              </a:rPr>
              <a:t> 리뷰, 투자 후기, 대출 이용 후기, 커뮤니티 게시글</a:t>
            </a: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예 :</a:t>
            </a:r>
            <a:r>
              <a:rPr lang="ko-KR" altLang="en-US" sz="2000">
                <a:latin typeface="맑은 고딕"/>
                <a:ea typeface="맑은 고딕"/>
              </a:rPr>
              <a:t> 카카오뱅크 커뮤니티에서 "내 예적금 후기"</a:t>
            </a: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활용 :</a:t>
            </a:r>
            <a:r>
              <a:rPr lang="ko-KR" altLang="en-US" sz="2000">
                <a:latin typeface="맑은 고딕"/>
                <a:ea typeface="맑은 고딕"/>
              </a:rPr>
              <a:t> 타 사용자에게 </a:t>
            </a:r>
            <a:r>
              <a:rPr lang="ko-KR" altLang="en-US" sz="2000" b="1" u="sng">
                <a:solidFill>
                  <a:srgbClr val="ff6600"/>
                </a:solidFill>
                <a:latin typeface="맑은 고딕"/>
                <a:ea typeface="맑은 고딕"/>
              </a:rPr>
              <a:t>신뢰도 제공, 서비스 신뢰도 증가</a:t>
            </a:r>
            <a:r>
              <a:rPr lang="ko-KR" altLang="en-US" sz="2000">
                <a:latin typeface="맑은 고딕"/>
                <a:ea typeface="맑은 고딕"/>
              </a:rPr>
              <a:t>에 기여</a:t>
            </a:r>
            <a:endParaRPr lang="ko-KR" altLang="en-US" sz="20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273826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</a:t>
            </a:r>
            <a:r>
              <a:rPr lang="ko-KR" altLang="en-US" sz="2800" b="1">
                <a:latin typeface="맑은 고딕"/>
                <a:ea typeface="맑은 고딕"/>
              </a:rPr>
              <a:t>4. VOC (Voice of Customer)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635882"/>
            <a:ext cx="8477249" cy="3404823"/>
          </a:xfrm>
        </p:spPr>
        <p:txBody>
          <a:bodyPr>
            <a:normAutofit/>
          </a:bodyPr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뜻 : </a:t>
            </a:r>
            <a:r>
              <a:rPr lang="ko-KR" altLang="en-US" sz="2000">
                <a:latin typeface="맑은 고딕"/>
                <a:ea typeface="맑은 고딕"/>
              </a:rPr>
              <a:t>고객의 소리, 불만, 건의사항, 후기 등 </a:t>
            </a:r>
            <a:r>
              <a:rPr lang="ko-KR" altLang="en-US" sz="2000" b="1">
                <a:solidFill>
                  <a:srgbClr val="ff6600"/>
                </a:solidFill>
                <a:latin typeface="맑은 고딕"/>
                <a:ea typeface="맑은 고딕"/>
              </a:rPr>
              <a:t>사용자의 모든 피드백</a:t>
            </a:r>
            <a:endParaRPr lang="ko-KR" altLang="en-US" sz="2000" b="1">
              <a:solidFill>
                <a:srgbClr val="ff6600"/>
              </a:solidFill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핀테크 예시</a:t>
            </a:r>
            <a:r>
              <a:rPr lang="ko-KR" altLang="en-US" sz="2000">
                <a:latin typeface="맑은 고딕"/>
                <a:ea typeface="맑은 고딕"/>
              </a:rPr>
              <a:t> </a:t>
            </a:r>
            <a:r>
              <a:rPr lang="en-US" altLang="ko-KR" sz="2000">
                <a:latin typeface="맑은 고딕"/>
                <a:ea typeface="맑은 고딕"/>
              </a:rPr>
              <a:t>:</a:t>
            </a:r>
            <a:r>
              <a:rPr lang="ko-KR" altLang="en-US" sz="2000">
                <a:latin typeface="맑은 고딕"/>
                <a:ea typeface="맑은 고딕"/>
              </a:rPr>
              <a:t> 앱 내 고객센터 문의 내용, 앱스토어 리뷰, 전화 상담 기록</a:t>
            </a: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lvl="0">
              <a:lnSpc>
                <a:spcPct val="8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활용 :</a:t>
            </a:r>
            <a:r>
              <a:rPr lang="ko-KR" altLang="en-US" sz="2000">
                <a:latin typeface="맑은 고딕"/>
                <a:ea typeface="맑은 고딕"/>
              </a:rPr>
              <a:t> 불편한 지점 개선, 신규 기능 아이디어 도출</a:t>
            </a:r>
            <a:endParaRPr lang="ko-KR" altLang="en-US" sz="20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654" y="450713"/>
            <a:ext cx="8320884" cy="476360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882" b="1">
                <a:solidFill>
                  <a:schemeClr val="accent1"/>
                </a:solidFill>
                <a:latin typeface="맑은 고딕"/>
                <a:ea typeface="맑은 고딕"/>
              </a:rPr>
              <a:t>VOC</a:t>
            </a:r>
            <a:r>
              <a:rPr lang="en-US" altLang="ko-KR" sz="1882" b="1">
                <a:solidFill>
                  <a:schemeClr val="accent1"/>
                </a:solidFill>
                <a:latin typeface="맑은 고딕"/>
                <a:ea typeface="맑은 고딕"/>
              </a:rPr>
              <a:t>(voice of customer)</a:t>
            </a:r>
            <a:r>
              <a:rPr lang="ko-KR" altLang="en-US" sz="1882" b="1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: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고객 의견 분석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7204" y="1338979"/>
            <a:ext cx="2189651" cy="3412945"/>
          </a:xfrm>
          <a:prstGeom prst="rect">
            <a:avLst/>
          </a:prstGeom>
          <a:solidFill>
            <a:schemeClr val="dk1"/>
          </a:solidFill>
          <a:ln>
            <a:solidFill>
              <a:schemeClr val="accent2"/>
            </a:solidFill>
          </a:ln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00914" y="1338979"/>
            <a:ext cx="2497328" cy="3412945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093328" y="1338979"/>
            <a:ext cx="2453013" cy="3412946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20" name="직사각형 19"/>
          <p:cNvSpPr/>
          <p:nvPr/>
        </p:nvSpPr>
        <p:spPr>
          <a:xfrm>
            <a:off x="1635355" y="4092834"/>
            <a:ext cx="1031644" cy="86502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21" name="가로 글상자 20"/>
          <p:cNvSpPr txBox="1"/>
          <p:nvPr/>
        </p:nvSpPr>
        <p:spPr>
          <a:xfrm>
            <a:off x="1555333" y="4758117"/>
            <a:ext cx="1317723" cy="21202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800">
                <a:latin typeface="맑은 고딕"/>
                <a:ea typeface="맑은 고딕"/>
              </a:rPr>
              <a:t>출처</a:t>
            </a:r>
            <a:r>
              <a:rPr lang="en-US" altLang="ko-KR" sz="800">
                <a:latin typeface="맑은 고딕"/>
                <a:ea typeface="맑은 고딕"/>
              </a:rPr>
              <a:t>:</a:t>
            </a:r>
            <a:r>
              <a:rPr lang="ko-KR" altLang="en-US" sz="800">
                <a:latin typeface="맑은 고딕"/>
                <a:ea typeface="맑은 고딕"/>
              </a:rPr>
              <a:t>비지니스포스트</a:t>
            </a:r>
            <a:endParaRPr lang="ko-KR" altLang="en-US" sz="8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08856920"/>
      </p:ext>
    </p:extLst>
  </p:cSld>
  <p:clrMapOvr>
    <a:masterClrMapping/>
  </p:clrMapOvr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78576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1-5</a:t>
            </a:r>
            <a:r>
              <a:rPr lang="ko-KR" altLang="en-US" sz="2800" b="1">
                <a:latin typeface="맑은 고딕"/>
                <a:ea typeface="맑은 고딕"/>
              </a:rPr>
              <a:t>. 사용성 (Usability)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152525"/>
            <a:ext cx="8477249" cy="3720704"/>
          </a:xfrm>
        </p:spPr>
        <p:txBody>
          <a:bodyPr>
            <a:normAutofit lnSpcReduction="10000"/>
          </a:bodyPr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700" b="1">
                <a:latin typeface="맑은 고딕"/>
                <a:ea typeface="맑은 고딕"/>
              </a:rPr>
              <a:t>뜻 :</a:t>
            </a:r>
            <a:r>
              <a:rPr lang="ko-KR" altLang="en-US" sz="1700">
                <a:latin typeface="맑은 고딕"/>
                <a:ea typeface="맑은 고딕"/>
              </a:rPr>
              <a:t>  사용자가 어떤 제품이나 서비스를 얼마나 </a:t>
            </a:r>
            <a:r>
              <a:rPr lang="ko-KR" altLang="en-US" sz="1700" b="1" u="sng">
                <a:solidFill>
                  <a:schemeClr val="accent1"/>
                </a:solidFill>
                <a:latin typeface="맑은 고딕"/>
                <a:ea typeface="맑은 고딕"/>
              </a:rPr>
              <a:t>쉽고 효율적으로 사용</a:t>
            </a:r>
            <a:r>
              <a:rPr lang="ko-KR" altLang="en-US" sz="1700">
                <a:latin typeface="맑은 고딕"/>
                <a:ea typeface="맑은 고딕"/>
              </a:rPr>
              <a:t>할 수 있는가를 의미</a:t>
            </a:r>
            <a:r>
              <a:rPr lang="en-US" altLang="ko-KR" sz="1700">
                <a:latin typeface="맑은 고딕"/>
                <a:ea typeface="맑은 고딕"/>
              </a:rPr>
              <a:t>.</a:t>
            </a:r>
            <a:endParaRPr lang="en-US" altLang="ko-KR" sz="1700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700" b="1">
                <a:latin typeface="맑은 고딕"/>
                <a:ea typeface="맑은 고딕"/>
              </a:rPr>
              <a:t>핵심 요소 (ISO 9241-11 기준): </a:t>
            </a:r>
            <a:endParaRPr lang="ko-KR" altLang="en-US" sz="1700" b="1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700">
                <a:latin typeface="맑은 고딕"/>
                <a:ea typeface="맑은 고딕"/>
              </a:rPr>
              <a:t>    </a:t>
            </a:r>
            <a:r>
              <a:rPr lang="en-US" altLang="ko-KR" sz="1700">
                <a:latin typeface="맑은 고딕"/>
                <a:ea typeface="맑은 고딕"/>
              </a:rPr>
              <a:t>-</a:t>
            </a:r>
            <a:r>
              <a:rPr lang="ko-KR" altLang="en-US" sz="1700">
                <a:latin typeface="맑은 고딕"/>
                <a:ea typeface="맑은 고딕"/>
              </a:rPr>
              <a:t> </a:t>
            </a:r>
            <a:r>
              <a:rPr lang="ko-KR" altLang="en-US" sz="1700" b="1">
                <a:solidFill>
                  <a:srgbClr val="ff6600"/>
                </a:solidFill>
                <a:latin typeface="맑은 고딕"/>
                <a:ea typeface="맑은 고딕"/>
              </a:rPr>
              <a:t>효과성:</a:t>
            </a:r>
            <a:r>
              <a:rPr lang="ko-KR" altLang="en-US" sz="1700">
                <a:latin typeface="맑은 고딕"/>
                <a:ea typeface="맑은 고딕"/>
              </a:rPr>
              <a:t> 사용자가 목표를 얼마나 정확히 달성하는가? </a:t>
            </a:r>
            <a:endParaRPr lang="ko-KR" altLang="en-US" sz="17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700">
                <a:latin typeface="맑은 고딕"/>
                <a:ea typeface="맑은 고딕"/>
              </a:rPr>
              <a:t>    </a:t>
            </a:r>
            <a:r>
              <a:rPr lang="en-US" altLang="ko-KR" sz="1700">
                <a:latin typeface="맑은 고딕"/>
                <a:ea typeface="맑은 고딕"/>
              </a:rPr>
              <a:t>-</a:t>
            </a:r>
            <a:r>
              <a:rPr lang="ko-KR" altLang="en-US" sz="1700">
                <a:latin typeface="맑은 고딕"/>
                <a:ea typeface="맑은 고딕"/>
              </a:rPr>
              <a:t> </a:t>
            </a:r>
            <a:r>
              <a:rPr lang="ko-KR" altLang="en-US" sz="1700" b="1">
                <a:solidFill>
                  <a:srgbClr val="ff6600"/>
                </a:solidFill>
                <a:latin typeface="맑은 고딕"/>
                <a:ea typeface="맑은 고딕"/>
              </a:rPr>
              <a:t>효율성:</a:t>
            </a:r>
            <a:r>
              <a:rPr lang="ko-KR" altLang="en-US" sz="1700">
                <a:latin typeface="맑은 고딕"/>
                <a:ea typeface="맑은 고딕"/>
              </a:rPr>
              <a:t> 목표를 얼마나 빠르고 자원 낭비 없이 달성하는가?</a:t>
            </a:r>
            <a:endParaRPr lang="ko-KR" altLang="en-US" sz="1700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700" b="1">
                <a:latin typeface="맑은 고딕"/>
                <a:ea typeface="맑은 고딕"/>
              </a:rPr>
              <a:t>만족도: </a:t>
            </a:r>
            <a:r>
              <a:rPr lang="ko-KR" altLang="en-US" sz="1700">
                <a:latin typeface="맑은 고딕"/>
                <a:ea typeface="맑은 고딕"/>
              </a:rPr>
              <a:t>사용자가 얼마나 만족하는 경험을 하는가?</a:t>
            </a:r>
            <a:endParaRPr lang="ko-KR" altLang="en-US" sz="1700">
              <a:latin typeface="맑은 고딕"/>
              <a:ea typeface="맑은 고딕"/>
            </a:endParaRPr>
          </a:p>
          <a:p>
            <a:pPr lvl="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1700" b="1">
                <a:latin typeface="맑은 고딕"/>
                <a:ea typeface="맑은 고딕"/>
              </a:rPr>
              <a:t>예시 (핀테크 앱 기준):</a:t>
            </a:r>
            <a:endParaRPr lang="ko-KR" altLang="en-US" sz="1700" b="1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700">
                <a:latin typeface="맑은 고딕"/>
                <a:ea typeface="맑은 고딕"/>
              </a:rPr>
              <a:t>     로그인/송금/조회 등 기능이 명확하게 배치되어 있고, 사용자가 학습 없이도 </a:t>
            </a:r>
            <a:endParaRPr lang="ko-KR" altLang="en-US" sz="1700" b="1" u="sng">
              <a:solidFill>
                <a:srgbClr val="ff6600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700" b="1" u="sng">
                <a:solidFill>
                  <a:srgbClr val="ff6600"/>
                </a:solidFill>
                <a:latin typeface="맑은 고딕"/>
                <a:ea typeface="맑은 고딕"/>
              </a:rPr>
              <a:t>     직관적으로</a:t>
            </a:r>
            <a:r>
              <a:rPr lang="ko-KR" altLang="en-US" sz="1700">
                <a:latin typeface="맑은 고딕"/>
                <a:ea typeface="맑은 고딕"/>
              </a:rPr>
              <a:t>사용할 수 있다면 </a:t>
            </a:r>
            <a:r>
              <a:rPr lang="ko-KR" altLang="en-US" sz="1700" b="1">
                <a:solidFill>
                  <a:srgbClr val="ff0000"/>
                </a:solidFill>
                <a:latin typeface="맑은 고딕"/>
                <a:ea typeface="맑은 고딕"/>
              </a:rPr>
              <a:t>→ 사용성이 좋음</a:t>
            </a:r>
            <a:endParaRPr lang="ko-KR" altLang="en-US" sz="1700" b="1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654" y="393563"/>
            <a:ext cx="8320884" cy="476360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882" b="1">
                <a:solidFill>
                  <a:schemeClr val="accent1"/>
                </a:solidFill>
                <a:latin typeface="맑은 고딕"/>
                <a:ea typeface="맑은 고딕"/>
              </a:rPr>
              <a:t>사용성</a:t>
            </a:r>
            <a:r>
              <a:rPr lang="en-US" altLang="ko-KR" sz="1882" b="1">
                <a:solidFill>
                  <a:schemeClr val="accent1"/>
                </a:solidFill>
                <a:latin typeface="맑은 고딕"/>
                <a:ea typeface="맑은 고딕"/>
              </a:rPr>
              <a:t>(usability)</a:t>
            </a:r>
            <a:r>
              <a:rPr lang="ko-KR" altLang="en-US" sz="1882" b="1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: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서비스 사용시 사용 편의성</a:t>
            </a:r>
            <a:r>
              <a:rPr lang="ko-KR" altLang="en-US" sz="1600">
                <a:latin typeface="맑은 고딕"/>
                <a:ea typeface="맑은 고딕"/>
              </a:rPr>
              <a:t>서비스 사용시의 사용 편의성</a:t>
            </a:r>
            <a:endParaRPr lang="ko-KR" altLang="en-US" sz="1600">
              <a:latin typeface="맑은 고딕"/>
              <a:ea typeface="맑은 고딕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7654" y="1468812"/>
            <a:ext cx="3343456" cy="3516912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41111" y="1468812"/>
            <a:ext cx="3942458" cy="3516912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7" name="가로 글상자 16"/>
          <p:cNvSpPr txBox="1"/>
          <p:nvPr/>
        </p:nvSpPr>
        <p:spPr>
          <a:xfrm>
            <a:off x="7683570" y="3461074"/>
            <a:ext cx="975432" cy="49942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900">
                <a:latin typeface="맑은 고딕"/>
                <a:ea typeface="맑은 고딕"/>
              </a:rPr>
              <a:t>출처</a:t>
            </a:r>
            <a:r>
              <a:rPr lang="en-US" altLang="ko-KR" sz="900">
                <a:latin typeface="맑은 고딕"/>
                <a:ea typeface="맑은 고딕"/>
              </a:rPr>
              <a:t>:</a:t>
            </a:r>
            <a:r>
              <a:rPr lang="ko-KR" altLang="en-US" sz="900">
                <a:latin typeface="맑은 고딕"/>
                <a:ea typeface="맑은 고딕"/>
              </a:rPr>
              <a:t> 전자신문</a:t>
            </a:r>
            <a:endParaRPr lang="ko-KR" altLang="en-US" sz="900"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 sz="900"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900">
                <a:latin typeface="맑은 고딕"/>
                <a:ea typeface="맑은 고딕"/>
                <a:hlinkClick r:id="rId4"/>
              </a:rPr>
              <a:t>전문보기</a:t>
            </a:r>
            <a:endParaRPr lang="ko-KR" altLang="en-US" sz="9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66428669"/>
      </p:ext>
    </p:extLst>
  </p:cSld>
  <p:clrMapOvr>
    <a:masterClrMapping/>
  </p:clrMapOvr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8" y="299477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1-6</a:t>
            </a:r>
            <a:r>
              <a:rPr lang="ko-KR" altLang="en-US" sz="2800" b="1">
                <a:latin typeface="맑은 고딕"/>
                <a:ea typeface="맑은 고딕"/>
              </a:rPr>
              <a:t>. 스토리보드 (Storyboard)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571274"/>
            <a:ext cx="8477249" cy="3130504"/>
          </a:xfrm>
        </p:spPr>
        <p:txBody>
          <a:bodyPr>
            <a:normAutofit/>
          </a:bodyPr>
          <a:p>
            <a:pPr marL="0" lvl="0" indent="0">
              <a:buNone/>
              <a:defRPr/>
            </a:pPr>
            <a:r>
              <a:rPr lang="ko-KR" altLang="en-US" sz="1500" b="1">
                <a:latin typeface="맑은 고딕"/>
                <a:ea typeface="맑은 고딕"/>
              </a:rPr>
              <a:t>뜻 :</a:t>
            </a:r>
            <a:r>
              <a:rPr lang="ko-KR" altLang="en-US" sz="1500">
                <a:latin typeface="맑은 고딕"/>
                <a:ea typeface="맑은 고딕"/>
              </a:rPr>
              <a:t> 사용자가 서비스 흐름을 따라가며 어떤 화면을 마주하고 어떤 행동을 하는지를 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 시각적으로 보여주는 문서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500" b="1">
                <a:latin typeface="맑은 고딕"/>
                <a:ea typeface="맑은 고딕"/>
              </a:rPr>
              <a:t>핀테크 예시 :</a:t>
            </a:r>
            <a:endParaRPr lang="ko-KR" altLang="en-US" sz="15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500" b="1">
                <a:solidFill>
                  <a:srgbClr val="ff6600"/>
                </a:solidFill>
                <a:latin typeface="맑은 고딕"/>
                <a:ea typeface="맑은 고딕"/>
              </a:rPr>
              <a:t>계좌 개설 흐름 : 본인 인증 → 약관 동의 → 입금계좌 설정 → 완료 화면</a:t>
            </a:r>
            <a:endParaRPr lang="ko-KR" altLang="en-US" sz="1500" b="1">
              <a:solidFill>
                <a:srgbClr val="ff6600"/>
              </a:solidFill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500" b="1">
                <a:latin typeface="맑은 고딕"/>
                <a:ea typeface="맑은 고딕"/>
              </a:rPr>
              <a:t>활용 : </a:t>
            </a:r>
            <a:r>
              <a:rPr lang="ko-KR" altLang="en-US" sz="1500">
                <a:latin typeface="맑은 고딕"/>
                <a:ea typeface="맑은 고딕"/>
              </a:rPr>
              <a:t>개발자, 디자이너와 </a:t>
            </a:r>
            <a:r>
              <a:rPr lang="ko-KR" altLang="en-US" sz="1500" u="sng">
                <a:latin typeface="맑은 고딕"/>
                <a:ea typeface="맑은 고딕"/>
              </a:rPr>
              <a:t>커뮤니케이션 용도</a:t>
            </a:r>
            <a:r>
              <a:rPr lang="ko-KR" altLang="en-US" sz="1500">
                <a:latin typeface="맑은 고딕"/>
                <a:ea typeface="맑은 고딕"/>
              </a:rPr>
              <a:t>로 사용</a:t>
            </a:r>
            <a:endParaRPr lang="ko-KR" altLang="en-US" sz="15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557" y="326596"/>
            <a:ext cx="8320884" cy="715826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anchor="ctr" anchorCtr="0">
            <a:normAutofit fontScale="25000" lnSpcReduction="20000"/>
          </a:bodyPr>
          <a:lstStyle/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6000" b="1">
                <a:solidFill>
                  <a:schemeClr val="accent1"/>
                </a:solidFill>
                <a:latin typeface="맑은 고딕"/>
                <a:ea typeface="맑은 고딕"/>
              </a:rPr>
              <a:t>스토리보드</a:t>
            </a:r>
            <a:r>
              <a:rPr lang="en-US" altLang="ko-KR" sz="6000" b="1">
                <a:solidFill>
                  <a:schemeClr val="accent1"/>
                </a:solidFill>
                <a:latin typeface="맑은 고딕"/>
                <a:ea typeface="맑은 고딕"/>
              </a:rPr>
              <a:t>(Story Board)</a:t>
            </a:r>
            <a:r>
              <a:rPr lang="ko-KR" altLang="en-US" sz="6000" b="1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endParaRPr lang="ko-KR" altLang="en-US" sz="6000">
              <a:solidFill>
                <a:schemeClr val="lt1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6000">
                <a:solidFill>
                  <a:schemeClr val="lt1"/>
                </a:solidFill>
                <a:latin typeface="맑은 고딕"/>
                <a:ea typeface="맑은 고딕"/>
              </a:rPr>
              <a:t>사용자가 서비스를 이용하는 과정을 시각적으로 표현 </a:t>
            </a:r>
            <a:r>
              <a:rPr lang="en-US" altLang="ko-KR" sz="6000">
                <a:solidFill>
                  <a:schemeClr val="lt1"/>
                </a:solidFill>
                <a:latin typeface="맑은 고딕"/>
                <a:ea typeface="맑은 고딕"/>
              </a:rPr>
              <a:t>→</a:t>
            </a:r>
            <a:r>
              <a:rPr lang="ko-KR" altLang="en-US" sz="6000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ko-KR" altLang="en-US" sz="6000" b="1">
                <a:solidFill>
                  <a:srgbClr val="ff0000"/>
                </a:solidFill>
                <a:latin typeface="맑은 고딕"/>
                <a:ea typeface="맑은 고딕"/>
              </a:rPr>
              <a:t>와이어프레임으로 간소화</a:t>
            </a:r>
            <a:r>
              <a:rPr lang="ko-KR" altLang="en-US" sz="4800">
                <a:latin typeface="맑은 고딕"/>
                <a:ea typeface="맑은 고딕"/>
              </a:rPr>
              <a:t>용</a:t>
            </a:r>
            <a:r>
              <a:rPr lang="ko-KR" altLang="en-US" sz="1700">
                <a:latin typeface="맑은 고딕"/>
                <a:ea typeface="맑은 고딕"/>
              </a:rPr>
              <a:t>시의 사용 편의성</a:t>
            </a:r>
            <a:endParaRPr lang="ko-KR" altLang="en-US" sz="1700">
              <a:latin typeface="맑은 고딕"/>
              <a:ea typeface="맑은 고딕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1557" y="1211052"/>
            <a:ext cx="7426712" cy="3835135"/>
          </a:xfrm>
          <a:prstGeom prst="rect">
            <a:avLst/>
          </a:prstGeom>
        </p:spPr>
      </p:pic>
      <p:sp>
        <p:nvSpPr>
          <p:cNvPr id="19" name="가로 글상자 18"/>
          <p:cNvSpPr txBox="1"/>
          <p:nvPr/>
        </p:nvSpPr>
        <p:spPr>
          <a:xfrm>
            <a:off x="7757010" y="3128619"/>
            <a:ext cx="975432" cy="499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>
                <a:latin typeface="맑은 고딕"/>
                <a:ea typeface="맑은 고딕"/>
              </a:rPr>
              <a:t>출처</a:t>
            </a:r>
            <a:r>
              <a:rPr lang="en-US" altLang="ko-KR" sz="900">
                <a:latin typeface="맑은 고딕"/>
                <a:ea typeface="맑은 고딕"/>
              </a:rPr>
              <a:t>:</a:t>
            </a:r>
            <a:r>
              <a:rPr lang="ko-KR" altLang="en-US" sz="900">
                <a:latin typeface="맑은 고딕"/>
                <a:ea typeface="맑은 고딕"/>
              </a:rPr>
              <a:t> 피그마</a:t>
            </a:r>
            <a:endParaRPr lang="ko-KR" altLang="en-US" sz="900"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 sz="900"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900">
                <a:latin typeface="맑은 고딕"/>
                <a:ea typeface="맑은 고딕"/>
                <a:hlinkClick r:id="rId3"/>
              </a:rPr>
              <a:t>홈페이지</a:t>
            </a:r>
            <a:r>
              <a:rPr lang="ko-KR" altLang="en-US" sz="900">
                <a:latin typeface="맑은 고딕"/>
                <a:ea typeface="맑은 고딕"/>
              </a:rPr>
              <a:t> 실행</a:t>
            </a:r>
            <a:endParaRPr lang="ko-KR" altLang="en-US" sz="9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56225631"/>
      </p:ext>
    </p:extLst>
  </p:cSld>
  <p:clrMapOvr>
    <a:masterClrMapping/>
  </p:clrMapOvr>
</p:sld>
</file>

<file path=ppt/slides/slide5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33375" y="213803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1-7</a:t>
            </a:r>
            <a:r>
              <a:rPr lang="ko-KR" altLang="en-US" sz="2800" b="1">
                <a:latin typeface="맑은 고딕"/>
                <a:ea typeface="맑은 고딕"/>
              </a:rPr>
              <a:t>. 어포던스 (Affordance)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219200"/>
            <a:ext cx="8477249" cy="3720704"/>
          </a:xfrm>
        </p:spPr>
        <p:txBody>
          <a:bodyPr>
            <a:normAutofit lnSpcReduction="10000"/>
          </a:bodyPr>
          <a:p>
            <a:pPr marL="0" lvl="0" indent="0">
              <a:buNone/>
              <a:defRPr/>
            </a:pPr>
            <a:r>
              <a:rPr lang="ko-KR" altLang="en-US" sz="1500" b="1">
                <a:latin typeface="맑은 고딕"/>
                <a:ea typeface="맑은 고딕"/>
              </a:rPr>
              <a:t>뜻 : </a:t>
            </a:r>
            <a:r>
              <a:rPr lang="ko-KR" altLang="en-US" sz="1500">
                <a:latin typeface="맑은 고딕"/>
                <a:ea typeface="맑은 고딕"/>
              </a:rPr>
              <a:t>객체(제품/기능)가 사용자에게 “어떻게 사용할 수 있는지에 대한 힌트”를 제공하는 성질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  </a:t>
            </a:r>
            <a:r>
              <a:rPr lang="ko-KR" altLang="en-US" sz="1500" b="1">
                <a:latin typeface="맑은 고딕"/>
                <a:ea typeface="맑은 고딕"/>
              </a:rPr>
              <a:t>→ “</a:t>
            </a:r>
            <a:r>
              <a:rPr lang="ko-KR" altLang="en-US" sz="1500" b="1">
                <a:solidFill>
                  <a:srgbClr val="ff6600"/>
                </a:solidFill>
                <a:latin typeface="맑은 고딕"/>
                <a:ea typeface="맑은 고딕"/>
              </a:rPr>
              <a:t>눌러보세요</a:t>
            </a:r>
            <a:r>
              <a:rPr lang="ko-KR" altLang="en-US" sz="1500" b="1">
                <a:latin typeface="맑은 고딕"/>
                <a:ea typeface="맑은 고딕"/>
              </a:rPr>
              <a:t>”, “</a:t>
            </a: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여기로 드래그하세요</a:t>
            </a:r>
            <a:r>
              <a:rPr lang="ko-KR" altLang="en-US" sz="1500" b="1">
                <a:latin typeface="맑은 고딕"/>
                <a:ea typeface="맑은 고딕"/>
              </a:rPr>
              <a:t>”와 같은 ‘암시’</a:t>
            </a:r>
            <a:endParaRPr lang="ko-KR" altLang="en-US" sz="1500" b="1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ko-KR" altLang="en-US" sz="1500" b="1">
                <a:latin typeface="맑은 고딕"/>
                <a:ea typeface="맑은 고딕"/>
              </a:rPr>
              <a:t>종류 : </a:t>
            </a:r>
            <a:endParaRPr lang="ko-KR" altLang="en-US" sz="1500" b="1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en-US" altLang="ko-KR" sz="1500" b="1">
                <a:solidFill>
                  <a:schemeClr val="accent1"/>
                </a:solidFill>
                <a:latin typeface="맑은 고딕"/>
                <a:ea typeface="맑은 고딕"/>
              </a:rPr>
              <a:t>-</a:t>
            </a: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 명시적 어포던스 (Explicit):</a:t>
            </a:r>
            <a:r>
              <a:rPr lang="ko-KR" altLang="en-US" sz="1500">
                <a:latin typeface="맑은 고딕"/>
                <a:ea typeface="맑은 고딕"/>
              </a:rPr>
              <a:t> 버튼처럼 시각적으로 누를 수 있음을 알려줌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en-US" altLang="ko-KR" sz="1500" b="1">
                <a:solidFill>
                  <a:schemeClr val="accent1"/>
                </a:solidFill>
                <a:latin typeface="맑은 고딕"/>
                <a:ea typeface="맑은 고딕"/>
              </a:rPr>
              <a:t>-</a:t>
            </a: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 암묵적 어포던스 (Implicit):</a:t>
            </a:r>
            <a:r>
              <a:rPr lang="ko-KR" altLang="en-US" sz="1500">
                <a:latin typeface="맑은 고딕"/>
                <a:ea typeface="맑은 고딕"/>
              </a:rPr>
              <a:t> 그림자, 입체 효과 등으로 사용자를 유도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ko-KR" altLang="en-US" sz="1500" b="1">
                <a:latin typeface="맑은 고딕"/>
                <a:ea typeface="맑은 고딕"/>
              </a:rPr>
              <a:t>예시 (핀테크 앱 기준) :</a:t>
            </a:r>
            <a:endParaRPr lang="ko-KR" altLang="en-US" sz="1500" b="1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en-US" altLang="ko-KR" sz="1500">
                <a:latin typeface="맑은 고딕"/>
                <a:ea typeface="맑은 고딕"/>
              </a:rPr>
              <a:t>-</a:t>
            </a:r>
            <a:r>
              <a:rPr lang="ko-KR" altLang="en-US" sz="1500">
                <a:latin typeface="맑은 고딕"/>
                <a:ea typeface="맑은 고딕"/>
              </a:rPr>
              <a:t> 버튼이 입체적으로 보이면 </a:t>
            </a:r>
            <a:r>
              <a:rPr lang="en-US" altLang="ko-KR" sz="1500" b="1">
                <a:solidFill>
                  <a:schemeClr val="accent1"/>
                </a:solidFill>
                <a:latin typeface="맑은 고딕"/>
                <a:ea typeface="맑은 고딕"/>
              </a:rPr>
              <a:t>‘</a:t>
            </a: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여기를 눌러라</a:t>
            </a:r>
            <a:r>
              <a:rPr lang="en-US" altLang="ko-KR" sz="1500" b="1">
                <a:solidFill>
                  <a:schemeClr val="accent1"/>
                </a:solidFill>
                <a:latin typeface="맑은 고딕"/>
                <a:ea typeface="맑은 고딕"/>
              </a:rPr>
              <a:t>’</a:t>
            </a:r>
            <a:r>
              <a:rPr lang="ko-KR" altLang="en-US" sz="1500">
                <a:latin typeface="맑은 고딕"/>
                <a:ea typeface="맑은 고딕"/>
              </a:rPr>
              <a:t>는 어포던스 제공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en-US" altLang="ko-KR" sz="1500">
                <a:latin typeface="맑은 고딕"/>
                <a:ea typeface="맑은 고딕"/>
              </a:rPr>
              <a:t>-</a:t>
            </a:r>
            <a:r>
              <a:rPr lang="ko-KR" altLang="en-US" sz="1500">
                <a:latin typeface="맑은 고딕"/>
                <a:ea typeface="맑은 고딕"/>
              </a:rPr>
              <a:t> 카드처럼 생긴 UI는 </a:t>
            </a:r>
            <a:r>
              <a:rPr lang="en-US" altLang="ko-KR" sz="1500" b="1">
                <a:solidFill>
                  <a:srgbClr val="ff6600"/>
                </a:solidFill>
                <a:latin typeface="맑은 고딕"/>
                <a:ea typeface="맑은 고딕"/>
              </a:rPr>
              <a:t>‘</a:t>
            </a:r>
            <a:r>
              <a:rPr lang="ko-KR" altLang="en-US" sz="1500" b="1">
                <a:solidFill>
                  <a:srgbClr val="ff6600"/>
                </a:solidFill>
                <a:latin typeface="맑은 고딕"/>
                <a:ea typeface="맑은 고딕"/>
              </a:rPr>
              <a:t>좌우로 넘길 수 있다</a:t>
            </a:r>
            <a:r>
              <a:rPr lang="en-US" altLang="ko-KR" sz="1500" b="1">
                <a:solidFill>
                  <a:srgbClr val="ff6600"/>
                </a:solidFill>
                <a:latin typeface="맑은 고딕"/>
                <a:ea typeface="맑은 고딕"/>
              </a:rPr>
              <a:t>’</a:t>
            </a:r>
            <a:r>
              <a:rPr lang="ko-KR" altLang="en-US" sz="1500">
                <a:latin typeface="맑은 고딕"/>
                <a:ea typeface="맑은 고딕"/>
              </a:rPr>
              <a:t>는 힌트를 줌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None/>
              <a:defRPr/>
            </a:pPr>
            <a:r>
              <a:rPr lang="en-US" altLang="ko-KR" sz="1500">
                <a:latin typeface="맑은 고딕"/>
                <a:ea typeface="맑은 고딕"/>
              </a:rPr>
              <a:t>-</a:t>
            </a:r>
            <a:r>
              <a:rPr lang="ko-KR" altLang="en-US" sz="1500">
                <a:latin typeface="맑은 고딕"/>
                <a:ea typeface="맑은 고딕"/>
              </a:rPr>
              <a:t> 텍스트 필드가 네모 상자로 되어 있으면 </a:t>
            </a:r>
            <a:r>
              <a:rPr lang="en-US" altLang="ko-KR" sz="1500" b="1">
                <a:solidFill>
                  <a:srgbClr val="3057b9"/>
                </a:solidFill>
                <a:latin typeface="맑은 고딕"/>
                <a:ea typeface="맑은 고딕"/>
              </a:rPr>
              <a:t>‘</a:t>
            </a:r>
            <a:r>
              <a:rPr lang="ko-KR" altLang="en-US" sz="1500" b="1">
                <a:solidFill>
                  <a:srgbClr val="3057b9"/>
                </a:solidFill>
                <a:latin typeface="맑은 고딕"/>
                <a:ea typeface="맑은 고딕"/>
              </a:rPr>
              <a:t>여기에 입력하라</a:t>
            </a:r>
            <a:r>
              <a:rPr lang="en-US" altLang="ko-KR" sz="1500" b="1">
                <a:solidFill>
                  <a:srgbClr val="3057b9"/>
                </a:solidFill>
                <a:latin typeface="맑은 고딕"/>
                <a:ea typeface="맑은 고딕"/>
              </a:rPr>
              <a:t>’</a:t>
            </a:r>
            <a:r>
              <a:rPr lang="ko-KR" altLang="en-US" sz="1500">
                <a:latin typeface="맑은 고딕"/>
                <a:ea typeface="맑은 고딕"/>
              </a:rPr>
              <a:t>는 의미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654" y="400400"/>
            <a:ext cx="8320884" cy="867759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anchor="ctr" anchorCtr="0">
            <a:noAutofit/>
          </a:bodyPr>
          <a:lstStyle/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endParaRPr lang="ko-KR" altLang="en-US" sz="1500" b="1">
              <a:solidFill>
                <a:schemeClr val="accent1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500" b="1">
                <a:solidFill>
                  <a:schemeClr val="accent1"/>
                </a:solidFill>
                <a:latin typeface="맑은 고딕"/>
                <a:ea typeface="맑은 고딕"/>
              </a:rPr>
              <a:t>어포던스</a:t>
            </a:r>
            <a:r>
              <a:rPr lang="en-US" altLang="ko-KR" sz="1500" b="1">
                <a:solidFill>
                  <a:schemeClr val="accent1"/>
                </a:solidFill>
                <a:latin typeface="맑은 고딕"/>
                <a:ea typeface="맑은 고딕"/>
              </a:rPr>
              <a:t>(Affordance)</a:t>
            </a:r>
            <a:endParaRPr lang="ko-KR" altLang="en-US" sz="1500">
              <a:solidFill>
                <a:schemeClr val="lt1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500">
                <a:solidFill>
                  <a:schemeClr val="lt1"/>
                </a:solidFill>
                <a:latin typeface="맑은 고딕"/>
                <a:ea typeface="맑은 고딕"/>
              </a:rPr>
              <a:t>행동 유도성</a:t>
            </a:r>
            <a:r>
              <a:rPr lang="en-US" altLang="ko-KR" sz="1500">
                <a:solidFill>
                  <a:schemeClr val="lt1"/>
                </a:solidFill>
                <a:latin typeface="맑은 고딕"/>
                <a:ea typeface="맑은 고딕"/>
              </a:rPr>
              <a:t>,</a:t>
            </a:r>
            <a:r>
              <a:rPr lang="ko-KR" altLang="en-US" sz="1500">
                <a:solidFill>
                  <a:schemeClr val="lt1"/>
                </a:solidFill>
                <a:latin typeface="맑은 고딕"/>
                <a:ea typeface="맑은 고딕"/>
              </a:rPr>
              <a:t> 사용자가 기능을 직관적으로 파악하는가</a:t>
            </a:r>
            <a:r>
              <a:rPr lang="en-US" altLang="ko-KR" sz="1500">
                <a:solidFill>
                  <a:schemeClr val="lt1"/>
                </a:solidFill>
                <a:latin typeface="맑은 고딕"/>
                <a:ea typeface="맑은 고딕"/>
              </a:rPr>
              <a:t>?</a:t>
            </a:r>
            <a:r>
              <a:rPr lang="ko-KR" altLang="en-US" sz="1500">
                <a:solidFill>
                  <a:schemeClr val="lt1"/>
                </a:solidFill>
                <a:latin typeface="맑은 고딕"/>
                <a:ea typeface="맑은 고딕"/>
              </a:rPr>
              <a:t> 기획자의 의도대로 행동하는가</a:t>
            </a:r>
            <a:r>
              <a:rPr lang="en-US" altLang="ko-KR" sz="1500">
                <a:solidFill>
                  <a:schemeClr val="lt1"/>
                </a:solidFill>
                <a:latin typeface="맑은 고딕"/>
                <a:ea typeface="맑은 고딕"/>
              </a:rPr>
              <a:t>?</a:t>
            </a:r>
            <a:endParaRPr lang="en-US" altLang="ko-KR" sz="1500">
              <a:solidFill>
                <a:schemeClr val="lt1"/>
              </a:solidFill>
              <a:latin typeface="맑은 고딕"/>
              <a:ea typeface="맑은 고딕"/>
            </a:endParaRPr>
          </a:p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endParaRPr lang="en-US" altLang="ko-KR" sz="1500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42125" y="1835961"/>
            <a:ext cx="1377850" cy="292948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</p:pic>
      <p:sp>
        <p:nvSpPr>
          <p:cNvPr id="22" name="가로 글상자 21"/>
          <p:cNvSpPr txBox="1"/>
          <p:nvPr/>
        </p:nvSpPr>
        <p:spPr>
          <a:xfrm>
            <a:off x="1177163" y="4854046"/>
            <a:ext cx="1879336" cy="223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900">
                <a:latin typeface="맑은 고딕"/>
                <a:ea typeface="맑은 고딕"/>
              </a:rPr>
              <a:t>이미지 출처</a:t>
            </a:r>
            <a:r>
              <a:rPr lang="en-US" altLang="ko-KR" sz="900">
                <a:latin typeface="맑은 고딕"/>
                <a:ea typeface="맑은 고딕"/>
              </a:rPr>
              <a:t>:</a:t>
            </a:r>
            <a:r>
              <a:rPr lang="ko-KR" altLang="en-US" sz="900">
                <a:latin typeface="맑은 고딕"/>
                <a:ea typeface="맑은 고딕"/>
              </a:rPr>
              <a:t> 부냥집사</a:t>
            </a:r>
            <a:endParaRPr lang="ko-KR" altLang="en-US" sz="900">
              <a:latin typeface="맑은 고딕"/>
              <a:ea typeface="맑은 고딕"/>
            </a:endParaRPr>
          </a:p>
        </p:txBody>
      </p:sp>
      <p:grpSp>
        <p:nvGrpSpPr>
          <p:cNvPr id="32" name=""/>
          <p:cNvGrpSpPr/>
          <p:nvPr/>
        </p:nvGrpSpPr>
        <p:grpSpPr>
          <a:xfrm rot="0">
            <a:off x="689353" y="1835962"/>
            <a:ext cx="1373093" cy="2929484"/>
            <a:chOff x="689353" y="1835962"/>
            <a:chExt cx="1373093" cy="2929484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689353" y="1835962"/>
              <a:ext cx="1370518" cy="292948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</p:pic>
        <p:sp>
          <p:nvSpPr>
            <p:cNvPr id="26" name="직사각형 25"/>
            <p:cNvSpPr/>
            <p:nvPr/>
          </p:nvSpPr>
          <p:spPr>
            <a:xfrm>
              <a:off x="691928" y="3504422"/>
              <a:ext cx="1370518" cy="22354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 b="1"/>
            </a:p>
          </p:txBody>
        </p:sp>
      </p:grpSp>
      <p:grpSp>
        <p:nvGrpSpPr>
          <p:cNvPr id="33" name=""/>
          <p:cNvGrpSpPr/>
          <p:nvPr/>
        </p:nvGrpSpPr>
        <p:grpSpPr>
          <a:xfrm rot="0">
            <a:off x="4313426" y="1835961"/>
            <a:ext cx="1810246" cy="2929484"/>
            <a:chOff x="4313426" y="1835961"/>
            <a:chExt cx="1810246" cy="2929484"/>
          </a:xfrm>
        </p:grpSpPr>
        <p:pic>
          <p:nvPicPr>
            <p:cNvPr id="23" name="그림 2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313426" y="1835961"/>
              <a:ext cx="1810246" cy="292948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</p:pic>
        <p:sp>
          <p:nvSpPr>
            <p:cNvPr id="27" name="직사각형 26"/>
            <p:cNvSpPr/>
            <p:nvPr/>
          </p:nvSpPr>
          <p:spPr>
            <a:xfrm>
              <a:off x="5369521" y="4538798"/>
              <a:ext cx="685259" cy="1117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b="1"/>
            </a:p>
          </p:txBody>
        </p:sp>
      </p:grpSp>
      <p:grpSp>
        <p:nvGrpSpPr>
          <p:cNvPr id="34" name=""/>
          <p:cNvGrpSpPr/>
          <p:nvPr/>
        </p:nvGrpSpPr>
        <p:grpSpPr>
          <a:xfrm rot="0">
            <a:off x="6605060" y="1835961"/>
            <a:ext cx="1777957" cy="2929484"/>
            <a:chOff x="6605060" y="1835961"/>
            <a:chExt cx="1777957" cy="2929484"/>
          </a:xfrm>
        </p:grpSpPr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6605060" y="1835961"/>
              <a:ext cx="1777957" cy="2929484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  <p:sp>
          <p:nvSpPr>
            <p:cNvPr id="28" name="직사각형 27"/>
            <p:cNvSpPr/>
            <p:nvPr/>
          </p:nvSpPr>
          <p:spPr>
            <a:xfrm>
              <a:off x="6651566" y="2228305"/>
              <a:ext cx="223588" cy="2381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b="1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6651566" y="3680343"/>
              <a:ext cx="223588" cy="5637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b="1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8162004" y="2289887"/>
              <a:ext cx="170131" cy="20216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3169940946"/>
      </p:ext>
    </p:extLst>
  </p:cSld>
  <p:clrMapOvr>
    <a:masterClrMapping/>
  </p:clrMapOvr>
</p:sld>
</file>

<file path=ppt/slides/slide5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1-8</a:t>
            </a:r>
            <a:r>
              <a:rPr lang="ko-KR" altLang="en-US" sz="2800" b="1">
                <a:latin typeface="맑은 고딕"/>
                <a:ea typeface="맑은 고딕"/>
              </a:rPr>
              <a:t>. 와이어프레임(Wireframe)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384280"/>
            <a:ext cx="8477249" cy="3317498"/>
          </a:xfrm>
        </p:spPr>
        <p:txBody>
          <a:bodyPr>
            <a:normAutofit fontScale="92500" lnSpcReduction="20000"/>
          </a:bodyPr>
          <a:p>
            <a:pPr marL="266700" lvl="0" indent="-30670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뜻 :</a:t>
            </a:r>
            <a:r>
              <a:rPr lang="ko-KR" altLang="en-US" sz="2000">
                <a:latin typeface="맑은 고딕"/>
                <a:ea typeface="맑은 고딕"/>
              </a:rPr>
              <a:t> </a:t>
            </a:r>
            <a:r>
              <a:rPr lang="ko-KR" altLang="en-US" sz="2000" b="1">
                <a:solidFill>
                  <a:srgbClr val="ff0000"/>
                </a:solidFill>
                <a:latin typeface="맑은 고딕"/>
                <a:ea typeface="맑은 고딕"/>
              </a:rPr>
              <a:t>화면 구성 요소</a:t>
            </a:r>
            <a:r>
              <a:rPr lang="ko-KR" altLang="en-US" sz="2000" b="1">
                <a:solidFill>
                  <a:srgbClr val="ff6600"/>
                </a:solidFill>
                <a:latin typeface="맑은 고딕"/>
                <a:ea typeface="맑은 고딕"/>
              </a:rPr>
              <a:t>(버튼, 텍스트, 이미지, 입력창 등)</a:t>
            </a:r>
            <a:r>
              <a:rPr lang="ko-KR" altLang="en-US" sz="2000">
                <a:latin typeface="맑은 고딕"/>
                <a:ea typeface="맑은 고딕"/>
              </a:rPr>
              <a:t>의 배치와 구조를 </a:t>
            </a:r>
            <a:endParaRPr lang="ko-KR" altLang="en-US" sz="20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2000">
                <a:latin typeface="맑은 고딕"/>
                <a:ea typeface="맑은 고딕"/>
              </a:rPr>
              <a:t>          단순화된 형태로 시각화한 설계도</a:t>
            </a:r>
            <a:endParaRPr lang="ko-KR" altLang="en-US" sz="2000">
              <a:latin typeface="맑은 고딕"/>
              <a:ea typeface="맑은 고딕"/>
            </a:endParaRPr>
          </a:p>
          <a:p>
            <a:pPr marL="266700" lvl="0" indent="-306700">
              <a:lnSpc>
                <a:spcPct val="150000"/>
              </a:lnSpc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r>
              <a:rPr lang="ko-KR" altLang="en-US" sz="2000">
                <a:latin typeface="맑은 고딕"/>
                <a:ea typeface="맑은 고딕"/>
              </a:rPr>
              <a:t>색상, 이미지, 디자인 요소를 배제하고 </a:t>
            </a:r>
            <a:r>
              <a:rPr lang="ko-KR" altLang="en-US" sz="2000" b="1" u="sng">
                <a:solidFill>
                  <a:srgbClr val="3057b9"/>
                </a:solidFill>
                <a:latin typeface="맑은 고딕"/>
                <a:ea typeface="맑은 고딕"/>
              </a:rPr>
              <a:t>기능 중심으로 표현</a:t>
            </a:r>
            <a:endParaRPr lang="ko-KR" altLang="en-US" sz="2000" b="1" u="sng">
              <a:solidFill>
                <a:srgbClr val="3057b9"/>
              </a:solidFill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2000">
              <a:latin typeface="맑은 고딕"/>
              <a:ea typeface="맑은 고딕"/>
            </a:endParaRPr>
          </a:p>
          <a:p>
            <a:pPr marL="266700" lvl="0" indent="-30670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000" b="1">
                <a:latin typeface="맑은 고딕"/>
                <a:ea typeface="맑은 고딕"/>
              </a:rPr>
              <a:t>중요 목적 :</a:t>
            </a:r>
            <a:endParaRPr lang="ko-KR" altLang="en-US" sz="2000" b="1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2000">
                <a:latin typeface="맑은 고딕"/>
                <a:ea typeface="맑은 고딕"/>
              </a:rPr>
              <a:t>     </a:t>
            </a:r>
            <a:r>
              <a:rPr lang="en-US" altLang="ko-KR" sz="2000">
                <a:latin typeface="맑은 고딕"/>
                <a:ea typeface="맑은 고딕"/>
              </a:rPr>
              <a:t>-</a:t>
            </a:r>
            <a:r>
              <a:rPr lang="ko-KR" altLang="en-US" sz="2000">
                <a:latin typeface="맑은 고딕"/>
                <a:ea typeface="맑은 고딕"/>
              </a:rPr>
              <a:t> 화면에서 </a:t>
            </a:r>
            <a:r>
              <a:rPr lang="ko-KR" altLang="en-US" sz="2000" b="1">
                <a:solidFill>
                  <a:srgbClr val="ff0000"/>
                </a:solidFill>
                <a:latin typeface="맑은 고딕"/>
                <a:ea typeface="맑은 고딕"/>
              </a:rPr>
              <a:t>무엇을 어디에</a:t>
            </a:r>
            <a:r>
              <a:rPr lang="ko-KR" altLang="en-US" sz="2000">
                <a:latin typeface="맑은 고딕"/>
                <a:ea typeface="맑은 고딕"/>
              </a:rPr>
              <a:t> 둘 것인가?</a:t>
            </a:r>
            <a:endParaRPr lang="ko-KR" altLang="en-US" sz="20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2000">
                <a:latin typeface="맑은 고딕"/>
                <a:ea typeface="맑은 고딕"/>
              </a:rPr>
              <a:t>     </a:t>
            </a:r>
            <a:r>
              <a:rPr lang="en-US" altLang="ko-KR" sz="2000">
                <a:latin typeface="맑은 고딕"/>
                <a:ea typeface="맑은 고딕"/>
              </a:rPr>
              <a:t>-</a:t>
            </a:r>
            <a:r>
              <a:rPr lang="ko-KR" altLang="en-US" sz="2000">
                <a:latin typeface="맑은 고딕"/>
                <a:ea typeface="맑은 고딕"/>
              </a:rPr>
              <a:t> “사용자는 </a:t>
            </a:r>
            <a:r>
              <a:rPr lang="ko-KR" altLang="en-US" sz="2000" b="1">
                <a:solidFill>
                  <a:srgbClr val="ff0000"/>
                </a:solidFill>
                <a:latin typeface="맑은 고딕"/>
                <a:ea typeface="맑은 고딕"/>
              </a:rPr>
              <a:t>어떤 순서로 어떤 행동을 </a:t>
            </a:r>
            <a:r>
              <a:rPr lang="ko-KR" altLang="en-US" sz="2000">
                <a:latin typeface="맑은 고딕"/>
                <a:ea typeface="맑은 고딕"/>
              </a:rPr>
              <a:t>하게 될 것인가?”를 설계하는 것</a:t>
            </a:r>
            <a:endParaRPr lang="ko-KR" altLang="en-US" sz="20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5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33375" y="180504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1-8</a:t>
            </a:r>
            <a:r>
              <a:rPr lang="ko-KR" altLang="en-US" sz="2800" b="1">
                <a:latin typeface="맑은 고딕"/>
                <a:ea typeface="맑은 고딕"/>
              </a:rPr>
              <a:t>. 와이어프레임(Wireframe)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717056" y="1426346"/>
          <a:ext cx="7709888" cy="291188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240405"/>
                <a:gridCol w="4469483"/>
              </a:tblGrid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목적</a:t>
                      </a:r>
                      <a:endParaRPr lang="ko-KR" altLang="en-US" sz="16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chemeClr val="dk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  <a:endParaRPr lang="ko-KR" altLang="en-US" sz="16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chemeClr val="dk1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구조설계</a:t>
                      </a:r>
                      <a:endParaRPr lang="ko-KR" altLang="en-US" b="1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chemeClr val="accen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콘텐츠, 기능, 버튼의 위치와 관계 정의</a:t>
                      </a:r>
                      <a:endParaRPr lang="ko-KR" altLang="en-US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chemeClr val="accent5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사용자 흐름 설계</a:t>
                      </a:r>
                      <a:endParaRPr lang="ko-KR" altLang="en-US" b="1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chemeClr val="accen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사용자 행동에 따른 화면 전환 경로 정의</a:t>
                      </a:r>
                      <a:endParaRPr lang="ko-KR" altLang="en-US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chemeClr val="accent5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개발자/디자이너와의 커뮤니케이션</a:t>
                      </a:r>
                      <a:endParaRPr lang="ko-KR" altLang="en-US" b="1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chemeClr val="accen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 구현과 디자인 방향을 명확히 공유</a:t>
                      </a:r>
                      <a:endParaRPr lang="ko-KR" altLang="en-US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chemeClr val="accent5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피드백 반복</a:t>
                      </a:r>
                      <a:endParaRPr lang="ko-KR" altLang="en-US" b="1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chemeClr val="accen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시각적 복잡도 없이 빠른 피드백 루프 가능</a:t>
                      </a:r>
                      <a:endParaRPr lang="ko-KR" altLang="en-US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7655" y="749990"/>
            <a:ext cx="8320884" cy="4086207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6924558" y="4836198"/>
            <a:ext cx="1879336" cy="223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900">
                <a:latin typeface="맑은 고딕"/>
                <a:ea typeface="맑은 고딕"/>
              </a:rPr>
              <a:t>이미지 출처</a:t>
            </a:r>
            <a:r>
              <a:rPr lang="en-US" altLang="ko-KR" sz="900">
                <a:latin typeface="맑은 고딕"/>
                <a:ea typeface="맑은 고딕"/>
              </a:rPr>
              <a:t>:</a:t>
            </a:r>
            <a:r>
              <a:rPr lang="ko-KR" altLang="en-US" sz="900">
                <a:latin typeface="맑은 고딕"/>
                <a:ea typeface="맑은 고딕"/>
              </a:rPr>
              <a:t> 코드메이트</a:t>
            </a:r>
            <a:endParaRPr lang="ko-KR" altLang="en-US" sz="900">
              <a:latin typeface="맑은 고딕"/>
              <a:ea typeface="맑은 고딕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97654" y="203063"/>
            <a:ext cx="8320884" cy="476360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anchor="ctr" anchorCtr="0">
            <a:normAutofit fontScale="85000" lnSpcReduction="20000"/>
          </a:bodyPr>
          <a:lstStyle/>
          <a:p>
            <a:pPr marL="266700" lvl="0" indent="-30670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600" b="1">
                <a:solidFill>
                  <a:schemeClr val="accent1"/>
                </a:solidFill>
                <a:latin typeface="맑은 고딕"/>
                <a:ea typeface="맑은 고딕"/>
              </a:rPr>
              <a:t>와이어프레임</a:t>
            </a:r>
            <a:r>
              <a:rPr lang="en-US" altLang="ko-KR" sz="1600" b="1">
                <a:solidFill>
                  <a:schemeClr val="accent1"/>
                </a:solidFill>
                <a:latin typeface="맑은 고딕"/>
                <a:ea typeface="맑은 고딕"/>
              </a:rPr>
              <a:t>(Wireframe):</a:t>
            </a:r>
            <a:r>
              <a:rPr lang="ko-KR" altLang="en-US" sz="1600" b="1">
                <a:latin typeface="맑은 고딕"/>
                <a:ea typeface="맑은 고딕"/>
              </a:rPr>
              <a:t> 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서비스의 화면별 구성과 정보를 로우 피델리티로 구성한 것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64062851"/>
      </p:ext>
    </p:extLst>
  </p:cSld>
  <p:clrMapOvr>
    <a:masterClrMapping/>
  </p:clrMapOvr>
</p:sld>
</file>

<file path=ppt/slides/slide5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33375" y="180504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1-8</a:t>
            </a:r>
            <a:r>
              <a:rPr lang="ko-KR" altLang="en-US" sz="2800" b="1">
                <a:latin typeface="맑은 고딕"/>
                <a:ea typeface="맑은 고딕"/>
              </a:rPr>
              <a:t>. 와이어프레임과 스토리보드의 차이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333375" y="1426346"/>
          <a:ext cx="8397434" cy="2911883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061985"/>
                <a:gridCol w="4335449"/>
              </a:tblGrid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와이어프레임</a:t>
                      </a:r>
                      <a:endParaRPr lang="ko-KR" altLang="en-US" sz="16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a0b4e6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</a:rPr>
                        <a:t>스토리보드</a:t>
                      </a:r>
                      <a:endParaRPr lang="ko-KR" altLang="en-US" sz="1600">
                        <a:solidFill>
                          <a:schemeClr val="lt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c49dd6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프로덕트의 구조와 레이아웃에 초점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a0b4e6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사용자 흐름과 상호작용에 초점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c49dd6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각 요소의 위치와 배치를 명확히 할 목적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a0b4e6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사용자경험을 최적화하는 목적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c49dd6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세부 디자인</a:t>
                      </a:r>
                      <a:r>
                        <a:rPr lang="en-US" altLang="ko-KR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색상</a:t>
                      </a:r>
                      <a:r>
                        <a:rPr lang="en-US" altLang="ko-KR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이미지 등 포함하지 않은 형태의 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간단한 스케치 형태로 보통 쓰임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a0b4e6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화면 간 전환과 사용자 상호작용을 위해 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좀 더 정교하게 만들어 짐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c49dd6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프로젝트 초기 기획단계에서 주로 쓰임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→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전반적 구조 및 레이아웃 빠르게 결정하기위해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a0b4e6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기획 후반부나 디자인 단계에서 주로 쓰임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→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팀에 배포되는 메뉴얼에 가까움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c49dd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314092"/>
      </p:ext>
    </p:extLst>
  </p:cSld>
  <p:clrMapOvr>
    <a:masterClrMapping/>
  </p:clrMapOvr>
</p:sld>
</file>

<file path=ppt/slides/slide5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359551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1-9</a:t>
            </a:r>
            <a:r>
              <a:rPr lang="ko-KR" altLang="en-US" sz="2800" b="1">
                <a:latin typeface="맑은 고딕"/>
                <a:ea typeface="맑은 고딕"/>
              </a:rPr>
              <a:t>. 피델리티 (Fidelity)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543634"/>
            <a:ext cx="8477249" cy="3434369"/>
          </a:xfrm>
        </p:spPr>
        <p:txBody>
          <a:bodyPr>
            <a:normAutofit/>
          </a:bodyPr>
          <a:p>
            <a:pPr lvl="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뜻 :</a:t>
            </a:r>
            <a:r>
              <a:rPr lang="ko-KR" altLang="en-US" sz="1500">
                <a:latin typeface="맑은 고딕"/>
                <a:ea typeface="맑은 고딕"/>
              </a:rPr>
              <a:t> 디자인의 구현 수준을 의미하는 용어</a:t>
            </a: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Low Fidelity :</a:t>
            </a:r>
            <a:r>
              <a:rPr lang="ko-KR" altLang="en-US" sz="1500">
                <a:latin typeface="맑은 고딕"/>
                <a:ea typeface="맑은 고딕"/>
              </a:rPr>
              <a:t> 와이어프레임 수준 (흑백, 선 기반 스케치)</a:t>
            </a: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High Fidelity :</a:t>
            </a:r>
            <a:r>
              <a:rPr lang="ko-KR" altLang="en-US" sz="1500">
                <a:latin typeface="맑은 고딕"/>
                <a:ea typeface="맑은 고딕"/>
              </a:rPr>
              <a:t> 컬러, 레이아웃, 실제 인터랙션이 포함된 UI 디자인</a:t>
            </a: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핀테크 예시:</a:t>
            </a: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 </a:t>
            </a:r>
            <a:r>
              <a:rPr lang="en-US" altLang="ko-KR" sz="1500" b="1">
                <a:latin typeface="맑은 고딕"/>
                <a:ea typeface="맑은 고딕"/>
              </a:rPr>
              <a:t>-</a:t>
            </a:r>
            <a:r>
              <a:rPr lang="ko-KR" altLang="en-US" sz="1500" b="1">
                <a:latin typeface="맑은 고딕"/>
                <a:ea typeface="맑은 고딕"/>
              </a:rPr>
              <a:t> Low-fi:</a:t>
            </a:r>
            <a:r>
              <a:rPr lang="ko-KR" altLang="en-US" sz="1500">
                <a:latin typeface="맑은 고딕"/>
                <a:ea typeface="맑은 고딕"/>
              </a:rPr>
              <a:t> 기능 배치만 있는 송금 화면</a:t>
            </a: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 </a:t>
            </a:r>
            <a:r>
              <a:rPr lang="en-US" altLang="ko-KR" sz="1500" b="1">
                <a:latin typeface="맑은 고딕"/>
                <a:ea typeface="맑은 고딕"/>
              </a:rPr>
              <a:t>-</a:t>
            </a:r>
            <a:r>
              <a:rPr lang="ko-KR" altLang="en-US" sz="1500" b="1">
                <a:latin typeface="맑은 고딕"/>
                <a:ea typeface="맑은 고딕"/>
              </a:rPr>
              <a:t> Hi-fi: </a:t>
            </a:r>
            <a:r>
              <a:rPr lang="ko-KR" altLang="en-US" sz="1500">
                <a:latin typeface="맑은 고딕"/>
                <a:ea typeface="맑은 고딕"/>
              </a:rPr>
              <a:t>실제 버튼 색상, 폰트, 애니메이션이 포함된 화면</a:t>
            </a: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가로 글상자 6"/>
          <p:cNvSpPr txBox="1"/>
          <p:nvPr/>
        </p:nvSpPr>
        <p:spPr>
          <a:xfrm>
            <a:off x="6924558" y="4836198"/>
            <a:ext cx="1879336" cy="223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900">
                <a:latin typeface="맑은 고딕"/>
                <a:ea typeface="맑은 고딕"/>
              </a:rPr>
              <a:t>이미지 출처</a:t>
            </a:r>
            <a:r>
              <a:rPr lang="en-US" altLang="ko-KR" sz="900">
                <a:latin typeface="맑은 고딕"/>
                <a:ea typeface="맑은 고딕"/>
              </a:rPr>
              <a:t>:</a:t>
            </a:r>
            <a:r>
              <a:rPr lang="ko-KR" altLang="en-US" sz="900">
                <a:latin typeface="맑은 고딕"/>
                <a:ea typeface="맑은 고딕"/>
              </a:rPr>
              <a:t> </a:t>
            </a:r>
            <a:r>
              <a:rPr lang="en-US" altLang="ko-KR" sz="900">
                <a:latin typeface="맑은 고딕"/>
                <a:ea typeface="맑은 고딕"/>
              </a:rPr>
              <a:t>justinmind</a:t>
            </a:r>
            <a:endParaRPr lang="en-US" altLang="ko-KR" sz="900">
              <a:latin typeface="맑은 고딕"/>
              <a:ea typeface="맑은 고딕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44852" y="1111255"/>
            <a:ext cx="4478878" cy="383693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/>
        </p:nvSpPr>
        <p:spPr>
          <a:xfrm>
            <a:off x="323849" y="354637"/>
            <a:ext cx="8320884" cy="47636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anchor="ctr" anchorCtr="0">
            <a:noAutofit/>
          </a:bodyPr>
          <a:lstStyle/>
          <a:p>
            <a:pPr marL="0" lvl="0" indent="0">
              <a:lnSpc>
                <a:spcPct val="200000"/>
              </a:lnSpc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 피델리티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(</a:t>
            </a:r>
            <a:r>
              <a:rPr lang="en-US" altLang="ko-KR" sz="1600" b="1">
                <a:solidFill>
                  <a:schemeClr val="accent1"/>
                </a:solidFill>
                <a:latin typeface="맑은 고딕"/>
                <a:ea typeface="맑은 고딕"/>
              </a:rPr>
              <a:t>fidelity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lt1"/>
                </a:solidFill>
                <a:latin typeface="맑은 고딕"/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chemeClr val="lt1"/>
                </a:solidFill>
                <a:latin typeface="맑은 고딕"/>
                <a:ea typeface="맑은 고딕"/>
              </a:rPr>
              <a:t> 디자인 완성도</a:t>
            </a:r>
            <a:r>
              <a: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  <a:solidFill>
                  <a:schemeClr val="bg2">
                    <a:lumMod val="25000"/>
                  </a:schemeClr>
                </a:solidFill>
                <a:latin typeface="맑은 고딕"/>
                <a:ea typeface="맑은 고딕"/>
              </a:rPr>
              <a:t>서비스 사용시의 사용 편의성</a:t>
            </a:r>
            <a:endParaRPr xmlns:mc="http://schemas.openxmlformats.org/markup-compatibility/2006" xmlns:hp="http://schemas.haansoft.com/office/presentation/8.0" kumimoji="0" lang="ko-KR" altLang="en-US" sz="1600" b="0" i="0" u="none" strike="noStrike" kern="1200" cap="none" spc="0" normalizeH="0" baseline="0" mc:Ignorable="hp" hp:hslEmbossed="0">
              <a:solidFill>
                <a:schemeClr val="bg2">
                  <a:lumMod val="25000"/>
                </a:scheme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30415035"/>
      </p:ext>
    </p:extLst>
  </p:cSld>
  <p:clrMapOvr>
    <a:masterClrMapping/>
  </p:clrMapOvr>
</p:sld>
</file>

<file path=ppt/slides/slide6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14324" y="292876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1-10</a:t>
            </a:r>
            <a:r>
              <a:rPr lang="ko-KR" altLang="en-US" sz="2800" b="1">
                <a:latin typeface="맑은 고딕"/>
                <a:ea typeface="맑은 고딕"/>
              </a:rPr>
              <a:t>. 피처 (Feature)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447800"/>
            <a:ext cx="8477249" cy="3720704"/>
          </a:xfrm>
        </p:spPr>
        <p:txBody>
          <a:bodyPr>
            <a:normAutofit lnSpcReduction="10000"/>
          </a:bodyPr>
          <a:p>
            <a:pPr marL="266700" lvl="0" indent="-30670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뜻 : </a:t>
            </a:r>
            <a:r>
              <a:rPr lang="ko-KR" altLang="en-US" sz="1500">
                <a:latin typeface="맑은 고딕"/>
                <a:ea typeface="맑은 고딕"/>
              </a:rPr>
              <a:t>서비스 내 개별 기능 단위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 b="1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핀테크 예시: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자동 이체, 한도 조회, 지출 분류, 투자 리포트 보기, 고객센터 챗봇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 b="1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관련 개념: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500" b="1">
                <a:solidFill>
                  <a:schemeClr val="dk2"/>
                </a:solidFill>
                <a:latin typeface="맑은 고딕"/>
                <a:ea typeface="맑은 고딕"/>
              </a:rPr>
              <a:t>     </a:t>
            </a:r>
            <a:r>
              <a:rPr lang="en-US" altLang="ko-KR" sz="1500" b="1">
                <a:solidFill>
                  <a:schemeClr val="dk2"/>
                </a:solidFill>
                <a:latin typeface="맑은 고딕"/>
                <a:ea typeface="맑은 고딕"/>
              </a:rPr>
              <a:t>-</a:t>
            </a:r>
            <a:r>
              <a:rPr lang="ko-KR" altLang="en-US" sz="1500" b="1">
                <a:solidFill>
                  <a:schemeClr val="dk2"/>
                </a:solidFill>
                <a:latin typeface="맑은 고딕"/>
                <a:ea typeface="맑은 고딕"/>
              </a:rPr>
              <a:t> Key Feature:</a:t>
            </a:r>
            <a:r>
              <a:rPr lang="ko-KR" altLang="en-US" sz="1500" b="1">
                <a:latin typeface="맑은 고딕"/>
                <a:ea typeface="맑은 고딕"/>
              </a:rPr>
              <a:t> </a:t>
            </a:r>
            <a:r>
              <a:rPr lang="ko-KR" altLang="en-US" sz="1500">
                <a:latin typeface="맑은 고딕"/>
                <a:ea typeface="맑은 고딕"/>
              </a:rPr>
              <a:t>서비스의 핵심 기능 (예: 송금)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endParaRPr lang="ko-KR" altLang="en-US" sz="1500" b="1">
              <a:solidFill>
                <a:schemeClr val="dk2"/>
              </a:solidFill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500" b="1">
                <a:solidFill>
                  <a:schemeClr val="dk2"/>
                </a:solidFill>
                <a:latin typeface="맑은 고딕"/>
                <a:ea typeface="맑은 고딕"/>
              </a:rPr>
              <a:t>     </a:t>
            </a:r>
            <a:r>
              <a:rPr lang="en-US" altLang="ko-KR" sz="1500" b="1">
                <a:solidFill>
                  <a:schemeClr val="dk2"/>
                </a:solidFill>
                <a:latin typeface="맑은 고딕"/>
                <a:ea typeface="맑은 고딕"/>
              </a:rPr>
              <a:t>-</a:t>
            </a:r>
            <a:r>
              <a:rPr lang="ko-KR" altLang="en-US" sz="1500" b="1">
                <a:solidFill>
                  <a:schemeClr val="dk2"/>
                </a:solidFill>
                <a:latin typeface="맑은 고딕"/>
                <a:ea typeface="맑은 고딕"/>
              </a:rPr>
              <a:t> Feature Creep:</a:t>
            </a:r>
            <a:r>
              <a:rPr lang="ko-KR" altLang="en-US" sz="1500" b="1">
                <a:latin typeface="맑은 고딕"/>
                <a:ea typeface="맑은 고딕"/>
              </a:rPr>
              <a:t> </a:t>
            </a:r>
            <a:r>
              <a:rPr lang="ko-KR" altLang="en-US" sz="1500">
                <a:latin typeface="맑은 고딕"/>
                <a:ea typeface="맑은 고딕"/>
              </a:rPr>
              <a:t>너무 많은 기능 추가로 인한 과잉 복잡화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/>
        </p:nvSpPr>
        <p:spPr>
          <a:xfrm>
            <a:off x="323849" y="354637"/>
            <a:ext cx="8320884" cy="47636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anchor="ctr" anchorCtr="0">
            <a:noAutofit/>
          </a:bodyPr>
          <a:lstStyle/>
          <a:p>
            <a:pPr marL="0" lvl="0" indent="0">
              <a:lnSpc>
                <a:spcPct val="200000"/>
              </a:lnSpc>
              <a:buFont typeface="Wingdings"/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피처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(</a:t>
            </a:r>
            <a:r>
              <a:rPr lang="en-US" altLang="ko-KR" sz="1600" b="1">
                <a:solidFill>
                  <a:schemeClr val="accent1"/>
                </a:solidFill>
                <a:latin typeface="맑은 고딕"/>
                <a:ea typeface="맑은 고딕"/>
              </a:rPr>
              <a:t>feature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lt1"/>
                </a:solidFill>
                <a:latin typeface="맑은 고딕"/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서비스에서 하나의 기능을 가리키는 단위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1949" y="1109315"/>
            <a:ext cx="1721094" cy="3726882"/>
          </a:xfrm>
          <a:prstGeom prst="rect">
            <a:avLst/>
          </a:prstGeom>
          <a:ln>
            <a:solidFill>
              <a:schemeClr val="accent6"/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63707" y="1109315"/>
            <a:ext cx="2190439" cy="3726881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5" name="가로 글상자 14"/>
          <p:cNvSpPr txBox="1"/>
          <p:nvPr/>
        </p:nvSpPr>
        <p:spPr>
          <a:xfrm>
            <a:off x="5000450" y="2070735"/>
            <a:ext cx="3561062" cy="146113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>
              <a:buNone/>
              <a:defRPr/>
            </a:pPr>
            <a:r>
              <a:rPr lang="ko-KR" altLang="en-US" sz="1500" b="1">
                <a:solidFill>
                  <a:schemeClr val="dk2"/>
                </a:solidFill>
                <a:latin typeface="맑은 고딕"/>
                <a:ea typeface="맑은 고딕"/>
              </a:rPr>
              <a:t>Key Feature:</a:t>
            </a:r>
            <a:r>
              <a:rPr lang="ko-KR" altLang="en-US" sz="1500" b="1">
                <a:latin typeface="맑은 고딕"/>
                <a:ea typeface="맑은 고딕"/>
              </a:rPr>
              <a:t> 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서비스의 핵심 기능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500" b="1">
                <a:solidFill>
                  <a:schemeClr val="dk2"/>
                </a:solidFill>
                <a:latin typeface="맑은 고딕"/>
                <a:ea typeface="맑은 고딕"/>
              </a:rPr>
              <a:t>Feature Creep:</a:t>
            </a:r>
            <a:r>
              <a:rPr lang="ko-KR" altLang="en-US" sz="1500" b="1">
                <a:latin typeface="맑은 고딕"/>
                <a:ea typeface="맑은 고딕"/>
              </a:rPr>
              <a:t> 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너무 많은 기능 추가로 인한 과잉 복잡화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2760894"/>
      </p:ext>
    </p:extLst>
  </p:cSld>
  <p:clrMapOvr>
    <a:masterClrMapping/>
  </p:clrMapOvr>
</p:sld>
</file>

<file path=ppt/slides/slide6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416701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en-US" altLang="ko-KR" sz="3000" b="1">
                <a:latin typeface="맑은 고딕"/>
                <a:ea typeface="맑은 고딕"/>
              </a:rPr>
              <a:t> 1-11</a:t>
            </a:r>
            <a:r>
              <a:rPr lang="ko-KR" altLang="en-US" sz="3000" b="1">
                <a:latin typeface="맑은 고딕"/>
                <a:ea typeface="맑은 고딕"/>
              </a:rPr>
              <a:t>. 피저빌리티 (Feasibility)</a:t>
            </a:r>
            <a:endParaRPr lang="ko-KR" altLang="en-US" sz="3000" b="1">
              <a:latin typeface="맑은 고딕"/>
              <a:ea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524880" y="2553567"/>
            <a:ext cx="3619120" cy="25899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696618"/>
            <a:ext cx="8477249" cy="3148035"/>
          </a:xfrm>
        </p:spPr>
        <p:txBody>
          <a:bodyPr>
            <a:normAutofit/>
          </a:bodyPr>
          <a:p>
            <a:pPr marL="266700" lvl="0" indent="-30670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뜻</a:t>
            </a:r>
            <a:r>
              <a:rPr lang="en-US" altLang="ko-KR" sz="1500" b="1">
                <a:latin typeface="맑은 고딕"/>
                <a:ea typeface="맑은 고딕"/>
              </a:rPr>
              <a:t> </a:t>
            </a:r>
            <a:r>
              <a:rPr lang="ko-KR" altLang="en-US" sz="1500" b="1">
                <a:latin typeface="맑은 고딕"/>
                <a:ea typeface="맑은 고딕"/>
              </a:rPr>
              <a:t>:</a:t>
            </a:r>
            <a:r>
              <a:rPr lang="ko-KR" altLang="en-US" sz="1500">
                <a:latin typeface="맑은 고딕"/>
                <a:ea typeface="맑은 고딕"/>
              </a:rPr>
              <a:t> 기획한 기능이나 아이디어가 실제로 개발 가능한지에 대한 실현 가능성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핀테크 예시</a:t>
            </a:r>
            <a:r>
              <a:rPr lang="en-US" altLang="ko-KR" sz="1500" b="1">
                <a:latin typeface="맑은 고딕"/>
                <a:ea typeface="맑은 고딕"/>
              </a:rPr>
              <a:t> </a:t>
            </a:r>
            <a:r>
              <a:rPr lang="ko-KR" altLang="en-US" sz="1500" b="1">
                <a:latin typeface="맑은 고딕"/>
                <a:ea typeface="맑은 고딕"/>
              </a:rPr>
              <a:t>:</a:t>
            </a:r>
            <a:endParaRPr lang="ko-KR" altLang="en-US" sz="1500" b="1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    '1초 안에 대출 승인 기능'</a:t>
            </a:r>
            <a:r>
              <a:rPr lang="ko-KR" altLang="en-US" sz="1500">
                <a:latin typeface="맑은 고딕"/>
                <a:ea typeface="맑은 고딕"/>
              </a:rPr>
              <a:t> → 기술, 법률, 비용 측면에서 피저빌리티 검토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활용</a:t>
            </a:r>
            <a:r>
              <a:rPr lang="en-US" altLang="ko-KR" sz="1500" b="1">
                <a:latin typeface="맑은 고딕"/>
                <a:ea typeface="맑은 고딕"/>
              </a:rPr>
              <a:t> </a:t>
            </a:r>
            <a:r>
              <a:rPr lang="ko-KR" altLang="en-US" sz="1500" b="1">
                <a:latin typeface="맑은 고딕"/>
                <a:ea typeface="맑은 고딕"/>
              </a:rPr>
              <a:t>:</a:t>
            </a:r>
            <a:r>
              <a:rPr lang="ko-KR" altLang="en-US" sz="1500">
                <a:latin typeface="맑은 고딕"/>
                <a:ea typeface="맑은 고딕"/>
              </a:rPr>
              <a:t> PM이 개발 전에 우선 검토해야 할 현실성 판단 도구</a:t>
            </a:r>
            <a:endParaRPr lang="ko-KR" altLang="en-US" sz="15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33375" y="409587"/>
            <a:ext cx="8477249" cy="704838"/>
          </a:xfrm>
          <a:ln>
            <a:solidFill>
              <a:schemeClr val="accent6"/>
            </a:solidFill>
          </a:ln>
        </p:spPr>
        <p:txBody>
          <a:bodyPr/>
          <a:p>
            <a:pPr lvl="0">
              <a:defRPr/>
            </a:pPr>
            <a:r>
              <a:rPr lang="ko-KR" altLang="en-US" sz="2800" b="1">
                <a:latin typeface="맑은 고딕"/>
                <a:ea typeface="맑은 고딕"/>
              </a:rPr>
              <a:t> </a:t>
            </a:r>
            <a:r>
              <a:rPr lang="en-US" altLang="ko-KR" sz="2800" b="1">
                <a:latin typeface="맑은 고딕"/>
                <a:ea typeface="맑은 고딕"/>
              </a:rPr>
              <a:t>5-12</a:t>
            </a:r>
            <a:r>
              <a:rPr lang="ko-KR" altLang="en-US" sz="2800" b="1">
                <a:latin typeface="맑은 고딕"/>
                <a:ea typeface="맑은 고딕"/>
              </a:rPr>
              <a:t>. 프로토타입 (Prototype)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916044"/>
            <a:ext cx="8477249" cy="2785734"/>
          </a:xfrm>
        </p:spPr>
        <p:txBody>
          <a:bodyPr>
            <a:normAutofit/>
          </a:bodyPr>
          <a:p>
            <a:pPr marL="266700" lvl="0" indent="-30670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뜻 : </a:t>
            </a:r>
            <a:r>
              <a:rPr lang="ko-KR" altLang="en-US" sz="1500">
                <a:latin typeface="맑은 고딕"/>
                <a:ea typeface="맑은 고딕"/>
              </a:rPr>
              <a:t>제품의 기능이나 흐름을 실제처럼 테스트해볼 수 있게 만든 시제품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핀테크 예시</a:t>
            </a: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 토스의 '자동화 예산 분석' 기능 프로토타입 → </a:t>
            </a: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테스트 사용자 대상 검증</a:t>
            </a:r>
            <a:endParaRPr lang="ko-KR" altLang="en-US" sz="15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266700" lvl="0" indent="-30670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활용 :</a:t>
            </a:r>
            <a:r>
              <a:rPr lang="ko-KR" altLang="en-US" sz="1500">
                <a:latin typeface="맑은 고딕"/>
                <a:ea typeface="맑은 고딕"/>
              </a:rPr>
              <a:t> MVP</a:t>
            </a:r>
            <a:r>
              <a:rPr lang="en-US" altLang="ko-KR" sz="1500">
                <a:latin typeface="맑은 고딕"/>
                <a:ea typeface="맑은 고딕"/>
              </a:rPr>
              <a:t>(Minimum Viable Product)</a:t>
            </a:r>
            <a:r>
              <a:rPr lang="ko-KR" altLang="en-US" sz="1500">
                <a:latin typeface="맑은 고딕"/>
                <a:ea typeface="맑은 고딕"/>
              </a:rPr>
              <a:t>이전에 사용자 반응을 빠르게 확인할 수 있음</a:t>
            </a:r>
            <a:endParaRPr lang="ko-KR" altLang="en-US" sz="15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/>
        </p:nvSpPr>
        <p:spPr>
          <a:xfrm>
            <a:off x="323848" y="354637"/>
            <a:ext cx="8320884" cy="721789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anchor="ctr" anchorCtr="0">
            <a:no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프로토타입</a:t>
            </a:r>
            <a:r>
              <a:rPr lang="ko-KR" altLang="en-US" sz="1600" b="1">
                <a:solidFill>
                  <a:schemeClr val="accent1"/>
                </a:solidFill>
                <a:latin typeface="맑은 고딕"/>
                <a:ea typeface="맑은 고딕"/>
              </a:rPr>
              <a:t> 예시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: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토스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(Toss)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프로토타입 랜딩 페이지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grpSp>
        <p:nvGrpSpPr>
          <p:cNvPr id="22" name=""/>
          <p:cNvGrpSpPr/>
          <p:nvPr/>
        </p:nvGrpSpPr>
        <p:grpSpPr>
          <a:xfrm rot="0">
            <a:off x="323848" y="1329847"/>
            <a:ext cx="6301079" cy="3427725"/>
            <a:chOff x="1333751" y="1402742"/>
            <a:chExt cx="6301079" cy="3427725"/>
          </a:xfrm>
        </p:grpSpPr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333751" y="1402742"/>
              <a:ext cx="6301079" cy="3427725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1498981" y="4211472"/>
              <a:ext cx="3238248" cy="507222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573626" y="1569547"/>
              <a:ext cx="3238248" cy="507222"/>
            </a:xfrm>
            <a:prstGeom prst="rect">
              <a:avLst/>
            </a:prstGeom>
          </p:spPr>
        </p:pic>
      </p:grpSp>
      <p:sp>
        <p:nvSpPr>
          <p:cNvPr id="23" name="직사각형 22"/>
          <p:cNvSpPr/>
          <p:nvPr/>
        </p:nvSpPr>
        <p:spPr>
          <a:xfrm>
            <a:off x="6624928" y="2019922"/>
            <a:ext cx="2139296" cy="17595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2014년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“10초 만에 송금하는 서비스”라는  랜딩페이지를 만들어 사용자 반응 실험. </a:t>
            </a: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3일 만에 2,000명의 전화번호를 확보</a:t>
            </a:r>
            <a:r>
              <a:rPr xmlns:mc="http://schemas.openxmlformats.org/markup-compatibility/2006" xmlns:hp="http://schemas.haansoft.com/office/presentation/8.0" lang="en-US" altLang="ko-KR" sz="10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.</a:t>
            </a:r>
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xmlns:mc="http://schemas.openxmlformats.org/markup-compatibility/2006" xmlns:hp="http://schemas.haansoft.com/office/presentation/8.0" sz="10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10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0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sz="10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최소한의 자원으로 시장성을 검증하고 빠르게 피드백을 얻어낸 전략</a:t>
            </a:r>
            <a:endParaRPr xmlns:mc="http://schemas.openxmlformats.org/markup-compatibility/2006" xmlns:hp="http://schemas.haansoft.com/office/presentation/8.0" sz="1000" b="1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711315057"/>
      </p:ext>
    </p:extLst>
  </p:cSld>
  <p:clrMapOvr>
    <a:masterClrMapping/>
  </p:clrMapOvr>
</p:sld>
</file>

<file path=ppt/slides/slide6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/>
        </p:nvSpPr>
        <p:spPr>
          <a:xfrm>
            <a:off x="323848" y="354637"/>
            <a:ext cx="8320884" cy="721789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anchor="ctr" anchorCtr="0">
            <a:no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프로토타입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(</a:t>
            </a:r>
            <a:r>
              <a:rPr lang="ko-KR" altLang="en-US" sz="1600" b="1">
                <a:solidFill>
                  <a:schemeClr val="accent1"/>
                </a:solidFill>
                <a:latin typeface="맑은 고딕"/>
                <a:ea typeface="맑은 고딕"/>
              </a:rPr>
              <a:t>Prototype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chemeClr val="accent1"/>
                </a:solidFill>
                <a:latin typeface="맑은 고딕"/>
                <a:ea typeface="맑은 고딕"/>
              </a:rPr>
              <a:t> 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제품의 기능이나 흐름을 실제처럼 테스트해볼 수 있게 만든 시제품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88863" y="1481545"/>
            <a:ext cx="5990855" cy="3343130"/>
          </a:xfrm>
          <a:prstGeom prst="rect">
            <a:avLst/>
          </a:prstGeom>
        </p:spPr>
      </p:pic>
      <p:sp>
        <p:nvSpPr>
          <p:cNvPr id="17" name="가로 글상자 16">
            <a:hlinkClick r:id="rId3"/>
          </p:cNvPr>
          <p:cNvSpPr txBox="1"/>
          <p:nvPr/>
        </p:nvSpPr>
        <p:spPr>
          <a:xfrm>
            <a:off x="7590198" y="4430002"/>
            <a:ext cx="970031" cy="23534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000">
                <a:latin typeface="맑은 고딕"/>
                <a:ea typeface="맑은 고딕"/>
                <a:hlinkClick r:id="rId3"/>
              </a:rPr>
              <a:t>프로토파이</a:t>
            </a:r>
            <a:endParaRPr lang="ko-KR" altLang="en-US" sz="1000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90549419"/>
      </p:ext>
    </p:extLst>
  </p:cSld>
  <p:clrMapOvr>
    <a:masterClrMapping/>
  </p:clrMapOvr>
</p:sld>
</file>

<file path=ppt/slides/slide6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542896" y="1768064"/>
            <a:ext cx="7772399" cy="696528"/>
          </a:xfrm>
        </p:spPr>
        <p:txBody>
          <a:bodyPr/>
          <a:p>
            <a:pPr lvl="0">
              <a:defRPr/>
            </a:pPr>
            <a:r>
              <a:rPr lang="ko-KR" altLang="en-US" b="1">
                <a:latin typeface="맑은 고딕"/>
                <a:ea typeface="맑은 고딕"/>
              </a:rPr>
              <a:t>개발 방법론</a:t>
            </a:r>
            <a:endParaRPr lang="ko-KR" altLang="en-US" b="1">
              <a:latin typeface="맑은 고딕"/>
              <a:ea typeface="맑은 고딕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 b="1">
                <a:latin typeface="맑은 고딕"/>
                <a:ea typeface="맑은 고딕"/>
              </a:rPr>
              <a:t>서비스 기획부터 출시까지</a:t>
            </a:r>
            <a:endParaRPr lang="ko-KR" altLang="en-US" b="1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1</a:t>
            </a:r>
            <a:r>
              <a:rPr lang="ko-KR" altLang="en-US" sz="2800" b="1">
                <a:latin typeface="맑은 고딕"/>
                <a:ea typeface="맑은 고딕"/>
              </a:rPr>
              <a:t>. 워터폴</a:t>
            </a:r>
            <a:r>
              <a:rPr lang="en-US" altLang="ko-KR" sz="2800" b="1">
                <a:latin typeface="맑은 고딕"/>
                <a:ea typeface="맑은 고딕"/>
              </a:rPr>
              <a:t>(waterfall)</a:t>
            </a:r>
            <a:endParaRPr lang="en-US" altLang="ko-KR" sz="2800" b="1">
              <a:latin typeface="맑은 고딕"/>
              <a:ea typeface="맑은 고딕"/>
            </a:endParaRPr>
          </a:p>
        </p:txBody>
      </p:sp>
      <p:grpSp>
        <p:nvGrpSpPr>
          <p:cNvPr id="40" name=""/>
          <p:cNvGrpSpPr/>
          <p:nvPr/>
        </p:nvGrpSpPr>
        <p:grpSpPr>
          <a:xfrm rot="0">
            <a:off x="406463" y="1044684"/>
            <a:ext cx="3380676" cy="3523665"/>
            <a:chOff x="450200" y="1005807"/>
            <a:chExt cx="3380676" cy="3523665"/>
          </a:xfrm>
        </p:grpSpPr>
        <p:sp>
          <p:nvSpPr>
            <p:cNvPr id="27" name="직사각형 26"/>
            <p:cNvSpPr/>
            <p:nvPr/>
          </p:nvSpPr>
          <p:spPr>
            <a:xfrm>
              <a:off x="450200" y="1005807"/>
              <a:ext cx="3380676" cy="352366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en-US" altLang="ko-KR"/>
            </a:p>
          </p:txBody>
        </p:sp>
        <p:grpSp>
          <p:nvGrpSpPr>
            <p:cNvPr id="38" name=""/>
            <p:cNvGrpSpPr/>
            <p:nvPr/>
          </p:nvGrpSpPr>
          <p:grpSpPr>
            <a:xfrm rot="0">
              <a:off x="770219" y="1531874"/>
              <a:ext cx="2410467" cy="2681082"/>
              <a:chOff x="835044" y="1332916"/>
              <a:chExt cx="2410467" cy="2681082"/>
            </a:xfrm>
          </p:grpSpPr>
          <p:sp>
            <p:nvSpPr>
              <p:cNvPr id="28" name="순서도: 대체 처리 27"/>
              <p:cNvSpPr/>
              <p:nvPr/>
            </p:nvSpPr>
            <p:spPr>
              <a:xfrm>
                <a:off x="835044" y="1332916"/>
                <a:ext cx="1180398" cy="467484"/>
              </a:xfrm>
              <a:prstGeom prst="flowChartAlternateProcess">
                <a:avLst/>
              </a:prstGeom>
              <a:solidFill>
                <a:srgbClr val="ebdef1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r>
                  <a:rPr lang="ko-KR" altLang="en-US" sz="1500" b="1">
                    <a:solidFill>
                      <a:srgbClr val="000000"/>
                    </a:solidFill>
                    <a:latin typeface="맑은 고딕"/>
                    <a:ea typeface="맑은 고딕"/>
                  </a:rPr>
                  <a:t>요구사항</a:t>
                </a:r>
                <a:endParaRPr lang="ko-KR" altLang="en-US" sz="1500" b="1">
                  <a:solidFill>
                    <a:srgbClr val="000000"/>
                  </a:solidFill>
                  <a:latin typeface="맑은 고딕"/>
                  <a:ea typeface="맑은 고딕"/>
                </a:endParaRPr>
              </a:p>
            </p:txBody>
          </p:sp>
          <p:cxnSp>
            <p:nvCxnSpPr>
              <p:cNvPr id="29" name="양방향 화살표 28"/>
              <p:cNvCxnSpPr>
                <a:stCxn id="28" idx="3"/>
              </p:cNvCxnSpPr>
              <p:nvPr/>
            </p:nvCxnSpPr>
            <p:spPr>
              <a:xfrm>
                <a:off x="2015442" y="1566658"/>
                <a:ext cx="99342" cy="315552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순서도: 대체 처리 29"/>
              <p:cNvSpPr/>
              <p:nvPr/>
            </p:nvSpPr>
            <p:spPr>
              <a:xfrm>
                <a:off x="1162750" y="1882210"/>
                <a:ext cx="1180398" cy="467484"/>
              </a:xfrm>
              <a:prstGeom prst="flowChartAlternateProcess">
                <a:avLst/>
              </a:prstGeom>
              <a:solidFill>
                <a:srgbClr val="ebdef1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500" b="1">
                    <a:solidFill>
                      <a:srgbClr val="000000"/>
                    </a:solidFill>
                    <a:latin typeface="맑은 고딕"/>
                    <a:ea typeface="맑은 고딕"/>
                  </a:rPr>
                  <a:t>설계</a:t>
                </a:r>
                <a:endParaRPr lang="ko-KR" altLang="en-US" sz="1500" b="1">
                  <a:solidFill>
                    <a:srgbClr val="000000"/>
                  </a:solidFill>
                  <a:latin typeface="맑은 고딕"/>
                  <a:ea typeface="맑은 고딕"/>
                </a:endParaRPr>
              </a:p>
            </p:txBody>
          </p:sp>
          <p:cxnSp>
            <p:nvCxnSpPr>
              <p:cNvPr id="31" name="양방향 화살표 30"/>
              <p:cNvCxnSpPr/>
              <p:nvPr/>
            </p:nvCxnSpPr>
            <p:spPr>
              <a:xfrm>
                <a:off x="2343148" y="2115952"/>
                <a:ext cx="99342" cy="315552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순서도: 대체 처리 31"/>
              <p:cNvSpPr/>
              <p:nvPr/>
            </p:nvSpPr>
            <p:spPr>
              <a:xfrm>
                <a:off x="1430560" y="2438400"/>
                <a:ext cx="1180398" cy="467484"/>
              </a:xfrm>
              <a:prstGeom prst="flowChartAlternateProcess">
                <a:avLst/>
              </a:prstGeom>
              <a:solidFill>
                <a:srgbClr val="ebdef1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500" b="1">
                    <a:solidFill>
                      <a:srgbClr val="000000"/>
                    </a:solidFill>
                    <a:latin typeface="맑은 고딕"/>
                    <a:ea typeface="맑은 고딕"/>
                  </a:rPr>
                  <a:t>구현</a:t>
                </a:r>
                <a:endParaRPr lang="ko-KR" altLang="en-US" sz="1500" b="1">
                  <a:solidFill>
                    <a:srgbClr val="000000"/>
                  </a:solidFill>
                  <a:latin typeface="맑은 고딕"/>
                  <a:ea typeface="맑은 고딕"/>
                </a:endParaRPr>
              </a:p>
            </p:txBody>
          </p:sp>
          <p:cxnSp>
            <p:nvCxnSpPr>
              <p:cNvPr id="33" name="양방향 화살표 32"/>
              <p:cNvCxnSpPr>
                <a:stCxn id="32" idx="3"/>
              </p:cNvCxnSpPr>
              <p:nvPr/>
            </p:nvCxnSpPr>
            <p:spPr>
              <a:xfrm>
                <a:off x="2610958" y="2672142"/>
                <a:ext cx="99342" cy="315552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순서도: 대체 처리 33"/>
              <p:cNvSpPr/>
              <p:nvPr/>
            </p:nvSpPr>
            <p:spPr>
              <a:xfrm>
                <a:off x="1758267" y="2987694"/>
                <a:ext cx="1180398" cy="467484"/>
              </a:xfrm>
              <a:prstGeom prst="flowChartAlternateProcess">
                <a:avLst/>
              </a:prstGeom>
              <a:solidFill>
                <a:srgbClr val="ebdef1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500" b="1">
                    <a:solidFill>
                      <a:srgbClr val="000000"/>
                    </a:solidFill>
                    <a:latin typeface="맑은 고딕"/>
                    <a:ea typeface="맑은 고딕"/>
                  </a:rPr>
                  <a:t>검증</a:t>
                </a:r>
                <a:endParaRPr lang="ko-KR" altLang="en-US" sz="1500" b="1">
                  <a:solidFill>
                    <a:srgbClr val="000000"/>
                  </a:solidFill>
                  <a:latin typeface="맑은 고딕"/>
                  <a:ea typeface="맑은 고딕"/>
                </a:endParaRPr>
              </a:p>
            </p:txBody>
          </p:sp>
          <p:cxnSp>
            <p:nvCxnSpPr>
              <p:cNvPr id="35" name="양방향 화살표 34"/>
              <p:cNvCxnSpPr/>
              <p:nvPr/>
            </p:nvCxnSpPr>
            <p:spPr>
              <a:xfrm>
                <a:off x="2938665" y="3221436"/>
                <a:ext cx="99342" cy="315552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순서도: 대체 처리 35"/>
              <p:cNvSpPr/>
              <p:nvPr/>
            </p:nvSpPr>
            <p:spPr>
              <a:xfrm>
                <a:off x="2065113" y="3546514"/>
                <a:ext cx="1180398" cy="467484"/>
              </a:xfrm>
              <a:prstGeom prst="flowChartAlternateProcess">
                <a:avLst/>
              </a:prstGeom>
              <a:solidFill>
                <a:srgbClr val="ebdef1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500" b="1">
                    <a:solidFill>
                      <a:srgbClr val="000000"/>
                    </a:solidFill>
                    <a:latin typeface="맑은 고딕"/>
                    <a:ea typeface="맑은 고딕"/>
                  </a:rPr>
                  <a:t>유지보수</a:t>
                </a:r>
                <a:endParaRPr lang="ko-KR" altLang="en-US" sz="1500" b="1">
                  <a:solidFill>
                    <a:srgbClr val="000000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39" name="가로 글상자 38"/>
            <p:cNvSpPr txBox="1"/>
            <p:nvPr/>
          </p:nvSpPr>
          <p:spPr>
            <a:xfrm>
              <a:off x="2861388" y="1190430"/>
              <a:ext cx="811569" cy="23641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r">
                <a:defRPr/>
              </a:pPr>
              <a:r>
                <a:rPr lang="ko-KR" altLang="en-US" sz="1000" b="1">
                  <a:solidFill>
                    <a:srgbClr val="808080"/>
                  </a:solidFill>
                  <a:latin typeface="맑은 고딕"/>
                  <a:ea typeface="맑은 고딕"/>
                </a:rPr>
                <a:t>워터폴</a:t>
              </a:r>
              <a:endParaRPr lang="ko-KR" altLang="en-US" sz="1000" b="1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41" name="가로 글상자 40"/>
          <p:cNvSpPr txBox="1"/>
          <p:nvPr/>
        </p:nvSpPr>
        <p:spPr>
          <a:xfrm>
            <a:off x="4047153" y="1044682"/>
            <a:ext cx="4432040" cy="3973088"/>
          </a:xfrm>
          <a:prstGeom prst="rect">
            <a:avLst/>
          </a:prstGeom>
        </p:spPr>
        <p:txBody>
          <a:bodyPr wrap="square">
            <a:spAutoFit/>
          </a:bodyPr>
          <a:p>
            <a:pPr marL="257040" lvl="0" indent="-257040">
              <a:buFont typeface="Wingdings"/>
              <a:buChar char="§"/>
              <a:defRPr/>
            </a:pP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1970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년 정립된 초기 개발 방법론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체계적 진행이 가능하고 문서화가 잘 되어 있다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altLang="ko-KR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en-US" altLang="ko-KR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계획 변경이 어렵기 때문에 고객의 요구사항 변화에 유연한 대응이 어렵다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사용해야 하는 도구가 정해져 있어 창의력을 발휘하기 어려운 공공기관 프로젝트나 규제사항이 엄격한 대형 프로젝트처럼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요구사항이 명확하고 변경 가능성이 적은 프로젝트에 적합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하다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altLang="ko-KR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en-US" altLang="ko-KR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2</a:t>
            </a:r>
            <a:r>
              <a:rPr lang="ko-KR" altLang="en-US" sz="2800" b="1">
                <a:latin typeface="맑은 고딕"/>
                <a:ea typeface="맑은 고딕"/>
              </a:rPr>
              <a:t>. 애자일</a:t>
            </a:r>
            <a:r>
              <a:rPr lang="en-US" altLang="ko-KR" sz="2800" b="1">
                <a:latin typeface="맑은 고딕"/>
                <a:ea typeface="맑은 고딕"/>
              </a:rPr>
              <a:t>(Agile)</a:t>
            </a:r>
            <a:endParaRPr lang="en-US" altLang="ko-KR" sz="2800" b="1">
              <a:latin typeface="맑은 고딕"/>
              <a:ea typeface="맑은 고딕"/>
            </a:endParaRPr>
          </a:p>
        </p:txBody>
      </p:sp>
      <p:grpSp>
        <p:nvGrpSpPr>
          <p:cNvPr id="88" name=""/>
          <p:cNvGrpSpPr/>
          <p:nvPr/>
        </p:nvGrpSpPr>
        <p:grpSpPr>
          <a:xfrm rot="0">
            <a:off x="1221101" y="971743"/>
            <a:ext cx="6438701" cy="2182645"/>
            <a:chOff x="406463" y="2385704"/>
            <a:chExt cx="6438701" cy="2182645"/>
          </a:xfrm>
        </p:grpSpPr>
        <p:sp>
          <p:nvSpPr>
            <p:cNvPr id="87" name="직사각형 86"/>
            <p:cNvSpPr/>
            <p:nvPr/>
          </p:nvSpPr>
          <p:spPr>
            <a:xfrm>
              <a:off x="406463" y="2385704"/>
              <a:ext cx="6438701" cy="2182645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US" altLang="ko-KR"/>
            </a:p>
          </p:txBody>
        </p:sp>
        <p:sp>
          <p:nvSpPr>
            <p:cNvPr id="81" name="오각형 80"/>
            <p:cNvSpPr/>
            <p:nvPr/>
          </p:nvSpPr>
          <p:spPr>
            <a:xfrm>
              <a:off x="1175871" y="3891635"/>
              <a:ext cx="5155202" cy="398537"/>
            </a:xfrm>
            <a:prstGeom prst="homePlate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9" name="가로 글상자 38"/>
            <p:cNvSpPr txBox="1"/>
            <p:nvPr/>
          </p:nvSpPr>
          <p:spPr>
            <a:xfrm>
              <a:off x="5877663" y="2590800"/>
              <a:ext cx="811570" cy="24125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r">
                <a:defRPr/>
              </a:pPr>
              <a:r>
                <a:rPr lang="ko-KR" altLang="en-US" sz="1000" b="1">
                  <a:solidFill>
                    <a:srgbClr val="808080"/>
                  </a:solidFill>
                  <a:latin typeface="맑은 고딕"/>
                  <a:ea typeface="맑은 고딕"/>
                </a:rPr>
                <a:t>애자일</a:t>
              </a:r>
              <a:endParaRPr lang="ko-KR" altLang="en-US" sz="1000" b="1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4" name="가로 글상자 83"/>
            <p:cNvSpPr txBox="1"/>
            <p:nvPr/>
          </p:nvSpPr>
          <p:spPr>
            <a:xfrm>
              <a:off x="4518863" y="3964139"/>
              <a:ext cx="1726008" cy="2673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200">
                  <a:solidFill>
                    <a:schemeClr val="lt1"/>
                  </a:solidFill>
                  <a:latin typeface="맑은 고딕"/>
                  <a:ea typeface="맑은 고딕"/>
                </a:rPr>
                <a:t>다음 스프린트</a:t>
              </a:r>
              <a:endParaRPr lang="ko-KR" altLang="en-US" sz="1200">
                <a:solidFill>
                  <a:schemeClr val="lt1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86" name=""/>
            <p:cNvGrpSpPr/>
            <p:nvPr/>
          </p:nvGrpSpPr>
          <p:grpSpPr>
            <a:xfrm rot="0">
              <a:off x="1175458" y="2653983"/>
              <a:ext cx="3349672" cy="1796565"/>
              <a:chOff x="1175458" y="2653983"/>
              <a:chExt cx="3349672" cy="1796565"/>
            </a:xfrm>
          </p:grpSpPr>
          <p:sp>
            <p:nvSpPr>
              <p:cNvPr id="72" name="막힌 원호 71"/>
              <p:cNvSpPr/>
              <p:nvPr/>
            </p:nvSpPr>
            <p:spPr>
              <a:xfrm rot="16211268" flipV="1">
                <a:off x="1540531" y="2593959"/>
                <a:ext cx="1617738" cy="1768902"/>
              </a:xfrm>
              <a:prstGeom prst="blockArc">
                <a:avLst>
                  <a:gd name="adj1" fmla="val 10532043"/>
                  <a:gd name="adj2" fmla="val 916630"/>
                  <a:gd name="adj3" fmla="val 24260"/>
                </a:avLst>
              </a:prstGeom>
              <a:solidFill>
                <a:schemeClr val="dk1"/>
              </a:solidFill>
              <a:ln w="38100">
                <a:solidFill>
                  <a:schemeClr val="dk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오각형 51"/>
              <p:cNvSpPr/>
              <p:nvPr/>
            </p:nvSpPr>
            <p:spPr>
              <a:xfrm rot="21230036" flipH="1">
                <a:off x="1960041" y="2694749"/>
                <a:ext cx="425654" cy="385476"/>
              </a:xfrm>
              <a:prstGeom prst="chevron">
                <a:avLst>
                  <a:gd name="adj" fmla="val 50000"/>
                </a:avLst>
              </a:prstGeom>
              <a:solidFill>
                <a:srgbClr val="783e94"/>
              </a:solidFill>
              <a:ln w="19050">
                <a:solidFill>
                  <a:srgbClr val="783e94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en-US" altLang="ko-KR"/>
              </a:p>
            </p:txBody>
          </p:sp>
          <p:sp>
            <p:nvSpPr>
              <p:cNvPr id="74" name="막힌 원호 73"/>
              <p:cNvSpPr/>
              <p:nvPr/>
            </p:nvSpPr>
            <p:spPr>
              <a:xfrm rot="16211268" flipV="1">
                <a:off x="1540531" y="2584433"/>
                <a:ext cx="1617738" cy="1768902"/>
              </a:xfrm>
              <a:prstGeom prst="blockArc">
                <a:avLst>
                  <a:gd name="adj1" fmla="val 16876064"/>
                  <a:gd name="adj2" fmla="val 916630"/>
                  <a:gd name="adj3" fmla="val 24260"/>
                </a:avLst>
              </a:prstGeom>
              <a:solidFill>
                <a:srgbClr val="783e94"/>
              </a:solidFill>
              <a:ln w="44450">
                <a:solidFill>
                  <a:srgbClr val="783e94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en-US" altLang="ko-KR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가로 글상자 77"/>
              <p:cNvSpPr txBox="1"/>
              <p:nvPr/>
            </p:nvSpPr>
            <p:spPr>
              <a:xfrm>
                <a:off x="2616100" y="3762099"/>
                <a:ext cx="760722" cy="2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lvl="0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설계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79" name="가로 글상자 78"/>
              <p:cNvSpPr txBox="1"/>
              <p:nvPr/>
            </p:nvSpPr>
            <p:spPr>
              <a:xfrm>
                <a:off x="2511325" y="2906537"/>
                <a:ext cx="760722" cy="2676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구현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83" name="가로 글상자 82"/>
              <p:cNvSpPr txBox="1"/>
              <p:nvPr/>
            </p:nvSpPr>
            <p:spPr>
              <a:xfrm>
                <a:off x="3387242" y="3946936"/>
                <a:ext cx="1137888" cy="265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피드백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52" name="오각형 51"/>
              <p:cNvSpPr/>
              <p:nvPr/>
            </p:nvSpPr>
            <p:spPr>
              <a:xfrm>
                <a:off x="2007405" y="3891635"/>
                <a:ext cx="507950" cy="398537"/>
              </a:xfrm>
              <a:prstGeom prst="chevron">
                <a:avLst>
                  <a:gd name="adj" fmla="val 50000"/>
                </a:avLst>
              </a:prstGeom>
              <a:solidFill>
                <a:schemeClr val="dk1"/>
              </a:solidFill>
              <a:ln w="31750">
                <a:solidFill>
                  <a:schemeClr val="dk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endParaRPr lang="en-US" altLang="ko-KR"/>
              </a:p>
            </p:txBody>
          </p:sp>
          <p:sp>
            <p:nvSpPr>
              <p:cNvPr id="75" name="막힌 원호 74"/>
              <p:cNvSpPr/>
              <p:nvPr/>
            </p:nvSpPr>
            <p:spPr>
              <a:xfrm rot="5996523" flipV="1">
                <a:off x="1532077" y="2516455"/>
                <a:ext cx="1796565" cy="2071621"/>
              </a:xfrm>
              <a:prstGeom prst="blockArc">
                <a:avLst>
                  <a:gd name="adj1" fmla="val 11594678"/>
                  <a:gd name="adj2" fmla="val 19643754"/>
                  <a:gd name="adj3" fmla="val 23256"/>
                </a:avLst>
              </a:prstGeom>
              <a:solidFill>
                <a:srgbClr val="ecd174"/>
              </a:solidFill>
              <a:ln w="31750">
                <a:solidFill>
                  <a:srgbClr val="ecd174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en-US" altLang="ko-KR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가로 글상자 79"/>
              <p:cNvSpPr txBox="1"/>
              <p:nvPr/>
            </p:nvSpPr>
            <p:spPr>
              <a:xfrm>
                <a:off x="1586383" y="2917179"/>
                <a:ext cx="760722" cy="2665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검증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53" name="오각형 52"/>
              <p:cNvSpPr/>
              <p:nvPr/>
            </p:nvSpPr>
            <p:spPr>
              <a:xfrm>
                <a:off x="1175458" y="3891635"/>
                <a:ext cx="1085921" cy="398537"/>
              </a:xfrm>
              <a:prstGeom prst="homePlate">
                <a:avLst>
                  <a:gd name="adj" fmla="val 50000"/>
                </a:avLst>
              </a:prstGeom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r>
                  <a:rPr lang="ko-KR" altLang="en-US" sz="1200">
                    <a:latin typeface="맑은 고딕"/>
                    <a:ea typeface="맑은 고딕"/>
                  </a:rPr>
                  <a:t>요구</a:t>
                </a:r>
                <a:endParaRPr lang="ko-KR" altLang="en-US" sz="1200">
                  <a:latin typeface="맑은 고딕"/>
                  <a:ea typeface="맑은 고딕"/>
                </a:endParaRPr>
              </a:p>
            </p:txBody>
          </p:sp>
        </p:grpSp>
      </p:grpSp>
      <p:sp>
        <p:nvSpPr>
          <p:cNvPr id="89" name="가로 글상자 88"/>
          <p:cNvSpPr txBox="1"/>
          <p:nvPr/>
        </p:nvSpPr>
        <p:spPr>
          <a:xfrm>
            <a:off x="1315750" y="3049613"/>
            <a:ext cx="6512500" cy="2834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Font typeface="Wingdings"/>
              <a:buNone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유연성을 극대화한 방법론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endParaRPr lang="en-US" altLang="ko-KR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en-US" altLang="ko-KR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개발 중간에도 고객의 피드백 반영 가능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요구사항에 빠르게 대응 가능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altLang="ko-KR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반복적 개발로 조기에 문제 발견 가능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명확한 목표가 없을 때 방향성을 잃을 가능성이 있음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en-US" altLang="ko-KR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74944754"/>
      </p:ext>
    </p:extLst>
  </p:cSld>
  <p:clrMapOvr>
    <a:masterClrMapping/>
  </p:clrMapOvr>
</p:sld>
</file>

<file path=ppt/slides/slide7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78576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3</a:t>
            </a:r>
            <a:r>
              <a:rPr lang="ko-KR" altLang="en-US" sz="2800" b="1">
                <a:latin typeface="맑은 고딕"/>
                <a:ea typeface="맑은 고딕"/>
              </a:rPr>
              <a:t>. 워터폴 vs 애자일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333375" y="1426346"/>
          <a:ext cx="8395004" cy="292576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059555"/>
                <a:gridCol w="4335449"/>
              </a:tblGrid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accent6"/>
                          </a:solidFill>
                          <a:latin typeface="맑은 고딕"/>
                          <a:ea typeface="맑은 고딕"/>
                        </a:rPr>
                        <a:t>워터폴</a:t>
                      </a:r>
                      <a:endParaRPr lang="ko-KR" altLang="en-US" sz="1600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ecd174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accent6"/>
                          </a:solidFill>
                          <a:latin typeface="맑은 고딕"/>
                          <a:ea typeface="맑은 고딕"/>
                        </a:rPr>
                        <a:t>애자일</a:t>
                      </a:r>
                      <a:endParaRPr lang="ko-KR" altLang="en-US" sz="1600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ffe7d8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단계별 개발</a:t>
                      </a:r>
                      <a:r>
                        <a:rPr lang="en-US" altLang="ko-KR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모든 단계 구현 후 테스트 가능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ecd174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반복적 </a:t>
                      </a:r>
                      <a:r>
                        <a:rPr lang="en-US" altLang="ko-KR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·</a:t>
                      </a: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점진적 개발</a:t>
                      </a:r>
                      <a:r>
                        <a:rPr lang="en-US" altLang="ko-KR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빠른 테스트 가능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ffe7d8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중간에 계획 변경이 어렵고 계획 변경 시 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다시 첫번째 단계로 되돌아가므로 시간이 오래 걸림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ecd174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중간에 계획 변경 가능하고 빠른 개선 가능함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ffe7d8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팀 역할이 명확하지 않고 모든 단계별 문서화 진행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ecd174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팀</a:t>
                      </a:r>
                      <a:r>
                        <a:rPr lang="en-US" altLang="ko-KR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역할이 유동적이고 실행력이 중요하므로 문서화 적음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ffe7d8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사용되어야 하는 프로그램이 정해져 있고 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규칙이 엄격하고 개발 목표가 명확한 프로젝트</a:t>
                      </a:r>
                      <a:endParaRPr lang="en-US" altLang="ko-KR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대형 외주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공공기관 등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lang="en-US" altLang="ko-KR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ecd174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다양한 프로젝트</a:t>
                      </a:r>
                      <a:endParaRPr lang="en-US" altLang="ko-KR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스타트업 등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lang="en-US" altLang="ko-KR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ffe7d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1112469"/>
      </p:ext>
    </p:extLst>
  </p:cSld>
  <p:clrMapOvr>
    <a:masterClrMapping/>
  </p:clrMapOvr>
</p:sld>
</file>

<file path=ppt/slides/slide7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8278" y="3566967"/>
            <a:ext cx="2670214" cy="15019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92851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600" b="1">
                <a:latin typeface="맑은 고딕"/>
                <a:ea typeface="맑은 고딕"/>
              </a:rPr>
              <a:t>4</a:t>
            </a:r>
            <a:r>
              <a:rPr lang="ko-KR" altLang="en-US" sz="2600" b="1">
                <a:latin typeface="맑은 고딕"/>
                <a:ea typeface="맑은 고딕"/>
              </a:rPr>
              <a:t>. 워터폴 vs 애자일</a:t>
            </a:r>
            <a:endParaRPr lang="ko-KR" altLang="en-US" sz="2600" b="1">
              <a:latin typeface="맑은 고딕"/>
              <a:ea typeface="맑은 고딕"/>
            </a:endParaRPr>
          </a:p>
        </p:txBody>
      </p:sp>
      <p:grpSp>
        <p:nvGrpSpPr>
          <p:cNvPr id="23" name=""/>
          <p:cNvGrpSpPr/>
          <p:nvPr/>
        </p:nvGrpSpPr>
        <p:grpSpPr>
          <a:xfrm rot="0">
            <a:off x="241552" y="925191"/>
            <a:ext cx="8487556" cy="4025686"/>
            <a:chOff x="241552" y="925191"/>
            <a:chExt cx="8487556" cy="4025686"/>
          </a:xfrm>
        </p:grpSpPr>
        <p:sp>
          <p:nvSpPr>
            <p:cNvPr id="6" name="모서리가 둥근 사각형 설명선 5"/>
            <p:cNvSpPr/>
            <p:nvPr/>
          </p:nvSpPr>
          <p:spPr>
            <a:xfrm>
              <a:off x="241552" y="925191"/>
              <a:ext cx="1466826" cy="463468"/>
            </a:xfrm>
            <a:prstGeom prst="wedgeRoundRectCallout">
              <a:avLst>
                <a:gd name="adj1" fmla="val -864"/>
                <a:gd name="adj2" fmla="val 71714"/>
                <a:gd name="adj3" fmla="val 16667"/>
              </a:avLst>
            </a:prstGeom>
            <a:solidFill>
              <a:schemeClr val="lt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ko-KR" altLang="en-US" sz="1300" b="1">
                  <a:solidFill>
                    <a:schemeClr val="accent6"/>
                  </a:solidFill>
                  <a:latin typeface="맑은 고딕"/>
                  <a:ea typeface="맑은 고딕"/>
                </a:rPr>
                <a:t>파란색 자동차</a:t>
              </a:r>
              <a:endParaRPr lang="ko-KR" altLang="en-US" sz="1300" b="1">
                <a:solidFill>
                  <a:schemeClr val="accent6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" name="모서리가 둥근 사각형 설명선 6"/>
            <p:cNvSpPr/>
            <p:nvPr/>
          </p:nvSpPr>
          <p:spPr>
            <a:xfrm>
              <a:off x="241552" y="3074295"/>
              <a:ext cx="1466826" cy="666165"/>
            </a:xfrm>
            <a:prstGeom prst="wedgeRoundRectCallout">
              <a:avLst>
                <a:gd name="adj1" fmla="val 43169"/>
                <a:gd name="adj2" fmla="val 70690"/>
                <a:gd name="adj3" fmla="val 16667"/>
              </a:avLst>
            </a:prstGeom>
            <a:solidFill>
              <a:srgbClr val="ebdef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200" b="1">
                  <a:solidFill>
                    <a:schemeClr val="accent6"/>
                  </a:solidFill>
                  <a:latin typeface="맑은 고딕"/>
                  <a:ea typeface="맑은 고딕"/>
                </a:rPr>
                <a:t>멋진 자동차</a:t>
              </a:r>
              <a:endParaRPr lang="ko-KR" altLang="en-US" sz="1200" b="1">
                <a:solidFill>
                  <a:schemeClr val="accent6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8" name="선 7"/>
            <p:cNvCxnSpPr/>
            <p:nvPr/>
          </p:nvCxnSpPr>
          <p:spPr>
            <a:xfrm flipV="1">
              <a:off x="323848" y="2927681"/>
              <a:ext cx="8312347" cy="17530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307508" y="3307241"/>
              <a:ext cx="2475551" cy="1643636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4677184" y="3966208"/>
              <a:ext cx="1969338" cy="98466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6509728" y="3470140"/>
              <a:ext cx="2219380" cy="1387112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3838400" y="1376512"/>
              <a:ext cx="1314799" cy="1267334"/>
            </a:xfrm>
            <a:prstGeom prst="rect">
              <a:avLst/>
            </a:prstGeom>
          </p:spPr>
        </p:pic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8"/>
            <a:stretch>
              <a:fillRect/>
            </a:stretch>
          </p:blipFill>
          <p:spPr>
            <a:xfrm>
              <a:off x="5225520" y="1376512"/>
              <a:ext cx="1274682" cy="1267334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 rotWithShape="1">
            <a:blip r:embed="rId9"/>
            <a:stretch>
              <a:fillRect/>
            </a:stretch>
          </p:blipFill>
          <p:spPr>
            <a:xfrm>
              <a:off x="6560468" y="1388660"/>
              <a:ext cx="1927400" cy="1273408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10"/>
            <a:stretch>
              <a:fillRect/>
            </a:stretch>
          </p:blipFill>
          <p:spPr>
            <a:xfrm>
              <a:off x="514577" y="925191"/>
              <a:ext cx="2719891" cy="2060126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11"/>
            <a:stretch>
              <a:fillRect/>
            </a:stretch>
          </p:blipFill>
          <p:spPr>
            <a:xfrm>
              <a:off x="2447192" y="1388660"/>
              <a:ext cx="1335867" cy="1273408"/>
            </a:xfrm>
            <a:prstGeom prst="rect">
              <a:avLst/>
            </a:prstGeom>
          </p:spPr>
        </p:pic>
        <p:sp>
          <p:nvSpPr>
            <p:cNvPr id="21" name="가로 글상자 20"/>
            <p:cNvSpPr txBox="1"/>
            <p:nvPr/>
          </p:nvSpPr>
          <p:spPr>
            <a:xfrm>
              <a:off x="2447192" y="1156925"/>
              <a:ext cx="6040676" cy="24134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000" b="1">
                  <a:latin typeface="맑은 고딕"/>
                  <a:ea typeface="맑은 고딕"/>
                </a:rPr>
                <a:t>자동차 제작 설계도                    부품 및 디자인 제작                              파란색 자동차 제작</a:t>
              </a:r>
              <a:endParaRPr lang="ko-KR" altLang="en-US" sz="1000" b="1">
                <a:latin typeface="맑은 고딕"/>
                <a:ea typeface="맑은 고딕"/>
              </a:endParaRPr>
            </a:p>
          </p:txBody>
        </p:sp>
        <p:sp>
          <p:nvSpPr>
            <p:cNvPr id="22" name="가로 글상자 21"/>
            <p:cNvSpPr txBox="1"/>
            <p:nvPr/>
          </p:nvSpPr>
          <p:spPr>
            <a:xfrm>
              <a:off x="2447191" y="3407377"/>
              <a:ext cx="6040676" cy="2387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000" b="1">
                  <a:latin typeface="맑은 고딕"/>
                  <a:ea typeface="맑은 고딕"/>
                </a:rPr>
                <a:t>       오픈카면 더 좋겠어요                  문도 멋지게 열리면 좋겠어요           내가 원하던 멋진차야</a:t>
              </a:r>
              <a:endParaRPr lang="ko-KR" altLang="en-US" sz="1000" b="1">
                <a:latin typeface="맑은 고딕"/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2942482"/>
      </p:ext>
    </p:extLst>
  </p:cSld>
  <p:clrMapOvr>
    <a:masterClrMapping/>
  </p:clrMapOvr>
</p:sld>
</file>

<file path=ppt/slides/slide7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69051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5</a:t>
            </a:r>
            <a:r>
              <a:rPr lang="ko-KR" altLang="en-US" sz="2800" b="1">
                <a:latin typeface="맑은 고딕"/>
                <a:ea typeface="맑은 고딕"/>
              </a:rPr>
              <a:t>. 스크럼</a:t>
            </a:r>
            <a:r>
              <a:rPr lang="en-US" altLang="ko-KR" sz="2800" b="1">
                <a:latin typeface="맑은 고딕"/>
                <a:ea typeface="맑은 고딕"/>
              </a:rPr>
              <a:t>(Scrum)</a:t>
            </a:r>
            <a:endParaRPr lang="en-US" altLang="ko-KR" sz="2800" b="1">
              <a:latin typeface="맑은 고딕"/>
              <a:ea typeface="맑은 고딕"/>
            </a:endParaRPr>
          </a:p>
        </p:txBody>
      </p:sp>
      <p:grpSp>
        <p:nvGrpSpPr>
          <p:cNvPr id="129" name=""/>
          <p:cNvGrpSpPr/>
          <p:nvPr/>
        </p:nvGrpSpPr>
        <p:grpSpPr>
          <a:xfrm rot="0">
            <a:off x="5040992" y="337175"/>
            <a:ext cx="3956488" cy="1402152"/>
            <a:chOff x="323848" y="2402588"/>
            <a:chExt cx="3956488" cy="1402152"/>
          </a:xfrm>
        </p:grpSpPr>
        <p:grpSp>
          <p:nvGrpSpPr>
            <p:cNvPr id="88" name=""/>
            <p:cNvGrpSpPr/>
            <p:nvPr/>
          </p:nvGrpSpPr>
          <p:grpSpPr>
            <a:xfrm rot="0">
              <a:off x="323848" y="2402588"/>
              <a:ext cx="3956488" cy="1402151"/>
              <a:chOff x="1175459" y="2653982"/>
              <a:chExt cx="5069411" cy="1796564"/>
            </a:xfrm>
          </p:grpSpPr>
          <p:sp>
            <p:nvSpPr>
              <p:cNvPr id="81" name="오각형 80"/>
              <p:cNvSpPr/>
              <p:nvPr/>
            </p:nvSpPr>
            <p:spPr>
              <a:xfrm>
                <a:off x="1175871" y="3891635"/>
                <a:ext cx="4938071" cy="398536"/>
              </a:xfrm>
              <a:prstGeom prst="homePlate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84" name="가로 글상자 83"/>
              <p:cNvSpPr txBox="1"/>
              <p:nvPr/>
            </p:nvSpPr>
            <p:spPr>
              <a:xfrm>
                <a:off x="4518863" y="3926035"/>
                <a:ext cx="1726007" cy="2876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ko-KR" altLang="en-US" sz="9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다음 스프린트</a:t>
                </a:r>
                <a:endParaRPr lang="ko-KR" altLang="en-US" sz="9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86" name=""/>
              <p:cNvGrpSpPr/>
              <p:nvPr/>
            </p:nvGrpSpPr>
            <p:grpSpPr>
              <a:xfrm rot="0">
                <a:off x="1175459" y="2653982"/>
                <a:ext cx="3349669" cy="1796565"/>
                <a:chOff x="1175458" y="2653983"/>
                <a:chExt cx="3349669" cy="1796565"/>
              </a:xfrm>
            </p:grpSpPr>
            <p:sp>
              <p:nvSpPr>
                <p:cNvPr id="72" name="막힌 원호 71"/>
                <p:cNvSpPr/>
                <p:nvPr/>
              </p:nvSpPr>
              <p:spPr>
                <a:xfrm rot="16211268" flipV="1">
                  <a:off x="1540531" y="2593959"/>
                  <a:ext cx="1617738" cy="1768902"/>
                </a:xfrm>
                <a:prstGeom prst="blockArc">
                  <a:avLst>
                    <a:gd name="adj1" fmla="val 10532043"/>
                    <a:gd name="adj2" fmla="val 916630"/>
                    <a:gd name="adj3" fmla="val 24260"/>
                  </a:avLst>
                </a:prstGeom>
                <a:solidFill>
                  <a:schemeClr val="dk1"/>
                </a:solidFill>
                <a:ln w="38100">
                  <a:solidFill>
                    <a:schemeClr val="dk1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lvl="0" algn="ctr">
                    <a:defRPr/>
                  </a:pP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오각형 51"/>
                <p:cNvSpPr/>
                <p:nvPr/>
              </p:nvSpPr>
              <p:spPr>
                <a:xfrm rot="21230036" flipH="1">
                  <a:off x="1960041" y="2694749"/>
                  <a:ext cx="425654" cy="385476"/>
                </a:xfrm>
                <a:prstGeom prst="chevron">
                  <a:avLst>
                    <a:gd name="adj" fmla="val 50000"/>
                  </a:avLst>
                </a:prstGeom>
                <a:solidFill>
                  <a:srgbClr val="783e94"/>
                </a:solidFill>
                <a:ln w="19050">
                  <a:solidFill>
                    <a:srgbClr val="783e94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lvl="0" algn="ctr">
                    <a:defRPr/>
                  </a:pPr>
                  <a:endParaRPr lang="en-US" altLang="ko-KR"/>
                </a:p>
              </p:txBody>
            </p:sp>
            <p:sp>
              <p:nvSpPr>
                <p:cNvPr id="74" name="막힌 원호 73"/>
                <p:cNvSpPr/>
                <p:nvPr/>
              </p:nvSpPr>
              <p:spPr>
                <a:xfrm rot="16211268" flipV="1">
                  <a:off x="1540531" y="2584433"/>
                  <a:ext cx="1617738" cy="1768902"/>
                </a:xfrm>
                <a:prstGeom prst="blockArc">
                  <a:avLst>
                    <a:gd name="adj1" fmla="val 16876064"/>
                    <a:gd name="adj2" fmla="val 916630"/>
                    <a:gd name="adj3" fmla="val 24260"/>
                  </a:avLst>
                </a:prstGeom>
                <a:solidFill>
                  <a:srgbClr val="783e94"/>
                </a:solidFill>
                <a:ln w="44450">
                  <a:solidFill>
                    <a:srgbClr val="783e94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lvl="0" algn="ctr">
                    <a:defRPr/>
                  </a:pPr>
                  <a:endParaRPr lang="en-US" altLang="ko-KR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가로 글상자 77"/>
                <p:cNvSpPr txBox="1"/>
                <p:nvPr/>
              </p:nvSpPr>
              <p:spPr>
                <a:xfrm>
                  <a:off x="2511324" y="3772811"/>
                  <a:ext cx="760721" cy="2847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lvl="0">
                    <a:defRPr/>
                  </a:pPr>
                  <a:r>
                    <a:rPr lang="ko-KR" altLang="en-US" sz="900">
                      <a:solidFill>
                        <a:schemeClr val="lt1"/>
                      </a:solidFill>
                      <a:latin typeface="맑은 고딕"/>
                      <a:ea typeface="맑은 고딕"/>
                    </a:rPr>
                    <a:t>설계</a:t>
                  </a:r>
                  <a:endParaRPr lang="ko-KR" altLang="en-US" sz="900">
                    <a:solidFill>
                      <a:schemeClr val="lt1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79" name="가로 글상자 78"/>
                <p:cNvSpPr txBox="1"/>
                <p:nvPr/>
              </p:nvSpPr>
              <p:spPr>
                <a:xfrm>
                  <a:off x="2511321" y="2868434"/>
                  <a:ext cx="760721" cy="28601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ko-KR" altLang="en-US" sz="900">
                      <a:solidFill>
                        <a:schemeClr val="lt1"/>
                      </a:solidFill>
                      <a:latin typeface="맑은 고딕"/>
                      <a:ea typeface="맑은 고딕"/>
                    </a:rPr>
                    <a:t>구현</a:t>
                  </a:r>
                  <a:endParaRPr lang="ko-KR" altLang="en-US" sz="900">
                    <a:solidFill>
                      <a:schemeClr val="lt1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83" name="가로 글상자 82"/>
                <p:cNvSpPr txBox="1"/>
                <p:nvPr/>
              </p:nvSpPr>
              <p:spPr>
                <a:xfrm>
                  <a:off x="3387239" y="3908830"/>
                  <a:ext cx="1137887" cy="28778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ko-KR" altLang="en-US" sz="900">
                      <a:solidFill>
                        <a:schemeClr val="lt1"/>
                      </a:solidFill>
                      <a:latin typeface="맑은 고딕"/>
                      <a:ea typeface="맑은 고딕"/>
                    </a:rPr>
                    <a:t>피드백</a:t>
                  </a:r>
                  <a:endParaRPr lang="ko-KR" altLang="en-US" sz="900">
                    <a:solidFill>
                      <a:schemeClr val="lt1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52" name="오각형 51"/>
                <p:cNvSpPr/>
                <p:nvPr/>
              </p:nvSpPr>
              <p:spPr>
                <a:xfrm>
                  <a:off x="2007405" y="3891635"/>
                  <a:ext cx="507950" cy="398537"/>
                </a:xfrm>
                <a:prstGeom prst="chevron">
                  <a:avLst>
                    <a:gd name="adj" fmla="val 50000"/>
                  </a:avLst>
                </a:prstGeom>
                <a:solidFill>
                  <a:schemeClr val="dk1"/>
                </a:solidFill>
                <a:ln w="31750">
                  <a:solidFill>
                    <a:schemeClr val="dk1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lvl="0" algn="ctr">
                    <a:defRPr/>
                  </a:pPr>
                  <a:endParaRPr lang="en-US" altLang="ko-KR"/>
                </a:p>
              </p:txBody>
            </p:sp>
            <p:sp>
              <p:nvSpPr>
                <p:cNvPr id="75" name="막힌 원호 74"/>
                <p:cNvSpPr/>
                <p:nvPr/>
              </p:nvSpPr>
              <p:spPr>
                <a:xfrm rot="5996523" flipV="1">
                  <a:off x="1532077" y="2516455"/>
                  <a:ext cx="1796565" cy="2071621"/>
                </a:xfrm>
                <a:prstGeom prst="blockArc">
                  <a:avLst>
                    <a:gd name="adj1" fmla="val 11594678"/>
                    <a:gd name="adj2" fmla="val 19643754"/>
                    <a:gd name="adj3" fmla="val 23256"/>
                  </a:avLst>
                </a:prstGeom>
                <a:solidFill>
                  <a:srgbClr val="ecd174"/>
                </a:solidFill>
                <a:ln w="31750">
                  <a:solidFill>
                    <a:srgbClr val="ecd174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lvl="0" algn="ctr">
                    <a:defRPr/>
                  </a:pPr>
                  <a:endParaRPr lang="en-US" altLang="ko-KR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가로 글상자 79"/>
                <p:cNvSpPr txBox="1"/>
                <p:nvPr/>
              </p:nvSpPr>
              <p:spPr>
                <a:xfrm>
                  <a:off x="1610495" y="2879073"/>
                  <a:ext cx="760722" cy="28758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ko-KR" altLang="en-US" sz="900">
                      <a:solidFill>
                        <a:schemeClr val="lt1"/>
                      </a:solidFill>
                      <a:latin typeface="맑은 고딕"/>
                      <a:ea typeface="맑은 고딕"/>
                    </a:rPr>
                    <a:t>검증</a:t>
                  </a:r>
                  <a:endParaRPr lang="ko-KR" altLang="en-US" sz="900">
                    <a:solidFill>
                      <a:schemeClr val="lt1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53" name="오각형 52"/>
                <p:cNvSpPr/>
                <p:nvPr/>
              </p:nvSpPr>
              <p:spPr>
                <a:xfrm>
                  <a:off x="1175458" y="3891635"/>
                  <a:ext cx="1085921" cy="398537"/>
                </a:xfrm>
                <a:prstGeom prst="homePlate">
                  <a:avLst>
                    <a:gd name="adj" fmla="val 50000"/>
                  </a:avLst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lvl="0" algn="ctr">
                    <a:defRPr/>
                  </a:pPr>
                  <a:r>
                    <a:rPr lang="ko-KR" altLang="en-US" sz="900">
                      <a:latin typeface="맑은 고딕"/>
                      <a:ea typeface="맑은 고딕"/>
                    </a:rPr>
                    <a:t>요구</a:t>
                  </a:r>
                  <a:endParaRPr lang="ko-KR" altLang="en-US" sz="900">
                    <a:latin typeface="맑은 고딕"/>
                    <a:ea typeface="맑은 고딕"/>
                  </a:endParaRPr>
                </a:p>
              </p:txBody>
            </p:sp>
          </p:grpSp>
        </p:grpSp>
        <p:sp>
          <p:nvSpPr>
            <p:cNvPr id="104" name="가로 글상자 103"/>
            <p:cNvSpPr txBox="1"/>
            <p:nvPr/>
          </p:nvSpPr>
          <p:spPr>
            <a:xfrm>
              <a:off x="654582" y="2859549"/>
              <a:ext cx="1127806" cy="36752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ctr">
                <a:defRPr/>
              </a:pPr>
              <a:r>
                <a:rPr lang="en-US" altLang="ko-KR" sz="900" b="1">
                  <a:latin typeface="맑은 고딕"/>
                  <a:ea typeface="맑은 고딕"/>
                </a:rPr>
                <a:t>1</a:t>
              </a:r>
              <a:r>
                <a:rPr lang="ko-KR" altLang="en-US" sz="900" b="1">
                  <a:latin typeface="맑은 고딕"/>
                  <a:ea typeface="맑은 고딕"/>
                </a:rPr>
                <a:t>차</a:t>
              </a:r>
              <a:endParaRPr lang="ko-KR" altLang="en-US" sz="9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900" b="1">
                  <a:latin typeface="맑은 고딕"/>
                  <a:ea typeface="맑은 고딕"/>
                </a:rPr>
                <a:t>스프린트</a:t>
              </a:r>
              <a:endParaRPr lang="ko-KR" altLang="en-US" sz="900" b="1">
                <a:latin typeface="맑은 고딕"/>
                <a:ea typeface="맑은 고딕"/>
              </a:endParaRPr>
            </a:p>
          </p:txBody>
        </p:sp>
      </p:grpSp>
      <p:sp>
        <p:nvSpPr>
          <p:cNvPr id="108" name="가로 글상자 107"/>
          <p:cNvSpPr txBox="1"/>
          <p:nvPr/>
        </p:nvSpPr>
        <p:spPr>
          <a:xfrm>
            <a:off x="323849" y="3023167"/>
            <a:ext cx="8015456" cy="2099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buFont typeface="Wingdings"/>
              <a:buNone/>
              <a:defRPr/>
            </a:pPr>
            <a:endParaRPr lang="ko-KR" altLang="en-US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r>
              <a:rPr lang="ko-KR" altLang="en-US" sz="1200" b="1">
                <a:solidFill>
                  <a:srgbClr val="000000"/>
                </a:solidFill>
                <a:latin typeface="맑은 고딕"/>
                <a:ea typeface="맑은 고딕"/>
              </a:rPr>
              <a:t>스크럼 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 애자일 방법론을 이용하여 개발할 때 쓰는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,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>
                <a:solidFill>
                  <a:srgbClr val="ff0000"/>
                </a:solidFill>
                <a:latin typeface="맑은 고딕"/>
                <a:ea typeface="맑은 고딕"/>
              </a:rPr>
              <a:t>구체적 실천 방법</a:t>
            </a:r>
            <a:endParaRPr lang="ko-KR" altLang="en-US" sz="12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2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r>
              <a:rPr lang="ko-KR" altLang="en-US" sz="1200" b="1">
                <a:solidFill>
                  <a:srgbClr val="000000"/>
                </a:solidFill>
                <a:latin typeface="맑은 고딕"/>
                <a:ea typeface="맑은 고딕"/>
              </a:rPr>
              <a:t>스크럼 시 사용되어 지는 것들</a:t>
            </a:r>
            <a:endParaRPr lang="ko-KR" altLang="en-US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57040" lvl="0" indent="-257040">
              <a:buFont typeface="Wingdings"/>
              <a:buChar char="§"/>
              <a:defRPr/>
            </a:pPr>
            <a:endParaRPr lang="ko-KR" altLang="en-US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-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>
                <a:solidFill>
                  <a:srgbClr val="ff0000"/>
                </a:solidFill>
                <a:latin typeface="맑은 고딕"/>
                <a:ea typeface="맑은 고딕"/>
              </a:rPr>
              <a:t>스프린트 </a:t>
            </a:r>
            <a:r>
              <a:rPr lang="en-US" altLang="ko-KR" sz="1200" b="1">
                <a:solidFill>
                  <a:srgbClr val="ff0000"/>
                </a:solidFill>
                <a:latin typeface="맑은 고딕"/>
                <a:ea typeface="맑은 고딕"/>
              </a:rPr>
              <a:t>: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 전력 질주라는 뜻으로 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1~4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주 정도 짧은 기간 동안 작은 목표를 완성하는 것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en-US" altLang="ko-KR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en-US" altLang="ko-KR" sz="1200" b="1">
                <a:solidFill>
                  <a:schemeClr val="dk1"/>
                </a:solidFill>
                <a:latin typeface="맑은 고딕"/>
                <a:ea typeface="맑은 고딕"/>
              </a:rPr>
              <a:t>-</a:t>
            </a:r>
            <a:r>
              <a:rPr lang="ko-KR" altLang="en-US" sz="1200" b="1">
                <a:solidFill>
                  <a:schemeClr val="dk1"/>
                </a:solidFill>
                <a:latin typeface="맑은 고딕"/>
                <a:ea typeface="맑은 고딕"/>
              </a:rPr>
              <a:t> 데일리 스크럼 </a:t>
            </a:r>
            <a:r>
              <a:rPr lang="en-US" altLang="ko-KR" sz="1200" b="1">
                <a:solidFill>
                  <a:schemeClr val="dk1"/>
                </a:solidFill>
                <a:latin typeface="맑은 고딕"/>
                <a:ea typeface="맑은 고딕"/>
              </a:rPr>
              <a:t>:</a:t>
            </a:r>
            <a:r>
              <a:rPr lang="ko-KR" altLang="en-US" sz="1200" b="1">
                <a:solidFill>
                  <a:schemeClr val="dk1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매일하는 짧은 회의라는 뜻으로 현재 진행 상황 공유 및 개선 방향 의논</a:t>
            </a:r>
            <a:endParaRPr lang="ko-KR" altLang="en-US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en-US" altLang="ko-KR" sz="1200" b="1">
                <a:solidFill>
                  <a:srgbClr val="783e94"/>
                </a:solidFill>
                <a:latin typeface="맑은 고딕"/>
                <a:ea typeface="맑은 고딕"/>
              </a:rPr>
              <a:t>-</a:t>
            </a:r>
            <a:r>
              <a:rPr lang="ko-KR" altLang="en-US" sz="1200" b="1">
                <a:solidFill>
                  <a:srgbClr val="783e94"/>
                </a:solidFill>
                <a:latin typeface="맑은 고딕"/>
                <a:ea typeface="맑은 고딕"/>
              </a:rPr>
              <a:t> 회고 </a:t>
            </a:r>
            <a:r>
              <a:rPr lang="en-US" altLang="ko-KR" sz="1200" b="1">
                <a:solidFill>
                  <a:srgbClr val="783e94"/>
                </a:solidFill>
                <a:latin typeface="맑은 고딕"/>
                <a:ea typeface="맑은 고딕"/>
              </a:rPr>
              <a:t>:</a:t>
            </a:r>
            <a:r>
              <a:rPr lang="ko-KR" altLang="en-US" sz="1200" b="1">
                <a:solidFill>
                  <a:srgbClr val="783e94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전 이해관계자가 참여하는 리뷰와 달리 팀원만 참여하여 개선 방안을 의논하고 </a:t>
            </a:r>
            <a:endParaRPr lang="ko-KR" altLang="en-US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          다음 스프린트를 진행하기 위한 준비를 한다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lang="ko-KR" altLang="en-US" sz="120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grpSp>
        <p:nvGrpSpPr>
          <p:cNvPr id="135" name=""/>
          <p:cNvGrpSpPr/>
          <p:nvPr/>
        </p:nvGrpSpPr>
        <p:grpSpPr>
          <a:xfrm rot="0">
            <a:off x="323849" y="1759605"/>
            <a:ext cx="8673631" cy="1205806"/>
            <a:chOff x="323849" y="1616730"/>
            <a:chExt cx="8673631" cy="1205806"/>
          </a:xfrm>
        </p:grpSpPr>
        <p:sp>
          <p:nvSpPr>
            <p:cNvPr id="134" name="직사각형 133"/>
            <p:cNvSpPr/>
            <p:nvPr/>
          </p:nvSpPr>
          <p:spPr>
            <a:xfrm>
              <a:off x="323849" y="1616730"/>
              <a:ext cx="8673631" cy="1205806"/>
            </a:xfrm>
            <a:prstGeom prst="rect">
              <a:avLst/>
            </a:prstGeom>
            <a:solidFill>
              <a:srgbClr val="faf3db"/>
            </a:solidFill>
            <a:ln>
              <a:solidFill>
                <a:srgbClr val="faf3d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grpSp>
          <p:nvGrpSpPr>
            <p:cNvPr id="130" name=""/>
            <p:cNvGrpSpPr/>
            <p:nvPr/>
          </p:nvGrpSpPr>
          <p:grpSpPr>
            <a:xfrm rot="0">
              <a:off x="414308" y="1701936"/>
              <a:ext cx="8496192" cy="993872"/>
              <a:chOff x="414308" y="1178061"/>
              <a:chExt cx="8496192" cy="993872"/>
            </a:xfrm>
          </p:grpSpPr>
          <p:sp>
            <p:nvSpPr>
              <p:cNvPr id="123" name="갈매기형 수장 122"/>
              <p:cNvSpPr/>
              <p:nvPr/>
            </p:nvSpPr>
            <p:spPr>
              <a:xfrm flipH="1">
                <a:off x="8434535" y="1762884"/>
                <a:ext cx="475965" cy="409049"/>
              </a:xfrm>
              <a:prstGeom prst="chevron">
                <a:avLst>
                  <a:gd name="adj" fmla="val 1562"/>
                </a:avLst>
              </a:prstGeom>
              <a:solidFill>
                <a:srgbClr val="67530e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09" name="갈매기형 수장 108"/>
              <p:cNvSpPr/>
              <p:nvPr/>
            </p:nvSpPr>
            <p:spPr>
              <a:xfrm>
                <a:off x="414308" y="1178061"/>
                <a:ext cx="852176" cy="409049"/>
              </a:xfrm>
              <a:prstGeom prst="chevron">
                <a:avLst>
                  <a:gd name="adj" fmla="val 50000"/>
                </a:avLst>
              </a:prstGeom>
              <a:solidFill>
                <a:srgbClr val="f2f2f2"/>
              </a:solidFill>
              <a:ln>
                <a:solidFill>
                  <a:schemeClr val="accent1">
                    <a:shade val="20000"/>
                  </a:schemeClr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비전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1" name="갈매기형 수장 110"/>
              <p:cNvSpPr/>
              <p:nvPr/>
            </p:nvSpPr>
            <p:spPr>
              <a:xfrm>
                <a:off x="1126926" y="1178061"/>
                <a:ext cx="1060211" cy="409049"/>
              </a:xfrm>
              <a:prstGeom prst="chevron">
                <a:avLst>
                  <a:gd name="adj" fmla="val 50000"/>
                </a:avLst>
              </a:pr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로드맵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2" name="갈매기형 수장 111"/>
              <p:cNvSpPr/>
              <p:nvPr/>
            </p:nvSpPr>
            <p:spPr>
              <a:xfrm>
                <a:off x="2022096" y="1178061"/>
                <a:ext cx="1620063" cy="409049"/>
              </a:xfrm>
              <a:prstGeom prst="chevron">
                <a:avLst>
                  <a:gd name="adj" fmla="val 50000"/>
                </a:avLst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프로덕트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백로그</a:t>
                </a:r>
                <a:r>
                  <a:rPr lang="en-US" altLang="ko-KR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(</a:t>
                </a: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할 일</a:t>
                </a:r>
                <a:r>
                  <a:rPr lang="en-US" altLang="ko-KR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)</a:t>
                </a:r>
                <a:endParaRPr lang="en-US" altLang="ko-KR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3" name="갈매기형 수장 112"/>
              <p:cNvSpPr/>
              <p:nvPr/>
            </p:nvSpPr>
            <p:spPr>
              <a:xfrm>
                <a:off x="3499071" y="1178061"/>
                <a:ext cx="1368079" cy="409049"/>
              </a:xfrm>
              <a:prstGeom prst="chevron">
                <a:avLst>
                  <a:gd name="adj" fmla="val 50000"/>
                </a:avLst>
              </a:prstGeom>
              <a:solidFill>
                <a:srgbClr val="a6a6a6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출시계획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4" name="갈매기형 수장 113"/>
              <p:cNvSpPr/>
              <p:nvPr/>
            </p:nvSpPr>
            <p:spPr>
              <a:xfrm>
                <a:off x="4724633" y="1178061"/>
                <a:ext cx="1368079" cy="409049"/>
              </a:xfrm>
              <a:prstGeom prst="chevron">
                <a:avLst>
                  <a:gd name="adj" fmla="val 50000"/>
                </a:avLst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스프린트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플래닝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5" name="갈매기형 수장 114"/>
              <p:cNvSpPr/>
              <p:nvPr/>
            </p:nvSpPr>
            <p:spPr>
              <a:xfrm>
                <a:off x="5934429" y="1178061"/>
                <a:ext cx="1368079" cy="409049"/>
              </a:xfrm>
              <a:prstGeom prst="chevron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스프린트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백로그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6" name="갈매기형 수장 115"/>
              <p:cNvSpPr/>
              <p:nvPr/>
            </p:nvSpPr>
            <p:spPr>
              <a:xfrm>
                <a:off x="7177422" y="1178061"/>
                <a:ext cx="1733077" cy="409049"/>
              </a:xfrm>
              <a:prstGeom prst="chevron">
                <a:avLst>
                  <a:gd name="adj" fmla="val 50000"/>
                </a:avLst>
              </a:prstGeom>
              <a:solidFill>
                <a:srgbClr val="292106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스프린트</a:t>
                </a:r>
                <a:r>
                  <a:rPr lang="en-US" altLang="ko-KR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&amp;</a:t>
                </a: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 데일리 스크럼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7" name="갈매기형 수장 116"/>
              <p:cNvSpPr/>
              <p:nvPr/>
            </p:nvSpPr>
            <p:spPr>
              <a:xfrm flipH="1">
                <a:off x="7358973" y="1762884"/>
                <a:ext cx="1365925" cy="409049"/>
              </a:xfrm>
              <a:prstGeom prst="chevron">
                <a:avLst>
                  <a:gd name="adj" fmla="val 50000"/>
                </a:avLst>
              </a:prstGeom>
              <a:solidFill>
                <a:srgbClr val="67530e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결과물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8" name="갈매기형 수장 117"/>
              <p:cNvSpPr/>
              <p:nvPr/>
            </p:nvSpPr>
            <p:spPr>
              <a:xfrm flipH="1">
                <a:off x="6129198" y="1762884"/>
                <a:ext cx="1365925" cy="409049"/>
              </a:xfrm>
              <a:prstGeom prst="chevron">
                <a:avLst>
                  <a:gd name="adj" fmla="val 50000"/>
                </a:avLst>
              </a:prstGeom>
              <a:solidFill>
                <a:srgbClr val="cea61d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리뷰</a:t>
                </a:r>
                <a:endParaRPr lang="en-US" altLang="ko-KR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  <a:p>
                <a:pPr lvl="0" algn="ctr">
                  <a:defRPr/>
                </a:pPr>
                <a:r>
                  <a:rPr lang="en-US" altLang="ko-KR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(</a:t>
                </a: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모두 참여</a:t>
                </a:r>
                <a:r>
                  <a:rPr lang="en-US" altLang="ko-KR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)</a:t>
                </a:r>
                <a:endParaRPr lang="en-US" altLang="ko-KR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9" name="갈매기형 수장 118"/>
              <p:cNvSpPr/>
              <p:nvPr/>
            </p:nvSpPr>
            <p:spPr>
              <a:xfrm flipH="1">
                <a:off x="4895744" y="1762884"/>
                <a:ext cx="1365925" cy="409049"/>
              </a:xfrm>
              <a:prstGeom prst="chevron">
                <a:avLst>
                  <a:gd name="adj" fmla="val 50000"/>
                </a:avLst>
              </a:prstGeom>
              <a:solidFill>
                <a:srgbClr val="ecd174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회고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  </a:t>
                </a:r>
                <a:r>
                  <a:rPr lang="en-US" altLang="ko-KR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(</a:t>
                </a: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팀원만</a:t>
                </a:r>
                <a:r>
                  <a:rPr lang="en-US" altLang="ko-KR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)</a:t>
                </a:r>
                <a:endParaRPr lang="en-US" altLang="ko-KR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25" name="직사각형 124"/>
              <p:cNvSpPr/>
              <p:nvPr/>
            </p:nvSpPr>
            <p:spPr>
              <a:xfrm>
                <a:off x="8672518" y="1178061"/>
                <a:ext cx="237982" cy="993871"/>
              </a:xfrm>
              <a:prstGeom prst="rect">
                <a:avLst/>
              </a:prstGeom>
              <a:solidFill>
                <a:srgbClr val="292106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126" name="갈매기형 수장 125"/>
              <p:cNvSpPr/>
              <p:nvPr/>
            </p:nvSpPr>
            <p:spPr>
              <a:xfrm flipH="1">
                <a:off x="8496645" y="1762884"/>
                <a:ext cx="323156" cy="409049"/>
              </a:xfrm>
              <a:prstGeom prst="chevron">
                <a:avLst>
                  <a:gd name="adj" fmla="val 50000"/>
                </a:avLst>
              </a:prstGeom>
              <a:solidFill>
                <a:srgbClr val="292106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28" name="오각형 127"/>
              <p:cNvSpPr/>
              <p:nvPr/>
            </p:nvSpPr>
            <p:spPr>
              <a:xfrm rot="16200000">
                <a:off x="4827708" y="1635536"/>
                <a:ext cx="550640" cy="496935"/>
              </a:xfrm>
              <a:prstGeom prst="homePlate">
                <a:avLst>
                  <a:gd name="adj" fmla="val 50000"/>
                </a:avLst>
              </a:prstGeom>
              <a:solidFill>
                <a:srgbClr val="ecd174"/>
              </a:solidFill>
              <a:ln>
                <a:solidFill>
                  <a:srgbClr val="ecd174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5349519"/>
      </p:ext>
    </p:extLst>
  </p:cSld>
  <p:clrMapOvr>
    <a:masterClrMapping/>
  </p:clrMapOvr>
</p:sld>
</file>

<file path=ppt/slides/slide7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69051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3000" b="1">
                <a:latin typeface="맑은 고딕"/>
                <a:ea typeface="맑은 고딕"/>
              </a:rPr>
              <a:t>5</a:t>
            </a:r>
            <a:r>
              <a:rPr lang="ko-KR" altLang="en-US" sz="3000" b="1">
                <a:latin typeface="맑은 고딕"/>
                <a:ea typeface="맑은 고딕"/>
              </a:rPr>
              <a:t>. 스크럼</a:t>
            </a:r>
            <a:r>
              <a:rPr lang="en-US" altLang="ko-KR" sz="3000" b="1">
                <a:latin typeface="맑은 고딕"/>
                <a:ea typeface="맑은 고딕"/>
              </a:rPr>
              <a:t>(Scrum)</a:t>
            </a:r>
            <a:endParaRPr lang="en-US" altLang="ko-KR" sz="3000" b="1">
              <a:latin typeface="맑은 고딕"/>
              <a:ea typeface="맑은 고딕"/>
            </a:endParaRPr>
          </a:p>
        </p:txBody>
      </p:sp>
      <p:grpSp>
        <p:nvGrpSpPr>
          <p:cNvPr id="129" name=""/>
          <p:cNvGrpSpPr/>
          <p:nvPr/>
        </p:nvGrpSpPr>
        <p:grpSpPr>
          <a:xfrm rot="0">
            <a:off x="5040992" y="337175"/>
            <a:ext cx="3956488" cy="1402152"/>
            <a:chOff x="323848" y="2402588"/>
            <a:chExt cx="3956488" cy="1402152"/>
          </a:xfrm>
        </p:grpSpPr>
        <p:grpSp>
          <p:nvGrpSpPr>
            <p:cNvPr id="88" name=""/>
            <p:cNvGrpSpPr/>
            <p:nvPr/>
          </p:nvGrpSpPr>
          <p:grpSpPr>
            <a:xfrm rot="0">
              <a:off x="323848" y="2402588"/>
              <a:ext cx="3956488" cy="1402151"/>
              <a:chOff x="1175459" y="2653982"/>
              <a:chExt cx="5069411" cy="1796564"/>
            </a:xfrm>
          </p:grpSpPr>
          <p:sp>
            <p:nvSpPr>
              <p:cNvPr id="81" name="오각형 80"/>
              <p:cNvSpPr/>
              <p:nvPr/>
            </p:nvSpPr>
            <p:spPr>
              <a:xfrm>
                <a:off x="1175871" y="3891635"/>
                <a:ext cx="4938071" cy="398536"/>
              </a:xfrm>
              <a:prstGeom prst="homePlate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84" name="가로 글상자 83"/>
              <p:cNvSpPr txBox="1"/>
              <p:nvPr/>
            </p:nvSpPr>
            <p:spPr>
              <a:xfrm>
                <a:off x="4518863" y="3926034"/>
                <a:ext cx="1726007" cy="2876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ko-KR" altLang="en-US" sz="9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다음 스프린트</a:t>
                </a:r>
                <a:endParaRPr lang="ko-KR" altLang="en-US" sz="9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86" name=""/>
              <p:cNvGrpSpPr/>
              <p:nvPr/>
            </p:nvGrpSpPr>
            <p:grpSpPr>
              <a:xfrm rot="0">
                <a:off x="1175459" y="2653982"/>
                <a:ext cx="3349669" cy="1796565"/>
                <a:chOff x="1175458" y="2653983"/>
                <a:chExt cx="3349669" cy="1796565"/>
              </a:xfrm>
            </p:grpSpPr>
            <p:sp>
              <p:nvSpPr>
                <p:cNvPr id="72" name="막힌 원호 71"/>
                <p:cNvSpPr/>
                <p:nvPr/>
              </p:nvSpPr>
              <p:spPr>
                <a:xfrm rot="16211268" flipV="1">
                  <a:off x="1540531" y="2593959"/>
                  <a:ext cx="1617738" cy="1768902"/>
                </a:xfrm>
                <a:prstGeom prst="blockArc">
                  <a:avLst>
                    <a:gd name="adj1" fmla="val 10532043"/>
                    <a:gd name="adj2" fmla="val 916630"/>
                    <a:gd name="adj3" fmla="val 24260"/>
                  </a:avLst>
                </a:prstGeom>
                <a:solidFill>
                  <a:schemeClr val="dk1"/>
                </a:solidFill>
                <a:ln w="38100">
                  <a:solidFill>
                    <a:schemeClr val="dk1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lvl="0" algn="ctr">
                    <a:defRPr/>
                  </a:pPr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오각형 51"/>
                <p:cNvSpPr/>
                <p:nvPr/>
              </p:nvSpPr>
              <p:spPr>
                <a:xfrm rot="21230036" flipH="1">
                  <a:off x="1960041" y="2694749"/>
                  <a:ext cx="425654" cy="385476"/>
                </a:xfrm>
                <a:prstGeom prst="chevron">
                  <a:avLst>
                    <a:gd name="adj" fmla="val 50000"/>
                  </a:avLst>
                </a:prstGeom>
                <a:solidFill>
                  <a:srgbClr val="783e94"/>
                </a:solidFill>
                <a:ln w="19050">
                  <a:solidFill>
                    <a:srgbClr val="783e94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lvl="0" algn="ctr">
                    <a:defRPr/>
                  </a:pPr>
                  <a:endParaRPr lang="en-US" altLang="ko-KR"/>
                </a:p>
              </p:txBody>
            </p:sp>
            <p:sp>
              <p:nvSpPr>
                <p:cNvPr id="74" name="막힌 원호 73"/>
                <p:cNvSpPr/>
                <p:nvPr/>
              </p:nvSpPr>
              <p:spPr>
                <a:xfrm rot="16211268" flipV="1">
                  <a:off x="1540531" y="2584433"/>
                  <a:ext cx="1617738" cy="1768902"/>
                </a:xfrm>
                <a:prstGeom prst="blockArc">
                  <a:avLst>
                    <a:gd name="adj1" fmla="val 16876064"/>
                    <a:gd name="adj2" fmla="val 916630"/>
                    <a:gd name="adj3" fmla="val 24260"/>
                  </a:avLst>
                </a:prstGeom>
                <a:solidFill>
                  <a:srgbClr val="783e94"/>
                </a:solidFill>
                <a:ln w="44450">
                  <a:solidFill>
                    <a:srgbClr val="783e94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lvl="0" algn="ctr">
                    <a:defRPr/>
                  </a:pPr>
                  <a:endParaRPr lang="en-US" altLang="ko-KR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가로 글상자 77"/>
                <p:cNvSpPr txBox="1"/>
                <p:nvPr/>
              </p:nvSpPr>
              <p:spPr>
                <a:xfrm>
                  <a:off x="2511323" y="3772810"/>
                  <a:ext cx="760720" cy="2847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pPr lvl="0">
                    <a:defRPr/>
                  </a:pPr>
                  <a:r>
                    <a:rPr lang="ko-KR" altLang="en-US" sz="900">
                      <a:solidFill>
                        <a:schemeClr val="lt1"/>
                      </a:solidFill>
                      <a:latin typeface="맑은 고딕"/>
                      <a:ea typeface="맑은 고딕"/>
                    </a:rPr>
                    <a:t>설계</a:t>
                  </a:r>
                  <a:endParaRPr lang="ko-KR" altLang="en-US" sz="900">
                    <a:solidFill>
                      <a:schemeClr val="lt1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79" name="가로 글상자 78"/>
                <p:cNvSpPr txBox="1"/>
                <p:nvPr/>
              </p:nvSpPr>
              <p:spPr>
                <a:xfrm>
                  <a:off x="2511319" y="2868434"/>
                  <a:ext cx="760721" cy="28601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ko-KR" altLang="en-US" sz="900">
                      <a:solidFill>
                        <a:schemeClr val="lt1"/>
                      </a:solidFill>
                      <a:latin typeface="맑은 고딕"/>
                      <a:ea typeface="맑은 고딕"/>
                    </a:rPr>
                    <a:t>구현</a:t>
                  </a:r>
                  <a:endParaRPr lang="ko-KR" altLang="en-US" sz="900">
                    <a:solidFill>
                      <a:schemeClr val="lt1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83" name="가로 글상자 82"/>
                <p:cNvSpPr txBox="1"/>
                <p:nvPr/>
              </p:nvSpPr>
              <p:spPr>
                <a:xfrm>
                  <a:off x="3387235" y="3908828"/>
                  <a:ext cx="1137886" cy="2877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ko-KR" altLang="en-US" sz="900">
                      <a:solidFill>
                        <a:schemeClr val="lt1"/>
                      </a:solidFill>
                      <a:latin typeface="맑은 고딕"/>
                      <a:ea typeface="맑은 고딕"/>
                    </a:rPr>
                    <a:t>피드백</a:t>
                  </a:r>
                  <a:endParaRPr lang="ko-KR" altLang="en-US" sz="900">
                    <a:solidFill>
                      <a:schemeClr val="lt1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52" name="오각형 51"/>
                <p:cNvSpPr/>
                <p:nvPr/>
              </p:nvSpPr>
              <p:spPr>
                <a:xfrm>
                  <a:off x="2007405" y="3891635"/>
                  <a:ext cx="507950" cy="398537"/>
                </a:xfrm>
                <a:prstGeom prst="chevron">
                  <a:avLst>
                    <a:gd name="adj" fmla="val 50000"/>
                  </a:avLst>
                </a:prstGeom>
                <a:solidFill>
                  <a:schemeClr val="dk1"/>
                </a:solidFill>
                <a:ln w="31750">
                  <a:solidFill>
                    <a:schemeClr val="dk1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lvl="0" algn="ctr">
                    <a:defRPr/>
                  </a:pPr>
                  <a:endParaRPr lang="en-US" altLang="ko-KR"/>
                </a:p>
              </p:txBody>
            </p:sp>
            <p:sp>
              <p:nvSpPr>
                <p:cNvPr id="75" name="막힌 원호 74"/>
                <p:cNvSpPr/>
                <p:nvPr/>
              </p:nvSpPr>
              <p:spPr>
                <a:xfrm rot="5996523" flipV="1">
                  <a:off x="1532077" y="2516455"/>
                  <a:ext cx="1796565" cy="2071621"/>
                </a:xfrm>
                <a:prstGeom prst="blockArc">
                  <a:avLst>
                    <a:gd name="adj1" fmla="val 11594678"/>
                    <a:gd name="adj2" fmla="val 19643754"/>
                    <a:gd name="adj3" fmla="val 23256"/>
                  </a:avLst>
                </a:prstGeom>
                <a:solidFill>
                  <a:srgbClr val="ecd174"/>
                </a:solidFill>
                <a:ln w="31750">
                  <a:solidFill>
                    <a:srgbClr val="ecd174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lvl="0" algn="ctr">
                    <a:defRPr/>
                  </a:pPr>
                  <a:endParaRPr lang="en-US" altLang="ko-KR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가로 글상자 79"/>
                <p:cNvSpPr txBox="1"/>
                <p:nvPr/>
              </p:nvSpPr>
              <p:spPr>
                <a:xfrm>
                  <a:off x="1610493" y="2879072"/>
                  <a:ext cx="760722" cy="28757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ko-KR" altLang="en-US" sz="900">
                      <a:solidFill>
                        <a:schemeClr val="lt1"/>
                      </a:solidFill>
                      <a:latin typeface="맑은 고딕"/>
                      <a:ea typeface="맑은 고딕"/>
                    </a:rPr>
                    <a:t>검증</a:t>
                  </a:r>
                  <a:endParaRPr lang="ko-KR" altLang="en-US" sz="900">
                    <a:solidFill>
                      <a:schemeClr val="lt1"/>
                    </a:solidFill>
                    <a:latin typeface="맑은 고딕"/>
                    <a:ea typeface="맑은 고딕"/>
                  </a:endParaRPr>
                </a:p>
              </p:txBody>
            </p:sp>
            <p:sp>
              <p:nvSpPr>
                <p:cNvPr id="53" name="오각형 52"/>
                <p:cNvSpPr/>
                <p:nvPr/>
              </p:nvSpPr>
              <p:spPr>
                <a:xfrm>
                  <a:off x="1175458" y="3891635"/>
                  <a:ext cx="1085921" cy="398537"/>
                </a:xfrm>
                <a:prstGeom prst="homePlate">
                  <a:avLst>
                    <a:gd name="adj" fmla="val 50000"/>
                  </a:avLst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lvl="0" algn="ctr">
                    <a:defRPr/>
                  </a:pPr>
                  <a:r>
                    <a:rPr lang="ko-KR" altLang="en-US" sz="900">
                      <a:latin typeface="맑은 고딕"/>
                      <a:ea typeface="맑은 고딕"/>
                    </a:rPr>
                    <a:t>요구</a:t>
                  </a:r>
                  <a:endParaRPr lang="ko-KR" altLang="en-US" sz="900">
                    <a:latin typeface="맑은 고딕"/>
                    <a:ea typeface="맑은 고딕"/>
                  </a:endParaRPr>
                </a:p>
              </p:txBody>
            </p:sp>
          </p:grpSp>
        </p:grpSp>
        <p:sp>
          <p:nvSpPr>
            <p:cNvPr id="104" name="가로 글상자 103"/>
            <p:cNvSpPr txBox="1"/>
            <p:nvPr/>
          </p:nvSpPr>
          <p:spPr>
            <a:xfrm>
              <a:off x="654582" y="2859549"/>
              <a:ext cx="1127806" cy="36752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ctr">
                <a:defRPr/>
              </a:pPr>
              <a:r>
                <a:rPr lang="en-US" altLang="ko-KR" sz="900" b="1">
                  <a:latin typeface="맑은 고딕"/>
                  <a:ea typeface="맑은 고딕"/>
                </a:rPr>
                <a:t>1</a:t>
              </a:r>
              <a:r>
                <a:rPr lang="ko-KR" altLang="en-US" sz="900" b="1">
                  <a:latin typeface="맑은 고딕"/>
                  <a:ea typeface="맑은 고딕"/>
                </a:rPr>
                <a:t>차</a:t>
              </a:r>
              <a:endParaRPr lang="ko-KR" altLang="en-US" sz="9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900" b="1">
                  <a:latin typeface="맑은 고딕"/>
                  <a:ea typeface="맑은 고딕"/>
                </a:rPr>
                <a:t>스프린트</a:t>
              </a:r>
              <a:endParaRPr lang="ko-KR" altLang="en-US" sz="900" b="1">
                <a:latin typeface="맑은 고딕"/>
                <a:ea typeface="맑은 고딕"/>
              </a:endParaRPr>
            </a:p>
          </p:txBody>
        </p:sp>
      </p:grpSp>
      <p:grpSp>
        <p:nvGrpSpPr>
          <p:cNvPr id="135" name=""/>
          <p:cNvGrpSpPr/>
          <p:nvPr/>
        </p:nvGrpSpPr>
        <p:grpSpPr>
          <a:xfrm rot="0">
            <a:off x="323849" y="1759605"/>
            <a:ext cx="8673631" cy="1205806"/>
            <a:chOff x="323849" y="1616730"/>
            <a:chExt cx="8673631" cy="1205806"/>
          </a:xfrm>
        </p:grpSpPr>
        <p:sp>
          <p:nvSpPr>
            <p:cNvPr id="134" name="직사각형 133"/>
            <p:cNvSpPr/>
            <p:nvPr/>
          </p:nvSpPr>
          <p:spPr>
            <a:xfrm>
              <a:off x="323849" y="1616730"/>
              <a:ext cx="8673631" cy="1205806"/>
            </a:xfrm>
            <a:prstGeom prst="rect">
              <a:avLst/>
            </a:prstGeom>
            <a:solidFill>
              <a:srgbClr val="faf3db"/>
            </a:solidFill>
            <a:ln>
              <a:solidFill>
                <a:srgbClr val="faf3db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grpSp>
          <p:nvGrpSpPr>
            <p:cNvPr id="130" name=""/>
            <p:cNvGrpSpPr/>
            <p:nvPr/>
          </p:nvGrpSpPr>
          <p:grpSpPr>
            <a:xfrm rot="0">
              <a:off x="414308" y="1701936"/>
              <a:ext cx="8496192" cy="993872"/>
              <a:chOff x="414308" y="1178061"/>
              <a:chExt cx="8496192" cy="993872"/>
            </a:xfrm>
          </p:grpSpPr>
          <p:sp>
            <p:nvSpPr>
              <p:cNvPr id="123" name="갈매기형 수장 122"/>
              <p:cNvSpPr/>
              <p:nvPr/>
            </p:nvSpPr>
            <p:spPr>
              <a:xfrm flipH="1">
                <a:off x="8434535" y="1762884"/>
                <a:ext cx="475965" cy="409049"/>
              </a:xfrm>
              <a:prstGeom prst="chevron">
                <a:avLst>
                  <a:gd name="adj" fmla="val 1562"/>
                </a:avLst>
              </a:prstGeom>
              <a:solidFill>
                <a:srgbClr val="67530e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09" name="갈매기형 수장 108"/>
              <p:cNvSpPr/>
              <p:nvPr/>
            </p:nvSpPr>
            <p:spPr>
              <a:xfrm>
                <a:off x="414308" y="1178061"/>
                <a:ext cx="852176" cy="409049"/>
              </a:xfrm>
              <a:prstGeom prst="chevron">
                <a:avLst>
                  <a:gd name="adj" fmla="val 50000"/>
                </a:avLst>
              </a:prstGeom>
              <a:solidFill>
                <a:srgbClr val="f2f2f2"/>
              </a:solidFill>
              <a:ln>
                <a:solidFill>
                  <a:schemeClr val="accent1">
                    <a:shade val="20000"/>
                  </a:schemeClr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비전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1" name="갈매기형 수장 110"/>
              <p:cNvSpPr/>
              <p:nvPr/>
            </p:nvSpPr>
            <p:spPr>
              <a:xfrm>
                <a:off x="1126926" y="1178061"/>
                <a:ext cx="1060211" cy="409049"/>
              </a:xfrm>
              <a:prstGeom prst="chevron">
                <a:avLst>
                  <a:gd name="adj" fmla="val 50000"/>
                </a:avLst>
              </a:pr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로드맵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2" name="갈매기형 수장 111"/>
              <p:cNvSpPr/>
              <p:nvPr/>
            </p:nvSpPr>
            <p:spPr>
              <a:xfrm>
                <a:off x="2022096" y="1178061"/>
                <a:ext cx="1620063" cy="409049"/>
              </a:xfrm>
              <a:prstGeom prst="chevron">
                <a:avLst>
                  <a:gd name="adj" fmla="val 50000"/>
                </a:avLst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프로덕트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백로그</a:t>
                </a:r>
                <a:r>
                  <a:rPr lang="en-US" altLang="ko-KR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(</a:t>
                </a: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할 일</a:t>
                </a:r>
                <a:r>
                  <a:rPr lang="en-US" altLang="ko-KR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)</a:t>
                </a:r>
                <a:endParaRPr lang="en-US" altLang="ko-KR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3" name="갈매기형 수장 112"/>
              <p:cNvSpPr/>
              <p:nvPr/>
            </p:nvSpPr>
            <p:spPr>
              <a:xfrm>
                <a:off x="3499071" y="1178061"/>
                <a:ext cx="1368079" cy="409049"/>
              </a:xfrm>
              <a:prstGeom prst="chevron">
                <a:avLst>
                  <a:gd name="adj" fmla="val 50000"/>
                </a:avLst>
              </a:prstGeom>
              <a:solidFill>
                <a:srgbClr val="a6a6a6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출시계획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4" name="갈매기형 수장 113"/>
              <p:cNvSpPr/>
              <p:nvPr/>
            </p:nvSpPr>
            <p:spPr>
              <a:xfrm>
                <a:off x="4724633" y="1178061"/>
                <a:ext cx="1368079" cy="409049"/>
              </a:xfrm>
              <a:prstGeom prst="chevron">
                <a:avLst>
                  <a:gd name="adj" fmla="val 50000"/>
                </a:avLst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스프린트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tx1"/>
                    </a:solidFill>
                    <a:latin typeface="맑은 고딕"/>
                    <a:ea typeface="맑은 고딕"/>
                  </a:rPr>
                  <a:t>플래닝</a:t>
                </a:r>
                <a:endParaRPr lang="ko-KR" altLang="en-US" sz="1200">
                  <a:solidFill>
                    <a:schemeClr val="tx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5" name="갈매기형 수장 114"/>
              <p:cNvSpPr/>
              <p:nvPr/>
            </p:nvSpPr>
            <p:spPr>
              <a:xfrm>
                <a:off x="5934429" y="1178061"/>
                <a:ext cx="1368079" cy="409049"/>
              </a:xfrm>
              <a:prstGeom prst="chevron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스프린트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백로그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6" name="갈매기형 수장 115"/>
              <p:cNvSpPr/>
              <p:nvPr/>
            </p:nvSpPr>
            <p:spPr>
              <a:xfrm>
                <a:off x="7177422" y="1178061"/>
                <a:ext cx="1733077" cy="409049"/>
              </a:xfrm>
              <a:prstGeom prst="chevron">
                <a:avLst>
                  <a:gd name="adj" fmla="val 50000"/>
                </a:avLst>
              </a:prstGeom>
              <a:solidFill>
                <a:srgbClr val="292106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스프린트</a:t>
                </a:r>
                <a:r>
                  <a:rPr lang="en-US" altLang="ko-KR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&amp;</a:t>
                </a: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 데일리 스크럼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7" name="갈매기형 수장 116"/>
              <p:cNvSpPr/>
              <p:nvPr/>
            </p:nvSpPr>
            <p:spPr>
              <a:xfrm flipH="1">
                <a:off x="7358973" y="1762884"/>
                <a:ext cx="1365925" cy="409049"/>
              </a:xfrm>
              <a:prstGeom prst="chevron">
                <a:avLst>
                  <a:gd name="adj" fmla="val 50000"/>
                </a:avLst>
              </a:prstGeom>
              <a:solidFill>
                <a:srgbClr val="67530e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결과물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8" name="갈매기형 수장 117"/>
              <p:cNvSpPr/>
              <p:nvPr/>
            </p:nvSpPr>
            <p:spPr>
              <a:xfrm flipH="1">
                <a:off x="6129198" y="1762884"/>
                <a:ext cx="1365925" cy="409049"/>
              </a:xfrm>
              <a:prstGeom prst="chevron">
                <a:avLst>
                  <a:gd name="adj" fmla="val 50000"/>
                </a:avLst>
              </a:prstGeom>
              <a:solidFill>
                <a:srgbClr val="cea61d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리뷰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  <a:p>
                <a:pPr lvl="0" algn="ctr">
                  <a:defRPr/>
                </a:pPr>
                <a:r>
                  <a:rPr lang="en-US" altLang="ko-KR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(</a:t>
                </a: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모두 참여</a:t>
                </a:r>
                <a:r>
                  <a:rPr lang="en-US" altLang="ko-KR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)</a:t>
                </a:r>
                <a:endParaRPr lang="en-US" altLang="ko-KR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19" name="갈매기형 수장 118"/>
              <p:cNvSpPr/>
              <p:nvPr/>
            </p:nvSpPr>
            <p:spPr>
              <a:xfrm flipH="1">
                <a:off x="4895744" y="1762884"/>
                <a:ext cx="1365925" cy="409049"/>
              </a:xfrm>
              <a:prstGeom prst="chevron">
                <a:avLst>
                  <a:gd name="adj" fmla="val 50000"/>
                </a:avLst>
              </a:prstGeom>
              <a:solidFill>
                <a:srgbClr val="ecd174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회고</a:t>
                </a: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  <a:p>
                <a:pPr lvl="0" algn="ctr">
                  <a:defRPr/>
                </a:pP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  </a:t>
                </a:r>
                <a:r>
                  <a:rPr lang="en-US" altLang="ko-KR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(</a:t>
                </a:r>
                <a:r>
                  <a:rPr lang="ko-KR" altLang="en-US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팀원만</a:t>
                </a:r>
                <a:r>
                  <a:rPr lang="en-US" altLang="ko-KR" sz="1200">
                    <a:solidFill>
                      <a:schemeClr val="lt1"/>
                    </a:solidFill>
                    <a:latin typeface="맑은 고딕"/>
                    <a:ea typeface="맑은 고딕"/>
                  </a:rPr>
                  <a:t>)</a:t>
                </a:r>
                <a:endParaRPr lang="en-US" altLang="ko-KR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25" name="직사각형 124"/>
              <p:cNvSpPr/>
              <p:nvPr/>
            </p:nvSpPr>
            <p:spPr>
              <a:xfrm>
                <a:off x="8672518" y="1178061"/>
                <a:ext cx="237982" cy="993871"/>
              </a:xfrm>
              <a:prstGeom prst="rect">
                <a:avLst/>
              </a:prstGeom>
              <a:solidFill>
                <a:srgbClr val="292106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126" name="갈매기형 수장 125"/>
              <p:cNvSpPr/>
              <p:nvPr/>
            </p:nvSpPr>
            <p:spPr>
              <a:xfrm flipH="1">
                <a:off x="8496645" y="1762884"/>
                <a:ext cx="323156" cy="409049"/>
              </a:xfrm>
              <a:prstGeom prst="chevron">
                <a:avLst>
                  <a:gd name="adj" fmla="val 50000"/>
                </a:avLst>
              </a:prstGeom>
              <a:solidFill>
                <a:srgbClr val="292106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 sz="1200">
                  <a:solidFill>
                    <a:schemeClr val="lt1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28" name="오각형 127"/>
              <p:cNvSpPr/>
              <p:nvPr/>
            </p:nvSpPr>
            <p:spPr>
              <a:xfrm rot="16200000">
                <a:off x="4827708" y="1635536"/>
                <a:ext cx="550640" cy="496935"/>
              </a:xfrm>
              <a:prstGeom prst="homePlate">
                <a:avLst>
                  <a:gd name="adj" fmla="val 50000"/>
                </a:avLst>
              </a:prstGeom>
              <a:solidFill>
                <a:srgbClr val="ecd174"/>
              </a:solidFill>
              <a:ln>
                <a:solidFill>
                  <a:srgbClr val="ecd174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endParaRPr lang="ko-KR" altLang="en-US"/>
              </a:p>
            </p:txBody>
          </p:sp>
        </p:grpSp>
      </p:grpSp>
      <p:grpSp>
        <p:nvGrpSpPr>
          <p:cNvPr id="155" name=""/>
          <p:cNvGrpSpPr/>
          <p:nvPr/>
        </p:nvGrpSpPr>
        <p:grpSpPr>
          <a:xfrm rot="0">
            <a:off x="408465" y="3369396"/>
            <a:ext cx="8473160" cy="1571917"/>
            <a:chOff x="408465" y="3369396"/>
            <a:chExt cx="8473160" cy="1571917"/>
          </a:xfrm>
        </p:grpSpPr>
        <p:sp>
          <p:nvSpPr>
            <p:cNvPr id="145" name="모서리가 둥근 직사각형 144"/>
            <p:cNvSpPr/>
            <p:nvPr/>
          </p:nvSpPr>
          <p:spPr>
            <a:xfrm>
              <a:off x="408465" y="3369396"/>
              <a:ext cx="8473160" cy="1571917"/>
            </a:xfrm>
            <a:prstGeom prst="roundRect">
              <a:avLst>
                <a:gd name="adj" fmla="val 9896"/>
              </a:avLst>
            </a:prstGeom>
            <a:solidFill>
              <a:srgbClr val="faf3db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grpSp>
          <p:nvGrpSpPr>
            <p:cNvPr id="138" name=""/>
            <p:cNvGrpSpPr/>
            <p:nvPr/>
          </p:nvGrpSpPr>
          <p:grpSpPr>
            <a:xfrm rot="0">
              <a:off x="1587169" y="3451206"/>
              <a:ext cx="899908" cy="1163335"/>
              <a:chOff x="2377744" y="3451206"/>
              <a:chExt cx="899908" cy="1163335"/>
            </a:xfrm>
          </p:grpSpPr>
          <p:sp>
            <p:nvSpPr>
              <p:cNvPr id="136" name="타원 135"/>
              <p:cNvSpPr/>
              <p:nvPr/>
            </p:nvSpPr>
            <p:spPr>
              <a:xfrm>
                <a:off x="2506302" y="3451206"/>
                <a:ext cx="631104" cy="590199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137" name="타원 136"/>
              <p:cNvSpPr/>
              <p:nvPr/>
            </p:nvSpPr>
            <p:spPr>
              <a:xfrm>
                <a:off x="2377744" y="3942532"/>
                <a:ext cx="899908" cy="67200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</p:grpSp>
        <p:sp>
          <p:nvSpPr>
            <p:cNvPr id="140" name="타원 135"/>
            <p:cNvSpPr/>
            <p:nvPr/>
          </p:nvSpPr>
          <p:spPr>
            <a:xfrm>
              <a:off x="3755596" y="3451206"/>
              <a:ext cx="631104" cy="590199"/>
            </a:xfrm>
            <a:prstGeom prst="ellipse">
              <a:avLst/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46" name="모서리가 둥근 직사각형 145"/>
            <p:cNvSpPr/>
            <p:nvPr/>
          </p:nvSpPr>
          <p:spPr>
            <a:xfrm>
              <a:off x="560865" y="3556390"/>
              <a:ext cx="397362" cy="1157025"/>
            </a:xfrm>
            <a:prstGeom prst="roundRect">
              <a:avLst>
                <a:gd name="adj" fmla="val 9896"/>
              </a:avLst>
            </a:prstGeom>
            <a:solidFill>
              <a:srgbClr val="67530e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47" name="세로 글상자 146"/>
            <p:cNvSpPr txBox="1"/>
            <p:nvPr/>
          </p:nvSpPr>
          <p:spPr>
            <a:xfrm>
              <a:off x="546735" y="3651640"/>
              <a:ext cx="426101" cy="1157025"/>
            </a:xfrm>
            <a:prstGeom prst="rect">
              <a:avLst/>
            </a:prstGeom>
          </p:spPr>
          <p:txBody>
            <a:bodyPr vert="eaVert" wrap="square">
              <a:spAutoFit/>
            </a:bodyPr>
            <a:p>
              <a:pPr lvl="0">
                <a:defRPr/>
              </a:pPr>
              <a:r>
                <a:rPr lang="ko-KR" altLang="en-US" sz="1500" b="1">
                  <a:solidFill>
                    <a:srgbClr val="faf3db"/>
                  </a:solidFill>
                  <a:latin typeface="맑은 고딕"/>
                  <a:ea typeface="맑은 고딕"/>
                </a:rPr>
                <a:t>스크럼 팀</a:t>
              </a:r>
              <a:endParaRPr lang="ko-KR" altLang="en-US" sz="1500" b="1">
                <a:solidFill>
                  <a:srgbClr val="faf3db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0" name="직사각형 149"/>
            <p:cNvSpPr/>
            <p:nvPr/>
          </p:nvSpPr>
          <p:spPr>
            <a:xfrm>
              <a:off x="4386701" y="3556390"/>
              <a:ext cx="1717539" cy="8128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en-US" altLang="ko-KR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 개발</a:t>
              </a:r>
              <a:r>
                <a:rPr lang="en-US" altLang="ko-KR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우선순위 관리</a:t>
              </a:r>
              <a:endParaRPr lang="ko-KR" altLang="en-US" sz="1000" b="1">
                <a:solidFill>
                  <a:schemeClr val="dk1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r>
                <a:rPr lang="en-US" altLang="ko-KR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 백로그 관리</a:t>
              </a:r>
              <a:endParaRPr lang="ko-KR" altLang="en-US" sz="1000" b="1">
                <a:solidFill>
                  <a:schemeClr val="dk1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r>
                <a:rPr lang="en-US" altLang="ko-KR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 실무에서는 </a:t>
              </a:r>
              <a:r>
                <a:rPr lang="en-US" altLang="ko-KR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PM</a:t>
              </a:r>
              <a:r>
                <a:rPr lang="ko-KR" altLang="en-US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의 역할도     </a:t>
              </a:r>
              <a:endParaRPr lang="ko-KR" altLang="en-US" sz="1000" b="1">
                <a:solidFill>
                  <a:schemeClr val="dk1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r>
                <a:rPr lang="ko-KR" altLang="en-US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  같이 함</a:t>
              </a:r>
              <a:r>
                <a:rPr lang="ko-KR" altLang="en-US" sz="1200" b="1">
                  <a:solidFill>
                    <a:schemeClr val="dk1"/>
                  </a:solidFill>
                  <a:latin typeface="맑은 고딕"/>
                  <a:ea typeface="맑은 고딕"/>
                </a:rPr>
                <a:t> </a:t>
              </a:r>
              <a:endParaRPr lang="ko-KR" altLang="en-US" sz="1200" b="1">
                <a:solidFill>
                  <a:schemeClr val="dk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9" name="직사각형 148"/>
            <p:cNvSpPr/>
            <p:nvPr/>
          </p:nvSpPr>
          <p:spPr>
            <a:xfrm>
              <a:off x="1331513" y="4427080"/>
              <a:ext cx="1449202" cy="38158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ko-KR" altLang="en-US" sz="1200" b="1">
                  <a:solidFill>
                    <a:schemeClr val="dk1"/>
                  </a:solidFill>
                  <a:latin typeface="맑은 고딕"/>
                  <a:ea typeface="맑은 고딕"/>
                </a:rPr>
                <a:t>제품 개발팀</a:t>
              </a:r>
              <a:endParaRPr lang="ko-KR" altLang="en-US" sz="1200" b="1">
                <a:solidFill>
                  <a:schemeClr val="dk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1" name="타원 136"/>
            <p:cNvSpPr/>
            <p:nvPr/>
          </p:nvSpPr>
          <p:spPr>
            <a:xfrm>
              <a:off x="3621195" y="3942532"/>
              <a:ext cx="899908" cy="672008"/>
            </a:xfrm>
            <a:prstGeom prst="ellipse">
              <a:avLst/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52" name="직사각형 151"/>
            <p:cNvSpPr/>
            <p:nvPr/>
          </p:nvSpPr>
          <p:spPr>
            <a:xfrm>
              <a:off x="3346547" y="4427080"/>
              <a:ext cx="1449202" cy="38158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200" b="1">
                  <a:solidFill>
                    <a:schemeClr val="dk1"/>
                  </a:solidFill>
                  <a:latin typeface="맑은 고딕"/>
                  <a:ea typeface="맑은 고딕"/>
                </a:rPr>
                <a:t>제품 책임자</a:t>
              </a:r>
              <a:endParaRPr lang="ko-KR" altLang="en-US" sz="1200" b="1">
                <a:solidFill>
                  <a:schemeClr val="dk1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en-US" altLang="ko-KR" sz="1200" b="1">
                  <a:solidFill>
                    <a:schemeClr val="dk1"/>
                  </a:solidFill>
                  <a:latin typeface="맑은 고딕"/>
                  <a:ea typeface="맑은 고딕"/>
                </a:rPr>
                <a:t>(Product Owner)</a:t>
              </a:r>
              <a:endParaRPr lang="en-US" altLang="ko-KR" sz="1200" b="1">
                <a:solidFill>
                  <a:schemeClr val="dk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3" name="직사각형 152"/>
            <p:cNvSpPr/>
            <p:nvPr/>
          </p:nvSpPr>
          <p:spPr>
            <a:xfrm>
              <a:off x="7280956" y="3556390"/>
              <a:ext cx="1355239" cy="8128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>
                <a:defRPr/>
              </a:pPr>
              <a:r>
                <a:rPr lang="ko-KR" altLang="en-US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스크럼 팀 관리자</a:t>
              </a:r>
              <a:r>
                <a:rPr lang="en-US" altLang="ko-KR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,</a:t>
              </a:r>
              <a:r>
                <a:rPr lang="ko-KR" altLang="en-US" sz="1000" b="1">
                  <a:solidFill>
                    <a:schemeClr val="dk1"/>
                  </a:solidFill>
                  <a:latin typeface="맑은 고딕"/>
                  <a:ea typeface="맑은 고딕"/>
                </a:rPr>
                <a:t> 프로젝트의 원활한 진행을 위한 관리</a:t>
              </a:r>
              <a:endParaRPr lang="ko-KR" altLang="en-US" sz="1000" b="1">
                <a:solidFill>
                  <a:schemeClr val="dk1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142" name="그룹 141"/>
            <p:cNvGrpSpPr/>
            <p:nvPr/>
          </p:nvGrpSpPr>
          <p:grpSpPr>
            <a:xfrm rot="0">
              <a:off x="6490850" y="3428767"/>
              <a:ext cx="899908" cy="1163335"/>
              <a:chOff x="2377744" y="3451206"/>
              <a:chExt cx="899908" cy="1163335"/>
            </a:xfrm>
            <a:solidFill>
              <a:srgbClr val="3057b9"/>
            </a:solidFill>
          </p:grpSpPr>
          <p:sp>
            <p:nvSpPr>
              <p:cNvPr id="143" name="타원 135"/>
              <p:cNvSpPr/>
              <p:nvPr/>
            </p:nvSpPr>
            <p:spPr>
              <a:xfrm>
                <a:off x="2506302" y="3451206"/>
                <a:ext cx="631104" cy="5901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  <p:sp>
            <p:nvSpPr>
              <p:cNvPr id="144" name="타원 136"/>
              <p:cNvSpPr/>
              <p:nvPr/>
            </p:nvSpPr>
            <p:spPr>
              <a:xfrm>
                <a:off x="2377744" y="3942532"/>
                <a:ext cx="899908" cy="6720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lvl="0" algn="ctr">
                  <a:defRPr/>
                </a:pPr>
                <a:endParaRPr lang="ko-KR" altLang="en-US"/>
              </a:p>
            </p:txBody>
          </p:sp>
        </p:grpSp>
        <p:sp>
          <p:nvSpPr>
            <p:cNvPr id="151" name="직사각형 150"/>
            <p:cNvSpPr/>
            <p:nvPr/>
          </p:nvSpPr>
          <p:spPr>
            <a:xfrm>
              <a:off x="6300350" y="4423748"/>
              <a:ext cx="1449202" cy="38158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200" b="1">
                  <a:solidFill>
                    <a:schemeClr val="dk1"/>
                  </a:solidFill>
                  <a:latin typeface="맑은 고딕"/>
                  <a:ea typeface="맑은 고딕"/>
                </a:rPr>
                <a:t>스크럼 마스터</a:t>
              </a:r>
              <a:endParaRPr lang="ko-KR" altLang="en-US" sz="1200" b="1">
                <a:solidFill>
                  <a:schemeClr val="dk1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en-US" altLang="ko-KR" sz="1200" b="1">
                  <a:solidFill>
                    <a:schemeClr val="dk1"/>
                  </a:solidFill>
                  <a:latin typeface="맑은 고딕"/>
                  <a:ea typeface="맑은 고딕"/>
                </a:rPr>
                <a:t>(Scrum Master))</a:t>
              </a:r>
              <a:endParaRPr lang="en-US" altLang="ko-KR" sz="1200" b="1">
                <a:solidFill>
                  <a:schemeClr val="dk1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54" name="설명선 2 153"/>
          <p:cNvSpPr/>
          <p:nvPr/>
        </p:nvSpPr>
        <p:spPr>
          <a:xfrm>
            <a:off x="4684255" y="3048000"/>
            <a:ext cx="1419984" cy="257116"/>
          </a:xfrm>
          <a:prstGeom prst="borderCallout2">
            <a:avLst>
              <a:gd name="adj1" fmla="val 22845"/>
              <a:gd name="adj2" fmla="val -3212"/>
              <a:gd name="adj3" fmla="val 18750"/>
              <a:gd name="adj4" fmla="val -16667"/>
              <a:gd name="adj5" fmla="val 153457"/>
              <a:gd name="adj6" fmla="val -40522"/>
            </a:avLst>
          </a:prstGeom>
          <a:solidFill>
            <a:srgbClr val="cea61d"/>
          </a:solidFill>
          <a:ln>
            <a:solidFill>
              <a:srgbClr val="ecd174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 sz="1000" b="1">
                <a:solidFill>
                  <a:srgbClr val="ff0000"/>
                </a:solidFill>
                <a:latin typeface="맑은 고딕"/>
                <a:ea typeface="맑은 고딕"/>
                <a:hlinkClick r:id="rId3"/>
              </a:rPr>
              <a:t>2024</a:t>
            </a:r>
            <a:r>
              <a:rPr lang="ko-KR" altLang="en-US" sz="1000" b="1">
                <a:solidFill>
                  <a:srgbClr val="ff0000"/>
                </a:solidFill>
                <a:latin typeface="맑은 고딕"/>
                <a:ea typeface="맑은 고딕"/>
                <a:hlinkClick r:id="rId3"/>
              </a:rPr>
              <a:t> </a:t>
            </a:r>
            <a:r>
              <a:rPr lang="en-US" altLang="ko-KR" sz="1000" b="1">
                <a:solidFill>
                  <a:srgbClr val="ff0000"/>
                </a:solidFill>
                <a:latin typeface="맑은 고딕"/>
                <a:ea typeface="맑은 고딕"/>
                <a:hlinkClick r:id="rId3"/>
              </a:rPr>
              <a:t>Finda</a:t>
            </a:r>
            <a:r>
              <a:rPr lang="ko-KR" altLang="en-US" sz="1000" b="1">
                <a:solidFill>
                  <a:srgbClr val="ff0000"/>
                </a:solidFill>
                <a:latin typeface="맑은 고딕"/>
                <a:ea typeface="맑은 고딕"/>
                <a:hlinkClick r:id="rId3"/>
              </a:rPr>
              <a:t> </a:t>
            </a:r>
            <a:r>
              <a:rPr lang="en-US" altLang="ko-KR" sz="1000" b="1">
                <a:solidFill>
                  <a:srgbClr val="ff0000"/>
                </a:solidFill>
                <a:latin typeface="맑은 고딕"/>
                <a:ea typeface="맑은 고딕"/>
                <a:hlinkClick r:id="rId3"/>
              </a:rPr>
              <a:t>po</a:t>
            </a:r>
            <a:r>
              <a:rPr lang="ko-KR" altLang="en-US" sz="1000" b="1">
                <a:solidFill>
                  <a:srgbClr val="ff0000"/>
                </a:solidFill>
                <a:latin typeface="맑은 고딕"/>
                <a:ea typeface="맑은 고딕"/>
                <a:hlinkClick r:id="rId3"/>
              </a:rPr>
              <a:t> 공고</a:t>
            </a:r>
            <a:endParaRPr lang="ko-KR" altLang="en-US" sz="1000" b="1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807836040"/>
      </p:ext>
    </p:extLst>
  </p:cSld>
  <p:clrMapOvr>
    <a:masterClrMapping/>
  </p:clrMapOvr>
</p:sld>
</file>

<file path=ppt/slides/slide7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"/>
          <p:cNvGrpSpPr/>
          <p:nvPr/>
        </p:nvGrpSpPr>
        <p:grpSpPr>
          <a:xfrm rot="0">
            <a:off x="1892728" y="406712"/>
            <a:ext cx="5615659" cy="4401232"/>
            <a:chOff x="1892728" y="406711"/>
            <a:chExt cx="5615659" cy="4401232"/>
          </a:xfrm>
        </p:grpSpPr>
        <p:pic>
          <p:nvPicPr>
            <p:cNvPr id="156" name="그림 15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203742" y="514783"/>
              <a:ext cx="4736515" cy="4293160"/>
            </a:xfrm>
            <a:prstGeom prst="rect">
              <a:avLst/>
            </a:prstGeom>
          </p:spPr>
        </p:pic>
        <p:sp>
          <p:nvSpPr>
            <p:cNvPr id="157" name="모서리가 둥근 직사각형 156"/>
            <p:cNvSpPr/>
            <p:nvPr/>
          </p:nvSpPr>
          <p:spPr>
            <a:xfrm>
              <a:off x="1892728" y="406711"/>
              <a:ext cx="5615659" cy="1484263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3233359"/>
      </p:ext>
    </p:extLst>
  </p:cSld>
  <p:clrMapOvr>
    <a:masterClrMapping/>
  </p:clrMapOvr>
</p:sld>
</file>

<file path=ppt/slides/slide7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"/>
          <p:cNvGrpSpPr/>
          <p:nvPr/>
        </p:nvGrpSpPr>
        <p:grpSpPr>
          <a:xfrm rot="0">
            <a:off x="2199219" y="241074"/>
            <a:ext cx="4990992" cy="4902426"/>
            <a:chOff x="2199219" y="241074"/>
            <a:chExt cx="4990992" cy="4902426"/>
          </a:xfrm>
        </p:grpSpPr>
        <p:pic>
          <p:nvPicPr>
            <p:cNvPr id="158" name="그림 157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199219" y="241074"/>
              <a:ext cx="4990991" cy="4902426"/>
            </a:xfrm>
            <a:prstGeom prst="rect">
              <a:avLst/>
            </a:prstGeom>
          </p:spPr>
        </p:pic>
        <p:sp>
          <p:nvSpPr>
            <p:cNvPr id="159" name="모서리가 둥근 직사각형 158"/>
            <p:cNvSpPr/>
            <p:nvPr/>
          </p:nvSpPr>
          <p:spPr>
            <a:xfrm>
              <a:off x="3610735" y="2329242"/>
              <a:ext cx="3085398" cy="876533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ff66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1752206"/>
      </p:ext>
    </p:extLst>
  </p:cSld>
  <p:clrMapOvr>
    <a:masterClrMapping/>
  </p:clrMapOvr>
</p:sld>
</file>

<file path=ppt/slides/slide7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78576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6</a:t>
            </a:r>
            <a:r>
              <a:rPr lang="ko-KR" altLang="en-US" sz="2800" b="1">
                <a:latin typeface="맑은 고딕"/>
                <a:ea typeface="맑은 고딕"/>
              </a:rPr>
              <a:t>. 워터폴 vs 애자일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333375" y="1426346"/>
          <a:ext cx="8395004" cy="291188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4059555"/>
                <a:gridCol w="4335449"/>
              </a:tblGrid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accent6"/>
                          </a:solidFill>
                          <a:latin typeface="맑은 고딕"/>
                          <a:ea typeface="맑은 고딕"/>
                        </a:rPr>
                        <a:t>애자일</a:t>
                      </a:r>
                      <a:endParaRPr lang="ko-KR" altLang="en-US" sz="1600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d3d3eb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600">
                          <a:solidFill>
                            <a:schemeClr val="accent6"/>
                          </a:solidFill>
                          <a:latin typeface="맑은 고딕"/>
                          <a:ea typeface="맑은 고딕"/>
                        </a:rPr>
                        <a:t>스크럼</a:t>
                      </a:r>
                      <a:endParaRPr lang="ko-KR" altLang="en-US" sz="1600">
                        <a:solidFill>
                          <a:schemeClr val="accent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dfe6f7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개발 방법론 중 하나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d3d3eb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애자일 개발 방법론 중 하나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dfe6f7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반복 주기가 유동적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d3d3eb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스프린트로 고정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dfe6f7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역할이 비교적 유동적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d3d3eb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스크럼 마스터</a:t>
                      </a:r>
                      <a:r>
                        <a:rPr lang="en-US" altLang="ko-KR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제품 책임자</a:t>
                      </a:r>
                      <a:r>
                        <a:rPr lang="en-US" altLang="ko-KR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10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개발팀의 명확한 역할</a:t>
                      </a:r>
                      <a:endParaRPr lang="ko-KR" altLang="en-US" sz="110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dfe6f7"/>
                    </a:solidFill>
                  </a:tcPr>
                </a:tc>
              </a:tr>
              <a:tr h="58237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반복적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점진적 방식이며 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소프트웨어 개발뿐 아닌 다양한 프로젝트에 적용 가능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d3d3eb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반복적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스프린트 기반의 구조화 방식이며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소프트웨어 개발에 주로 적용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solidFill>
                      <a:srgbClr val="dfe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326703"/>
      </p:ext>
    </p:extLst>
  </p:cSld>
  <p:clrMapOvr>
    <a:masterClrMapping/>
  </p:clrMapOvr>
</p:sld>
</file>

<file path=ppt/slides/slide7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78576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6</a:t>
            </a:r>
            <a:r>
              <a:rPr lang="ko-KR" altLang="en-US" sz="2800" b="1">
                <a:latin typeface="맑은 고딕"/>
                <a:ea typeface="맑은 고딕"/>
              </a:rPr>
              <a:t>. 칸반</a:t>
            </a:r>
            <a:r>
              <a:rPr lang="en-US" altLang="ko-KR" sz="2600" b="1">
                <a:latin typeface="맑은 고딕"/>
                <a:ea typeface="맑은 고딕"/>
              </a:rPr>
              <a:t>(</a:t>
            </a:r>
            <a:r>
              <a:rPr lang="ko-KR" altLang="en-US" sz="2600" b="1">
                <a:latin typeface="맑은 고딕"/>
                <a:ea typeface="맑은 고딕"/>
              </a:rPr>
              <a:t>애자일의 할 일 관리 기법</a:t>
            </a:r>
            <a:r>
              <a:rPr lang="en-US" altLang="ko-KR" sz="2600" b="1">
                <a:latin typeface="맑은 고딕"/>
                <a:ea typeface="맑은 고딕"/>
              </a:rPr>
              <a:t>)</a:t>
            </a:r>
            <a:endParaRPr lang="en-US" altLang="ko-KR" sz="2600" b="1">
              <a:latin typeface="맑은 고딕"/>
              <a:ea typeface="맑은 고딕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323849" y="1065859"/>
            <a:ext cx="8592837" cy="573843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1400">
                <a:latin typeface="맑은 고딕"/>
                <a:ea typeface="맑은 고딕"/>
              </a:rPr>
              <a:t>워크 플로우</a:t>
            </a:r>
            <a:r>
              <a:rPr lang="en-US" altLang="ko-KR" sz="1400">
                <a:latin typeface="맑은 고딕"/>
                <a:ea typeface="맑은 고딕"/>
              </a:rPr>
              <a:t>(</a:t>
            </a:r>
            <a:r>
              <a:rPr lang="ko-KR" altLang="en-US" sz="1400">
                <a:latin typeface="맑은 고딕"/>
                <a:ea typeface="맑은 고딕"/>
              </a:rPr>
              <a:t>업무 흐름</a:t>
            </a:r>
            <a:r>
              <a:rPr lang="en-US" altLang="ko-KR" sz="1400">
                <a:latin typeface="맑은 고딕"/>
                <a:ea typeface="맑은 고딕"/>
              </a:rPr>
              <a:t>)</a:t>
            </a:r>
            <a:r>
              <a:rPr lang="ko-KR" altLang="en-US" sz="1400">
                <a:latin typeface="맑은 고딕"/>
                <a:ea typeface="맑은 고딕"/>
              </a:rPr>
              <a:t>를 한 눈에 볼 수 있게 만든 </a:t>
            </a:r>
            <a:r>
              <a:rPr lang="ko-KR" altLang="en-US" sz="1400" b="1">
                <a:solidFill>
                  <a:srgbClr val="ffd700"/>
                </a:solidFill>
                <a:latin typeface="맑은 고딕"/>
                <a:ea typeface="맑은 고딕"/>
              </a:rPr>
              <a:t>업무 시각화 도구</a:t>
            </a:r>
            <a:endParaRPr lang="ko-KR" altLang="en-US" sz="1400" b="1">
              <a:solidFill>
                <a:srgbClr val="ffd7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ko-KR" altLang="en-US" sz="1400">
                <a:latin typeface="맑은 고딕"/>
                <a:ea typeface="맑은 고딕"/>
              </a:rPr>
              <a:t>투명한 업무 처리</a:t>
            </a:r>
            <a:r>
              <a:rPr lang="en-US" altLang="ko-KR" sz="1400">
                <a:latin typeface="맑은 고딕"/>
                <a:ea typeface="맑은 고딕"/>
              </a:rPr>
              <a:t>,</a:t>
            </a:r>
            <a:r>
              <a:rPr lang="ko-KR" altLang="en-US" sz="1400">
                <a:latin typeface="맑은 고딕"/>
                <a:ea typeface="맑은 고딕"/>
              </a:rPr>
              <a:t> 시속한 문제 해결을 통해 </a:t>
            </a:r>
            <a:r>
              <a:rPr lang="ko-KR" altLang="en-US" sz="1400" b="1">
                <a:solidFill>
                  <a:srgbClr val="ffceb0"/>
                </a:solidFill>
                <a:latin typeface="맑은 고딕"/>
                <a:ea typeface="맑은 고딕"/>
              </a:rPr>
              <a:t>프로젝트 지연을 예방</a:t>
            </a:r>
            <a:endParaRPr lang="ko-KR" altLang="en-US" sz="1400" b="1">
              <a:solidFill>
                <a:srgbClr val="ffceb0"/>
              </a:solidFill>
              <a:latin typeface="맑은 고딕"/>
              <a:ea typeface="맑은 고딕"/>
            </a:endParaRPr>
          </a:p>
        </p:txBody>
      </p:sp>
      <p:grpSp>
        <p:nvGrpSpPr>
          <p:cNvPr id="31" name=""/>
          <p:cNvGrpSpPr/>
          <p:nvPr/>
        </p:nvGrpSpPr>
        <p:grpSpPr>
          <a:xfrm rot="0">
            <a:off x="589614" y="2043960"/>
            <a:ext cx="3728191" cy="2492745"/>
            <a:chOff x="589614" y="2177309"/>
            <a:chExt cx="3728191" cy="2492745"/>
          </a:xfrm>
        </p:grpSpPr>
        <p:cxnSp>
          <p:nvCxnSpPr>
            <p:cNvPr id="5" name="선 4"/>
            <p:cNvCxnSpPr/>
            <p:nvPr/>
          </p:nvCxnSpPr>
          <p:spPr>
            <a:xfrm>
              <a:off x="589615" y="2571750"/>
              <a:ext cx="3728190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선 5"/>
            <p:cNvCxnSpPr/>
            <p:nvPr/>
          </p:nvCxnSpPr>
          <p:spPr>
            <a:xfrm>
              <a:off x="589614" y="4670055"/>
              <a:ext cx="3728190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선 9"/>
            <p:cNvCxnSpPr/>
            <p:nvPr/>
          </p:nvCxnSpPr>
          <p:spPr>
            <a:xfrm rot="16200000">
              <a:off x="62000" y="3423682"/>
              <a:ext cx="2492745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선 10"/>
            <p:cNvCxnSpPr/>
            <p:nvPr/>
          </p:nvCxnSpPr>
          <p:spPr>
            <a:xfrm rot="16200000">
              <a:off x="2528449" y="3423682"/>
              <a:ext cx="2492745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선 11"/>
            <p:cNvCxnSpPr/>
            <p:nvPr/>
          </p:nvCxnSpPr>
          <p:spPr>
            <a:xfrm>
              <a:off x="1308373" y="3039702"/>
              <a:ext cx="2466449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선 12"/>
            <p:cNvCxnSpPr/>
            <p:nvPr/>
          </p:nvCxnSpPr>
          <p:spPr>
            <a:xfrm rot="16200000">
              <a:off x="966758" y="3620902"/>
              <a:ext cx="2098305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선 13"/>
            <p:cNvCxnSpPr/>
            <p:nvPr/>
          </p:nvCxnSpPr>
          <p:spPr>
            <a:xfrm rot="16200000">
              <a:off x="1902195" y="3620902"/>
              <a:ext cx="2098305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선 14"/>
            <p:cNvCxnSpPr/>
            <p:nvPr/>
          </p:nvCxnSpPr>
          <p:spPr>
            <a:xfrm>
              <a:off x="589614" y="2177310"/>
              <a:ext cx="3728190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선 15"/>
            <p:cNvCxnSpPr/>
            <p:nvPr/>
          </p:nvCxnSpPr>
          <p:spPr>
            <a:xfrm rot="16200000">
              <a:off x="-656757" y="3423682"/>
              <a:ext cx="2492745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선 16"/>
            <p:cNvCxnSpPr/>
            <p:nvPr/>
          </p:nvCxnSpPr>
          <p:spPr>
            <a:xfrm rot="16200000">
              <a:off x="3071432" y="3423682"/>
              <a:ext cx="2492745" cy="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가로 글상자 17"/>
            <p:cNvSpPr txBox="1"/>
            <p:nvPr/>
          </p:nvSpPr>
          <p:spPr>
            <a:xfrm>
              <a:off x="589614" y="2253276"/>
              <a:ext cx="3728191" cy="268944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200" b="1">
                  <a:latin typeface="맑은 고딕"/>
                  <a:ea typeface="맑은 고딕"/>
                </a:rPr>
                <a:t> 백로그                     진행중                     완료</a:t>
              </a:r>
              <a:endParaRPr lang="ko-KR" altLang="en-US" sz="1200" b="1">
                <a:latin typeface="맑은 고딕"/>
                <a:ea typeface="맑은 고딕"/>
              </a:endParaRPr>
            </a:p>
          </p:txBody>
        </p:sp>
        <p:sp>
          <p:nvSpPr>
            <p:cNvPr id="19" name="가로 글상자 18"/>
            <p:cNvSpPr txBox="1"/>
            <p:nvPr/>
          </p:nvSpPr>
          <p:spPr>
            <a:xfrm>
              <a:off x="1436930" y="2674479"/>
              <a:ext cx="2238083" cy="2689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200" b="1">
                  <a:latin typeface="맑은 고딕"/>
                  <a:ea typeface="맑은 고딕"/>
                </a:rPr>
                <a:t>대기         구현           리뷰</a:t>
              </a:r>
              <a:endParaRPr lang="ko-KR" altLang="en-US" sz="1200" b="1">
                <a:latin typeface="맑은 고딕"/>
                <a:ea typeface="맑은 고딕"/>
              </a:endParaRPr>
            </a:p>
          </p:txBody>
        </p:sp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073307" y="3211414"/>
              <a:ext cx="849466" cy="649045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112865" y="3211414"/>
              <a:ext cx="443439" cy="409488"/>
            </a:xfrm>
            <a:prstGeom prst="rect">
              <a:avLst/>
            </a:prstGeom>
          </p:spPr>
        </p:pic>
        <p:pic>
          <p:nvPicPr>
            <p:cNvPr id="22" name="그림 21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664997" y="2674479"/>
              <a:ext cx="561889" cy="433708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715000" y="3238220"/>
              <a:ext cx="511886" cy="465497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3793837" y="2766084"/>
              <a:ext cx="495393" cy="438113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3857566" y="3335783"/>
              <a:ext cx="367934" cy="367934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8"/>
            <a:stretch>
              <a:fillRect/>
            </a:stretch>
          </p:blipFill>
          <p:spPr>
            <a:xfrm>
              <a:off x="761832" y="3730523"/>
              <a:ext cx="418223" cy="418877"/>
            </a:xfrm>
            <a:prstGeom prst="rect">
              <a:avLst/>
            </a:prstGeom>
          </p:spPr>
        </p:pic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9"/>
            <a:stretch>
              <a:fillRect/>
            </a:stretch>
          </p:blipFill>
          <p:spPr>
            <a:xfrm>
              <a:off x="1436930" y="3159641"/>
              <a:ext cx="567993" cy="376295"/>
            </a:xfrm>
            <a:prstGeom prst="rect">
              <a:avLst/>
            </a:prstGeom>
          </p:spPr>
        </p:pic>
      </p:grpSp>
      <p:sp>
        <p:nvSpPr>
          <p:cNvPr id="30" name="가로 글상자 29"/>
          <p:cNvSpPr txBox="1"/>
          <p:nvPr/>
        </p:nvSpPr>
        <p:spPr>
          <a:xfrm>
            <a:off x="4572000" y="2005860"/>
            <a:ext cx="4146005" cy="29261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500" b="1">
                <a:solidFill>
                  <a:srgbClr val="000000"/>
                </a:solidFill>
                <a:latin typeface="맑은 고딕"/>
                <a:ea typeface="맑은 고딕"/>
              </a:rPr>
              <a:t>칸반 보드 운영 방법</a:t>
            </a:r>
            <a:endParaRPr lang="ko-KR" altLang="en-US" sz="15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 sz="15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360" lvl="0" indent="-171360">
              <a:buFont typeface="Wingdings"/>
              <a:buChar char="§"/>
              <a:defRPr/>
            </a:pP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해야 할 일을 포스트잇 형태로 작성</a:t>
            </a:r>
            <a:endParaRPr lang="ko-KR" altLang="en-US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360" lvl="0" indent="-171360">
              <a:buFont typeface="Wingdings"/>
              <a:buChar char="§"/>
              <a:defRPr/>
            </a:pPr>
            <a:endParaRPr lang="ko-KR" altLang="en-US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360" lvl="0" indent="-171360">
              <a:buFont typeface="Wingdings"/>
              <a:buChar char="§"/>
              <a:defRPr/>
            </a:pP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진행 상태에 맞게 옮겨가며 </a:t>
            </a:r>
            <a:r>
              <a:rPr lang="ko-KR" altLang="en-US" sz="1200">
                <a:solidFill>
                  <a:srgbClr val="ff0000"/>
                </a:solidFill>
                <a:latin typeface="맑은 고딕"/>
                <a:ea typeface="맑은 고딕"/>
              </a:rPr>
              <a:t>팀 전체 업무를 함께 확인</a:t>
            </a:r>
            <a:endParaRPr lang="ko-KR" altLang="en-US" sz="12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360" lvl="0" indent="-171360">
              <a:buFont typeface="Wingdings"/>
              <a:buChar char="§"/>
              <a:defRPr/>
            </a:pP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우선 순위 충돌 방지를 위해 업무 우선순위를 정해야 함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360" lvl="0" indent="-171360">
              <a:buFont typeface="Wingdings"/>
              <a:buChar char="§"/>
              <a:defRPr/>
            </a:pPr>
            <a:r>
              <a:rPr lang="en-US" altLang="ko-KR" sz="1200" b="1">
                <a:solidFill>
                  <a:srgbClr val="ff0000"/>
                </a:solidFill>
                <a:latin typeface="맑은 고딕"/>
                <a:ea typeface="맑은 고딕"/>
              </a:rPr>
              <a:t>WIP(Work In Process)</a:t>
            </a:r>
            <a:r>
              <a:rPr lang="ko-KR" altLang="en-US" sz="1200" b="1">
                <a:solidFill>
                  <a:srgbClr val="ff0000"/>
                </a:solidFill>
                <a:latin typeface="맑은 고딕"/>
                <a:ea typeface="맑은 고딕"/>
              </a:rPr>
              <a:t>를 설정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하여 계획에 없는 추가 업무를 방지한다</a:t>
            </a:r>
            <a:r>
              <a:rPr lang="en-US" altLang="ko-KR" sz="12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r>
              <a:rPr lang="ko-KR" altLang="en-US" sz="1200">
                <a:solidFill>
                  <a:srgbClr val="000000"/>
                </a:solidFill>
                <a:latin typeface="맑은 고딕"/>
                <a:ea typeface="맑은 고딕"/>
              </a:rPr>
              <a:t> 이는 업무 과중 및 프로젝트 지연을 방지하기 위함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 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360" lvl="0" indent="-171360">
              <a:buFont typeface="Wingdings"/>
              <a:buChar char="§"/>
              <a:defRPr/>
            </a:pPr>
            <a:endParaRPr lang="ko-KR" altLang="en-US" sz="150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360" lvl="0" indent="-171360">
              <a:buFont typeface="Wingdings"/>
              <a:buChar char="§"/>
              <a:defRPr/>
            </a:pPr>
            <a:r>
              <a:rPr lang="ko-KR" altLang="en-US" sz="1200" b="1">
                <a:solidFill>
                  <a:srgbClr val="000000"/>
                </a:solidFill>
                <a:latin typeface="맑은 고딕"/>
                <a:ea typeface="맑은 고딕"/>
              </a:rPr>
              <a:t>칸반 보드 대체 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lang="ko-KR" altLang="en-US" sz="1200" b="1">
                <a:solidFill>
                  <a:srgbClr val="000000"/>
                </a:solidFill>
                <a:latin typeface="맑은 고딕"/>
                <a:ea typeface="맑은 고딕"/>
              </a:rPr>
              <a:t> 노션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(notion), </a:t>
            </a:r>
            <a:r>
              <a:rPr lang="ko-KR" altLang="en-US" sz="1200" b="1">
                <a:solidFill>
                  <a:srgbClr val="000000"/>
                </a:solidFill>
                <a:latin typeface="맑은 고딕"/>
                <a:ea typeface="맑은 고딕"/>
              </a:rPr>
              <a:t>아사나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(asana), </a:t>
            </a:r>
            <a:r>
              <a:rPr lang="ko-KR" altLang="en-US" sz="1200" b="1">
                <a:solidFill>
                  <a:srgbClr val="000000"/>
                </a:solidFill>
                <a:latin typeface="맑은 고딕"/>
                <a:ea typeface="맑은 고딕"/>
              </a:rPr>
              <a:t>지라</a:t>
            </a:r>
            <a:r>
              <a:rPr lang="en-US" altLang="ko-KR" sz="1200" b="1">
                <a:solidFill>
                  <a:srgbClr val="000000"/>
                </a:solidFill>
                <a:latin typeface="맑은 고딕"/>
                <a:ea typeface="맑은 고딕"/>
              </a:rPr>
              <a:t>(jira)</a:t>
            </a:r>
            <a:endParaRPr lang="en-US" altLang="ko-KR" sz="12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50367577"/>
      </p:ext>
    </p:extLst>
  </p:cSld>
  <p:clrMapOvr>
    <a:masterClrMapping/>
  </p:clrMapOvr>
</p:sld>
</file>

<file path=ppt/slides/slide7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7</a:t>
            </a:r>
            <a:r>
              <a:rPr lang="ko-KR" altLang="en-US" sz="2800" b="1">
                <a:latin typeface="맑은 고딕"/>
                <a:ea typeface="맑은 고딕"/>
              </a:rPr>
              <a:t>. 린 스타트업과 MVP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1095375"/>
            <a:ext cx="8477249" cy="3720704"/>
          </a:xfrm>
        </p:spPr>
        <p:txBody>
          <a:bodyPr/>
          <a:lstStyle/>
          <a:p>
            <a:pPr lvl="0">
              <a:buFont typeface="Wingdings"/>
              <a:buChar char="§"/>
              <a:defRPr/>
            </a:pPr>
            <a:r>
              <a:rPr lang="ko-KR" altLang="en-US" sz="1600" b="1">
                <a:latin typeface="맑은 고딕"/>
                <a:ea typeface="맑은 고딕"/>
              </a:rPr>
              <a:t>린 스타트업</a:t>
            </a:r>
            <a:r>
              <a:rPr lang="en-US" altLang="ko-KR" sz="1600" b="1">
                <a:latin typeface="맑은 고딕"/>
                <a:ea typeface="맑은 고딕"/>
              </a:rPr>
              <a:t>:</a:t>
            </a:r>
            <a:r>
              <a:rPr lang="ko-KR" altLang="en-US" sz="1600" b="1">
                <a:latin typeface="맑은 고딕"/>
                <a:ea typeface="맑은 고딕"/>
              </a:rPr>
              <a:t> </a:t>
            </a:r>
            <a:endParaRPr lang="en-US" altLang="ko-KR" sz="1600" b="1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</a:t>
            </a:r>
            <a:r>
              <a:rPr lang="en-US" altLang="ko-KR" sz="1500">
                <a:latin typeface="맑은 고딕"/>
                <a:ea typeface="맑은 고딕"/>
              </a:rPr>
              <a:t>‘</a:t>
            </a:r>
            <a:r>
              <a:rPr lang="ko-KR" altLang="en-US" sz="1500">
                <a:latin typeface="맑은 고딕"/>
                <a:ea typeface="맑은 고딕"/>
              </a:rPr>
              <a:t>군살 없는</a:t>
            </a:r>
            <a:r>
              <a:rPr lang="en-US" altLang="ko-KR" sz="1500">
                <a:latin typeface="맑은 고딕"/>
                <a:ea typeface="맑은 고딕"/>
              </a:rPr>
              <a:t>’</a:t>
            </a:r>
            <a:r>
              <a:rPr lang="ko-KR" altLang="en-US" sz="1500">
                <a:latin typeface="맑은 고딕"/>
                <a:ea typeface="맑은 고딕"/>
              </a:rPr>
              <a:t> 이란 뜻의 린</a:t>
            </a:r>
            <a:r>
              <a:rPr lang="en-US" altLang="ko-KR" sz="1500">
                <a:latin typeface="맑은 고딕"/>
                <a:ea typeface="맑은 고딕"/>
              </a:rPr>
              <a:t>(Lean)</a:t>
            </a:r>
            <a:r>
              <a:rPr lang="ko-KR" altLang="en-US" sz="1500">
                <a:latin typeface="맑은 고딕"/>
                <a:ea typeface="맑은 고딕"/>
              </a:rPr>
              <a:t>은</a:t>
            </a:r>
            <a:r>
              <a:rPr lang="en-US" altLang="ko-KR" sz="1500">
                <a:latin typeface="맑은 고딕"/>
                <a:ea typeface="맑은 고딕"/>
              </a:rPr>
              <a:t> </a:t>
            </a:r>
            <a:r>
              <a:rPr lang="ko-KR" altLang="en-US" sz="1500">
                <a:latin typeface="맑은 고딕"/>
                <a:ea typeface="맑은 고딕"/>
              </a:rPr>
              <a:t>도요타의 효율적 생산 방식인 린 생산 방식에서 따온 말</a:t>
            </a:r>
            <a:r>
              <a:rPr lang="en-US" altLang="ko-KR" sz="1500">
                <a:latin typeface="맑은 고딕"/>
                <a:ea typeface="맑은 고딕"/>
              </a:rPr>
              <a:t>.</a:t>
            </a:r>
            <a:endParaRPr lang="en-US" altLang="ko-KR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r>
              <a:rPr lang="ko-KR" altLang="en-US" sz="1500">
                <a:latin typeface="맑은 고딕"/>
                <a:ea typeface="맑은 고딕"/>
              </a:rPr>
              <a:t>    핵심 기능 제공 및 빠른 피드백이 가능하도록 </a:t>
            </a: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애자일 개발 방식을 사용</a:t>
            </a:r>
            <a:r>
              <a:rPr lang="ko-KR" altLang="en-US" sz="1500">
                <a:latin typeface="맑은 고딕"/>
                <a:ea typeface="맑은 고딕"/>
              </a:rPr>
              <a:t>한다</a:t>
            </a:r>
            <a:r>
              <a:rPr lang="en-US" altLang="ko-KR" sz="1500">
                <a:latin typeface="맑은 고딕"/>
                <a:ea typeface="맑은 고딕"/>
              </a:rPr>
              <a:t>.</a:t>
            </a:r>
            <a:r>
              <a:rPr lang="ko-KR" altLang="en-US" sz="1500">
                <a:latin typeface="맑은 고딕"/>
                <a:ea typeface="맑은 고딕"/>
              </a:rPr>
              <a:t> 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특징 </a:t>
            </a:r>
            <a:r>
              <a:rPr lang="en-US" altLang="ko-KR" sz="1500" b="1">
                <a:latin typeface="맑은 고딕"/>
                <a:ea typeface="맑은 고딕"/>
              </a:rPr>
              <a:t>:</a:t>
            </a:r>
            <a:r>
              <a:rPr lang="ko-KR" altLang="en-US" sz="1500">
                <a:latin typeface="맑은 고딕"/>
                <a:ea typeface="맑은 고딕"/>
              </a:rPr>
              <a:t> </a:t>
            </a: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개발</a:t>
            </a:r>
            <a:r>
              <a:rPr lang="en-US" altLang="ko-KR" sz="1500" b="1">
                <a:solidFill>
                  <a:srgbClr val="ff0000"/>
                </a:solidFill>
                <a:latin typeface="맑은 고딕"/>
                <a:ea typeface="맑은 고딕"/>
              </a:rPr>
              <a:t>-</a:t>
            </a: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측정</a:t>
            </a:r>
            <a:r>
              <a:rPr lang="en-US" altLang="ko-KR" sz="1500" b="1">
                <a:solidFill>
                  <a:srgbClr val="ff0000"/>
                </a:solidFill>
                <a:latin typeface="맑은 고딕"/>
                <a:ea typeface="맑은 고딕"/>
              </a:rPr>
              <a:t>-</a:t>
            </a: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검증</a:t>
            </a:r>
            <a:r>
              <a:rPr lang="ko-KR" altLang="en-US" sz="1500">
                <a:latin typeface="맑은 고딕"/>
                <a:ea typeface="맑은 고딕"/>
              </a:rPr>
              <a:t>의 단계로 반복한다</a:t>
            </a:r>
            <a:r>
              <a:rPr lang="en-US" altLang="ko-KR" sz="1500">
                <a:latin typeface="맑은 고딕"/>
                <a:ea typeface="맑은 고딕"/>
              </a:rPr>
              <a:t>.</a:t>
            </a:r>
            <a:endParaRPr lang="en-US" altLang="ko-KR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en-US" altLang="ko-KR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endParaRPr lang="en-US" altLang="ko-KR" sz="1500">
              <a:latin typeface="맑은 고딕"/>
              <a:ea typeface="맑은 고딕"/>
            </a:endParaRPr>
          </a:p>
          <a:p>
            <a:pPr lvl="0">
              <a:buFont typeface="Wingdings"/>
              <a:buChar char="§"/>
              <a:defRPr/>
            </a:pPr>
            <a:r>
              <a:rPr lang="ko-KR" altLang="en-US" sz="1500" b="1">
                <a:latin typeface="맑은 고딕"/>
                <a:ea typeface="맑은 고딕"/>
              </a:rPr>
              <a:t>린 스타트업의 중요 요소</a:t>
            </a:r>
            <a:r>
              <a:rPr lang="en-US" altLang="ko-KR" sz="1500" b="1">
                <a:latin typeface="맑은 고딕"/>
                <a:ea typeface="맑은 고딕"/>
              </a:rPr>
              <a:t>:</a:t>
            </a:r>
            <a:endParaRPr lang="en-US" altLang="ko-KR" sz="1500">
              <a:latin typeface="맑은 고딕"/>
              <a:ea typeface="맑은 고딕"/>
            </a:endParaRPr>
          </a:p>
          <a:p>
            <a:pPr marL="0" lvl="0" indent="0">
              <a:lnSpc>
                <a:spcPct val="0"/>
              </a:lnSpc>
              <a:buFont typeface="Wingdings"/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200000"/>
              </a:lnSpc>
              <a:buFont typeface="Wingdings"/>
              <a:buNone/>
              <a:defRPr/>
            </a:pPr>
            <a:r>
              <a:rPr lang="en-US" altLang="ko-KR" sz="1500">
                <a:latin typeface="맑은 고딕"/>
                <a:ea typeface="맑은 고딕"/>
              </a:rPr>
              <a:t>-</a:t>
            </a:r>
            <a:r>
              <a:rPr lang="ko-KR" altLang="en-US" sz="1500">
                <a:latin typeface="맑은 고딕"/>
                <a:ea typeface="맑은 고딕"/>
              </a:rPr>
              <a:t> </a:t>
            </a:r>
            <a:r>
              <a:rPr lang="en-US" altLang="ko-KR" sz="1500">
                <a:latin typeface="맑은 고딕"/>
                <a:ea typeface="맑은 고딕"/>
              </a:rPr>
              <a:t>MVP(minimum viable product)</a:t>
            </a:r>
            <a:r>
              <a:rPr lang="ko-KR" altLang="en-US" sz="1500">
                <a:latin typeface="맑은 고딕"/>
                <a:ea typeface="맑은 고딕"/>
              </a:rPr>
              <a:t> </a:t>
            </a:r>
            <a:r>
              <a:rPr lang="en-US" altLang="ko-KR" sz="1500">
                <a:latin typeface="맑은 고딕"/>
                <a:ea typeface="맑은 고딕"/>
              </a:rPr>
              <a:t>: </a:t>
            </a:r>
            <a:r>
              <a:rPr lang="ko-KR" altLang="en-US" sz="1500">
                <a:latin typeface="맑은 고딕"/>
                <a:ea typeface="맑은 고딕"/>
              </a:rPr>
              <a:t>사용자의 니즈를 검증할 수 있는 최소 기능을 포함한 제품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200000"/>
              </a:lnSpc>
              <a:buFont typeface="Wingdings"/>
              <a:buNone/>
              <a:defRPr/>
            </a:pPr>
            <a:r>
              <a:rPr lang="en-US" altLang="ko-KR" sz="1500">
                <a:latin typeface="맑은 고딕"/>
                <a:ea typeface="맑은 고딕"/>
              </a:rPr>
              <a:t>-</a:t>
            </a:r>
            <a:r>
              <a:rPr lang="ko-KR" altLang="en-US" sz="1500">
                <a:latin typeface="맑은 고딕"/>
                <a:ea typeface="맑은 고딕"/>
              </a:rPr>
              <a:t> MLP</a:t>
            </a:r>
            <a:r>
              <a:rPr lang="en-US" altLang="ko-KR" sz="1500">
                <a:latin typeface="맑은 고딕"/>
                <a:ea typeface="맑은 고딕"/>
              </a:rPr>
              <a:t>(</a:t>
            </a:r>
            <a:r>
              <a:rPr lang="ko-KR" altLang="en-US" sz="1500">
                <a:latin typeface="맑은 고딕"/>
                <a:ea typeface="맑은 고딕"/>
              </a:rPr>
              <a:t>Minimum Lovable Product</a:t>
            </a:r>
            <a:r>
              <a:rPr lang="en-US" altLang="ko-KR" sz="1500">
                <a:latin typeface="맑은 고딕"/>
                <a:ea typeface="맑은 고딕"/>
              </a:rPr>
              <a:t>)</a:t>
            </a:r>
            <a:r>
              <a:rPr lang="ko-KR" altLang="en-US" sz="1500">
                <a:latin typeface="맑은 고딕"/>
                <a:ea typeface="맑은 고딕"/>
              </a:rPr>
              <a:t> : 사용자에게 애정 받을 수 있는 제품</a:t>
            </a:r>
            <a:r>
              <a:rPr lang="en-US" altLang="ko-KR" sz="1500">
                <a:latin typeface="맑은 고딕"/>
                <a:ea typeface="맑은 고딕"/>
              </a:rPr>
              <a:t>(</a:t>
            </a:r>
            <a:r>
              <a:rPr lang="ko-KR" altLang="en-US" sz="1500">
                <a:latin typeface="맑은 고딕"/>
                <a:ea typeface="맑은 고딕"/>
              </a:rPr>
              <a:t>감정적 만족까지 고려</a:t>
            </a:r>
            <a:r>
              <a:rPr lang="en-US" altLang="ko-KR" sz="1500">
                <a:latin typeface="맑은 고딕"/>
                <a:ea typeface="맑은 고딕"/>
              </a:rPr>
              <a:t>)</a:t>
            </a:r>
            <a:endParaRPr lang="en-US" altLang="ko-KR" sz="15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7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78576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8</a:t>
            </a:r>
            <a:r>
              <a:rPr lang="ko-KR" altLang="en-US" sz="2800" b="1">
                <a:latin typeface="맑은 고딕"/>
                <a:ea typeface="맑은 고딕"/>
              </a:rPr>
              <a:t>. 린 스타트업의 필요성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49" y="981075"/>
            <a:ext cx="8477249" cy="1202130"/>
          </a:xfrm>
        </p:spPr>
        <p:txBody>
          <a:bodyPr/>
          <a:lstStyle/>
          <a:p>
            <a:pPr lvl="0">
              <a:buFont typeface="Wingdings"/>
              <a:buChar char="§"/>
              <a:defRPr/>
            </a:pPr>
            <a:endParaRPr lang="en-US" altLang="ko-KR" sz="15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en-US" altLang="ko-KR" sz="1500">
                <a:latin typeface="맑은 고딕"/>
                <a:ea typeface="맑은 고딕"/>
              </a:rPr>
              <a:t>1.</a:t>
            </a:r>
            <a:r>
              <a:rPr lang="ko-KR" altLang="en-US" sz="1500">
                <a:latin typeface="맑은 고딕"/>
                <a:ea typeface="맑은 고딕"/>
              </a:rPr>
              <a:t> 신속하게 제품을 개발해야 하는 현실적 환경 </a:t>
            </a:r>
            <a:r>
              <a:rPr lang="en-US" altLang="ko-KR" sz="1500">
                <a:latin typeface="맑은 고딕"/>
                <a:ea typeface="맑은 고딕"/>
              </a:rPr>
              <a:t>→</a:t>
            </a:r>
            <a:r>
              <a:rPr lang="ko-KR" altLang="en-US" sz="1500">
                <a:latin typeface="맑은 고딕"/>
                <a:ea typeface="맑은 고딕"/>
              </a:rPr>
              <a:t> </a:t>
            </a: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너무 빠른 사회적 변화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lnSpc>
                <a:spcPct val="150000"/>
              </a:lnSpc>
              <a:buFont typeface="Wingdings"/>
              <a:buNone/>
              <a:defRPr/>
            </a:pPr>
            <a:r>
              <a:rPr lang="en-US" altLang="ko-KR" sz="1500">
                <a:latin typeface="맑은 고딕"/>
                <a:ea typeface="맑은 고딕"/>
              </a:rPr>
              <a:t>2.</a:t>
            </a:r>
            <a:r>
              <a:rPr lang="ko-KR" altLang="en-US" sz="1500">
                <a:latin typeface="맑은 고딕"/>
                <a:ea typeface="맑은 고딕"/>
              </a:rPr>
              <a:t> 비즈니스 불확실성 고조 </a:t>
            </a:r>
            <a:r>
              <a:rPr lang="en-US" altLang="ko-KR" sz="1500">
                <a:latin typeface="맑은 고딕"/>
                <a:ea typeface="맑은 고딕"/>
              </a:rPr>
              <a:t>→</a:t>
            </a:r>
            <a:r>
              <a:rPr lang="ko-KR" altLang="en-US" sz="1500">
                <a:latin typeface="맑은 고딕"/>
                <a:ea typeface="맑은 고딕"/>
              </a:rPr>
              <a:t> </a:t>
            </a:r>
            <a:r>
              <a:rPr lang="ko-KR" altLang="en-US" sz="1500" b="1">
                <a:solidFill>
                  <a:srgbClr val="3a3c84"/>
                </a:solidFill>
                <a:latin typeface="맑은 고딕"/>
                <a:ea typeface="맑은 고딕"/>
              </a:rPr>
              <a:t>소비자의 니즈가 단시간에 바뀔 수 있음</a:t>
            </a: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  <a:p>
            <a:pPr marL="0" lvl="0" indent="0">
              <a:buFont typeface="Wingdings"/>
              <a:buNone/>
              <a:defRPr/>
            </a:pPr>
            <a:endParaRPr lang="ko-KR" altLang="en-US" sz="1500">
              <a:latin typeface="맑은 고딕"/>
              <a:ea typeface="맑은 고딕"/>
            </a:endParaRPr>
          </a:p>
        </p:txBody>
      </p:sp>
      <p:grpSp>
        <p:nvGrpSpPr>
          <p:cNvPr id="17" name=""/>
          <p:cNvGrpSpPr/>
          <p:nvPr/>
        </p:nvGrpSpPr>
        <p:grpSpPr>
          <a:xfrm rot="0">
            <a:off x="236195" y="2183205"/>
            <a:ext cx="8564903" cy="2705515"/>
            <a:chOff x="236195" y="2183205"/>
            <a:chExt cx="8564903" cy="2705515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6866182" y="2183205"/>
              <a:ext cx="1598003" cy="1278402"/>
            </a:xfrm>
            <a:prstGeom prst="rect">
              <a:avLst/>
            </a:prstGeom>
          </p:spPr>
        </p:pic>
        <p:sp>
          <p:nvSpPr>
            <p:cNvPr id="10" name="오각형 9"/>
            <p:cNvSpPr/>
            <p:nvPr/>
          </p:nvSpPr>
          <p:spPr>
            <a:xfrm>
              <a:off x="402621" y="3357709"/>
              <a:ext cx="2173803" cy="1531011"/>
            </a:xfrm>
            <a:prstGeom prst="homePlate">
              <a:avLst>
                <a:gd name="adj" fmla="val 50000"/>
              </a:avLst>
            </a:prstGeom>
            <a:solidFill>
              <a:srgbClr val="d8bee4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여행업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최고의 호황기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" name="오각형 10"/>
            <p:cNvSpPr/>
            <p:nvPr/>
          </p:nvSpPr>
          <p:spPr>
            <a:xfrm>
              <a:off x="2665832" y="3357709"/>
              <a:ext cx="2011351" cy="1531011"/>
            </a:xfrm>
            <a:prstGeom prst="homePlate">
              <a:avLst>
                <a:gd name="adj" fmla="val 50000"/>
              </a:avLst>
            </a:prstGeom>
            <a:solidFill>
              <a:srgbClr val="d8bee4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COVID 19</a:t>
              </a:r>
              <a:endParaRPr lang="en-US" altLang="ko-KR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유행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2" name="오각형 11"/>
            <p:cNvSpPr/>
            <p:nvPr/>
          </p:nvSpPr>
          <p:spPr>
            <a:xfrm>
              <a:off x="4762441" y="3357709"/>
              <a:ext cx="1852408" cy="1531011"/>
            </a:xfrm>
            <a:prstGeom prst="homePlate">
              <a:avLst>
                <a:gd name="adj" fmla="val 50000"/>
              </a:avLst>
            </a:prstGeom>
            <a:solidFill>
              <a:srgbClr val="d8bee4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유튜브 전성기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36195" y="2448601"/>
              <a:ext cx="1917669" cy="1132623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806076" y="2762542"/>
              <a:ext cx="1871106" cy="935553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5212395" y="2707689"/>
              <a:ext cx="594173" cy="1145394"/>
            </a:xfrm>
            <a:prstGeom prst="rect">
              <a:avLst/>
            </a:prstGeom>
          </p:spPr>
        </p:pic>
        <p:sp>
          <p:nvSpPr>
            <p:cNvPr id="13" name="오각형 12"/>
            <p:cNvSpPr/>
            <p:nvPr/>
          </p:nvSpPr>
          <p:spPr>
            <a:xfrm>
              <a:off x="6866182" y="3357709"/>
              <a:ext cx="1934916" cy="1531011"/>
            </a:xfrm>
            <a:prstGeom prst="homePlate">
              <a:avLst>
                <a:gd name="adj" fmla="val 50000"/>
              </a:avLst>
            </a:prstGeom>
            <a:solidFill>
              <a:srgbClr val="d8bee4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다양한 비대면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서비스 호황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en-US" altLang="ko-KR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&amp;</a:t>
              </a:r>
              <a:endParaRPr lang="en-US" altLang="ko-KR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현재까지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영향을 미침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9449426"/>
      </p:ext>
    </p:extLst>
  </p:cSld>
  <p:clrMapOvr>
    <a:masterClrMapping/>
  </p:clrMapOvr>
</p:sld>
</file>

<file path=ppt/slides/slide8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78576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9-1</a:t>
            </a:r>
            <a:r>
              <a:rPr lang="ko-KR" altLang="en-US" sz="2800" b="1">
                <a:latin typeface="맑은 고딕"/>
                <a:ea typeface="맑은 고딕"/>
              </a:rPr>
              <a:t>. 성공한 </a:t>
            </a:r>
            <a:r>
              <a:rPr lang="en-US" altLang="ko-KR" sz="2800" b="1">
                <a:latin typeface="맑은 고딕"/>
                <a:ea typeface="맑은 고딕"/>
              </a:rPr>
              <a:t>MVP</a:t>
            </a:r>
            <a:r>
              <a:rPr lang="ko-KR" altLang="en-US" sz="2800" b="1">
                <a:latin typeface="맑은 고딕"/>
                <a:ea typeface="맑은 고딕"/>
              </a:rPr>
              <a:t> 사례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grpSp>
        <p:nvGrpSpPr>
          <p:cNvPr id="21" name=""/>
          <p:cNvGrpSpPr/>
          <p:nvPr/>
        </p:nvGrpSpPr>
        <p:grpSpPr>
          <a:xfrm rot="0">
            <a:off x="829201" y="1715668"/>
            <a:ext cx="7626779" cy="2717255"/>
            <a:chOff x="829201" y="1715668"/>
            <a:chExt cx="7626779" cy="2717255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6643985" y="1896963"/>
              <a:ext cx="1473452" cy="1516789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1177268" y="1861427"/>
              <a:ext cx="1468167" cy="1442258"/>
            </a:xfrm>
            <a:prstGeom prst="rect">
              <a:avLst/>
            </a:prstGeom>
          </p:spPr>
        </p:pic>
        <p:sp>
          <p:nvSpPr>
            <p:cNvPr id="8" name="모서리가 둥근 직사각형 7"/>
            <p:cNvSpPr/>
            <p:nvPr/>
          </p:nvSpPr>
          <p:spPr>
            <a:xfrm>
              <a:off x="1148693" y="3274942"/>
              <a:ext cx="1562518" cy="328195"/>
            </a:xfrm>
            <a:prstGeom prst="roundRect">
              <a:avLst>
                <a:gd name="adj" fmla="val 16667"/>
              </a:avLst>
            </a:prstGeom>
            <a:solidFill>
              <a:srgbClr val="dfe6f7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en-US" altLang="ko-KR"/>
            </a:p>
          </p:txBody>
        </p:sp>
        <p:sp>
          <p:nvSpPr>
            <p:cNvPr id="7" name="가로 글상자 6"/>
            <p:cNvSpPr txBox="1"/>
            <p:nvPr/>
          </p:nvSpPr>
          <p:spPr>
            <a:xfrm>
              <a:off x="984054" y="3301122"/>
              <a:ext cx="1910844" cy="973698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ctr">
                <a:defRPr/>
              </a:pPr>
              <a:r>
                <a:rPr lang="ko-KR" altLang="en-US" sz="1500" b="1">
                  <a:latin typeface="맑은 고딕"/>
                  <a:ea typeface="맑은 고딕"/>
                </a:rPr>
                <a:t>토스</a:t>
              </a:r>
              <a:r>
                <a:rPr lang="en-US" altLang="ko-KR" sz="1500" b="1">
                  <a:latin typeface="맑은 고딕"/>
                  <a:ea typeface="맑은 고딕"/>
                </a:rPr>
                <a:t>(Toss)</a:t>
              </a:r>
              <a:endParaRPr lang="en-US" altLang="ko-KR" sz="15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endParaRPr lang="ko-KR" altLang="en-US" sz="15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400" b="1">
                  <a:solidFill>
                    <a:srgbClr val="000000"/>
                  </a:solidFill>
                  <a:latin typeface="맑은 고딕"/>
                  <a:ea typeface="맑은 고딕"/>
                </a:rPr>
                <a:t>간편 송금 서비스 시작</a:t>
              </a:r>
              <a:endParaRPr lang="ko-KR" altLang="en-US" sz="14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829201" y="1715668"/>
              <a:ext cx="2220552" cy="2717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3936538" y="3274942"/>
              <a:ext cx="1562518" cy="328195"/>
            </a:xfrm>
            <a:prstGeom prst="roundRect">
              <a:avLst>
                <a:gd name="adj" fmla="val 16667"/>
              </a:avLst>
            </a:prstGeom>
            <a:solidFill>
              <a:srgbClr val="dfe6f7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US" altLang="ko-KR"/>
            </a:p>
          </p:txBody>
        </p:sp>
        <p:sp>
          <p:nvSpPr>
            <p:cNvPr id="10" name="가로 글상자 9"/>
            <p:cNvSpPr txBox="1"/>
            <p:nvPr/>
          </p:nvSpPr>
          <p:spPr>
            <a:xfrm>
              <a:off x="3733799" y="3301122"/>
              <a:ext cx="1910844" cy="7546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1500" b="1">
                  <a:latin typeface="맑은 고딕"/>
                  <a:ea typeface="맑은 고딕"/>
                </a:rPr>
                <a:t>직방</a:t>
              </a:r>
              <a:endParaRPr lang="ko-KR" altLang="en-US" sz="15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endParaRPr lang="ko-KR" altLang="en-US" sz="15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400" b="1">
                  <a:solidFill>
                    <a:srgbClr val="000000"/>
                  </a:solidFill>
                  <a:latin typeface="맑은 고딕"/>
                  <a:ea typeface="맑은 고딕"/>
                </a:rPr>
                <a:t>관악구 원룸부터 시작</a:t>
              </a:r>
              <a:endParaRPr lang="ko-KR" altLang="en-US" sz="14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540846" y="1715668"/>
              <a:ext cx="2220552" cy="2717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6554920" y="3274943"/>
              <a:ext cx="1562518" cy="328195"/>
            </a:xfrm>
            <a:prstGeom prst="roundRect">
              <a:avLst>
                <a:gd name="adj" fmla="val 16667"/>
              </a:avLst>
            </a:prstGeom>
            <a:solidFill>
              <a:srgbClr val="dfe6f7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US" altLang="ko-KR"/>
            </a:p>
          </p:txBody>
        </p:sp>
        <p:sp>
          <p:nvSpPr>
            <p:cNvPr id="16" name="가로 글상자 15"/>
            <p:cNvSpPr txBox="1"/>
            <p:nvPr/>
          </p:nvSpPr>
          <p:spPr>
            <a:xfrm>
              <a:off x="6390281" y="3301122"/>
              <a:ext cx="1910844" cy="7546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1500" b="1">
                  <a:latin typeface="맑은 고딕"/>
                  <a:ea typeface="맑은 고딕"/>
                </a:rPr>
                <a:t>당근</a:t>
              </a:r>
              <a:endParaRPr lang="ko-KR" altLang="en-US" sz="15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endParaRPr lang="ko-KR" altLang="en-US" sz="15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400" b="1">
                  <a:solidFill>
                    <a:srgbClr val="000000"/>
                  </a:solidFill>
                  <a:latin typeface="맑은 고딕"/>
                  <a:ea typeface="맑은 고딕"/>
                </a:rPr>
                <a:t>판교부터 서비스 시작</a:t>
              </a:r>
              <a:endParaRPr lang="ko-KR" altLang="en-US" sz="14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6235428" y="1715668"/>
              <a:ext cx="2220552" cy="271725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pic>
          <p:nvPicPr>
            <p:cNvPr id="18" name="그림 17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3976335" y="1896963"/>
              <a:ext cx="1349572" cy="13495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7108138"/>
      </p:ext>
    </p:extLst>
  </p:cSld>
  <p:clrMapOvr>
    <a:masterClrMapping/>
  </p:clrMapOvr>
</p:sld>
</file>

<file path=ppt/slides/slide8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23849" y="178576"/>
            <a:ext cx="8477249" cy="704838"/>
          </a:xfrm>
        </p:spPr>
        <p:txBody>
          <a:bodyPr/>
          <a:lstStyle/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9-2</a:t>
            </a:r>
            <a:r>
              <a:rPr lang="ko-KR" altLang="en-US" sz="2800" b="1">
                <a:latin typeface="맑은 고딕"/>
                <a:ea typeface="맑은 고딕"/>
              </a:rPr>
              <a:t>. 성공한 </a:t>
            </a:r>
            <a:r>
              <a:rPr lang="en-US" altLang="ko-KR" sz="2800" b="1">
                <a:latin typeface="맑은 고딕"/>
                <a:ea typeface="맑은 고딕"/>
              </a:rPr>
              <a:t>MVP</a:t>
            </a:r>
            <a:r>
              <a:rPr lang="ko-KR" altLang="en-US" sz="2800" b="1">
                <a:latin typeface="맑은 고딕"/>
                <a:ea typeface="맑은 고딕"/>
              </a:rPr>
              <a:t> 사례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grpSp>
        <p:nvGrpSpPr>
          <p:cNvPr id="32" name=""/>
          <p:cNvGrpSpPr/>
          <p:nvPr/>
        </p:nvGrpSpPr>
        <p:grpSpPr>
          <a:xfrm rot="0">
            <a:off x="732782" y="1084564"/>
            <a:ext cx="7678435" cy="3711127"/>
            <a:chOff x="732782" y="1084564"/>
            <a:chExt cx="7678435" cy="3711127"/>
          </a:xfrm>
        </p:grpSpPr>
        <p:sp>
          <p:nvSpPr>
            <p:cNvPr id="29" name="모서리가 둥근 직사각형 28"/>
            <p:cNvSpPr/>
            <p:nvPr/>
          </p:nvSpPr>
          <p:spPr>
            <a:xfrm>
              <a:off x="1142104" y="4003925"/>
              <a:ext cx="1562518" cy="328195"/>
            </a:xfrm>
            <a:prstGeom prst="roundRect">
              <a:avLst>
                <a:gd name="adj" fmla="val 16667"/>
              </a:avLst>
            </a:prstGeom>
            <a:solidFill>
              <a:srgbClr val="dfe6f7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US" altLang="ko-KR"/>
            </a:p>
          </p:txBody>
        </p:sp>
        <p:pic>
          <p:nvPicPr>
            <p:cNvPr id="22" name="그림 21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732782" y="1134965"/>
              <a:ext cx="2381161" cy="1036505"/>
            </a:xfrm>
            <a:prstGeom prst="rect">
              <a:avLst/>
            </a:prstGeom>
          </p:spPr>
        </p:pic>
        <p:sp>
          <p:nvSpPr>
            <p:cNvPr id="8" name="모서리가 둥근 직사각형 7"/>
            <p:cNvSpPr/>
            <p:nvPr/>
          </p:nvSpPr>
          <p:spPr>
            <a:xfrm>
              <a:off x="1129205" y="1893391"/>
              <a:ext cx="1562518" cy="328195"/>
            </a:xfrm>
            <a:prstGeom prst="roundRect">
              <a:avLst>
                <a:gd name="adj" fmla="val 16667"/>
              </a:avLst>
            </a:prstGeom>
            <a:solidFill>
              <a:srgbClr val="dfe6f7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en-US" altLang="ko-KR"/>
            </a:p>
          </p:txBody>
        </p:sp>
        <p:sp>
          <p:nvSpPr>
            <p:cNvPr id="7" name="가로 글상자 6"/>
            <p:cNvSpPr txBox="1"/>
            <p:nvPr/>
          </p:nvSpPr>
          <p:spPr>
            <a:xfrm>
              <a:off x="858624" y="1911428"/>
              <a:ext cx="2103681" cy="75366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ctr">
                <a:defRPr/>
              </a:pPr>
              <a:r>
                <a:rPr lang="ko-KR" altLang="en-US" sz="1500" b="1">
                  <a:latin typeface="맑은 고딕"/>
                  <a:ea typeface="맑은 고딕"/>
                </a:rPr>
                <a:t>페이팔</a:t>
              </a:r>
              <a:endParaRPr lang="ko-KR" altLang="en-US" sz="15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endParaRPr lang="ko-KR" altLang="en-US" sz="15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400" b="1">
                  <a:solidFill>
                    <a:srgbClr val="000000"/>
                  </a:solidFill>
                  <a:latin typeface="맑은 고딕"/>
                  <a:ea typeface="맑은 고딕"/>
                </a:rPr>
                <a:t>안전 송금 서비스</a:t>
              </a:r>
              <a:endParaRPr lang="en-US" altLang="ko-KR" sz="14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732782" y="1084564"/>
              <a:ext cx="7678435" cy="16537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113944" y="1134965"/>
              <a:ext cx="2040172" cy="1530129"/>
            </a:xfrm>
            <a:prstGeom prst="rect">
              <a:avLst/>
            </a:prstGeom>
          </p:spPr>
        </p:pic>
        <p:sp>
          <p:nvSpPr>
            <p:cNvPr id="24" name="가로 글상자 23"/>
            <p:cNvSpPr txBox="1"/>
            <p:nvPr/>
          </p:nvSpPr>
          <p:spPr>
            <a:xfrm>
              <a:off x="3082190" y="2349578"/>
              <a:ext cx="2103681" cy="3631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900" b="1">
                  <a:solidFill>
                    <a:srgbClr val="000000"/>
                  </a:solidFill>
                  <a:latin typeface="맑은 고딕"/>
                  <a:ea typeface="맑은 고딕"/>
                </a:rPr>
                <a:t>출처</a:t>
              </a:r>
              <a:r>
                <a:rPr lang="en-US" altLang="ko-KR" sz="900" b="1">
                  <a:solidFill>
                    <a:srgbClr val="000000"/>
                  </a:solidFill>
                  <a:latin typeface="맑은 고딕"/>
                  <a:ea typeface="맑은 고딕"/>
                </a:rPr>
                <a:t>:</a:t>
              </a:r>
              <a:r>
                <a:rPr lang="ko-KR" altLang="en-US" sz="900" b="1">
                  <a:solidFill>
                    <a:srgbClr val="000000"/>
                  </a:solidFill>
                  <a:latin typeface="맑은 고딕"/>
                  <a:ea typeface="맑은 고딕"/>
                </a:rPr>
                <a:t> 네이버 지식백과 팜 파일럿</a:t>
              </a:r>
              <a:endParaRPr lang="ko-KR" altLang="en-US" sz="9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900" b="1">
                  <a:solidFill>
                    <a:srgbClr val="000000"/>
                  </a:solidFill>
                  <a:latin typeface="맑은 고딕"/>
                  <a:ea typeface="맑은 고딕"/>
                </a:rPr>
                <a:t>넥슨 컴퓨터 박물관</a:t>
              </a:r>
              <a:endParaRPr lang="ko-KR" altLang="en-US" sz="9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5" name="가로 글상자 24"/>
            <p:cNvSpPr txBox="1"/>
            <p:nvPr/>
          </p:nvSpPr>
          <p:spPr>
            <a:xfrm>
              <a:off x="5376162" y="1272061"/>
              <a:ext cx="2962684" cy="11834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팜 파일럿 </a:t>
              </a:r>
              <a:r>
                <a:rPr lang="en-US" altLang="ko-KR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PDA</a:t>
              </a: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에 보안 프로그램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서비스를 제공하다가</a:t>
              </a:r>
              <a:r>
                <a:rPr lang="en-US" altLang="ko-KR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,</a:t>
              </a: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PDA</a:t>
              </a: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 시장이 실패하자</a:t>
              </a:r>
              <a:r>
                <a:rPr lang="en-US" altLang="ko-KR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,</a:t>
              </a: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 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>
                <a:defRPr/>
              </a:pPr>
              <a:endParaRPr lang="ko-KR" altLang="en-US" sz="1200" b="1">
                <a:latin typeface="맑은 고딕"/>
                <a:ea typeface="맑은 고딕"/>
              </a:endParaRPr>
            </a:p>
            <a:p>
              <a:pPr lvl="0">
                <a:defRPr/>
              </a:pPr>
              <a:r>
                <a:rPr lang="ko-KR" altLang="en-US" sz="1200" b="1">
                  <a:solidFill>
                    <a:srgbClr val="ff6600"/>
                  </a:solidFill>
                  <a:latin typeface="맑은 고딕"/>
                  <a:ea typeface="맑은 고딕"/>
                </a:rPr>
                <a:t>인터넷상에서 돈을 안전하게 저장하고 전송할 수 있는 개발 서비스를 만들어 냄</a:t>
              </a:r>
              <a:r>
                <a:rPr lang="en-US" altLang="ko-KR" sz="1200" b="1">
                  <a:solidFill>
                    <a:srgbClr val="ff6600"/>
                  </a:solidFill>
                  <a:latin typeface="맑은 고딕"/>
                  <a:ea typeface="맑은 고딕"/>
                </a:rPr>
                <a:t>.</a:t>
              </a:r>
              <a:r>
                <a:rPr lang="ko-KR" altLang="en-US" sz="1200" b="1">
                  <a:solidFill>
                    <a:srgbClr val="ff6600"/>
                  </a:solidFill>
                  <a:latin typeface="맑은 고딕"/>
                  <a:ea typeface="맑은 고딕"/>
                </a:rPr>
                <a:t> </a:t>
              </a:r>
              <a:endParaRPr lang="ko-KR" altLang="en-US" sz="1200" b="1">
                <a:solidFill>
                  <a:srgbClr val="ff6600"/>
                </a:solidFill>
                <a:latin typeface="맑은 고딕"/>
                <a:ea typeface="맑은 고딕"/>
              </a:endParaRPr>
            </a:p>
          </p:txBody>
        </p:sp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597250" y="3275724"/>
              <a:ext cx="626429" cy="626429"/>
            </a:xfrm>
            <a:prstGeom prst="rect">
              <a:avLst/>
            </a:prstGeom>
          </p:spPr>
        </p:pic>
        <p:sp>
          <p:nvSpPr>
            <p:cNvPr id="27" name="직사각형 26"/>
            <p:cNvSpPr/>
            <p:nvPr/>
          </p:nvSpPr>
          <p:spPr>
            <a:xfrm>
              <a:off x="732782" y="3141964"/>
              <a:ext cx="7678435" cy="165372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8" name="가로 글상자 27"/>
            <p:cNvSpPr txBox="1"/>
            <p:nvPr/>
          </p:nvSpPr>
          <p:spPr>
            <a:xfrm>
              <a:off x="858624" y="4003924"/>
              <a:ext cx="2103681" cy="756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1500" b="1">
                  <a:latin typeface="맑은 고딕"/>
                  <a:ea typeface="맑은 고딕"/>
                </a:rPr>
                <a:t>카닥</a:t>
              </a:r>
              <a:endParaRPr lang="ko-KR" altLang="en-US" sz="15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endParaRPr lang="ko-KR" altLang="en-US" sz="1500" b="1"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400" b="1">
                  <a:solidFill>
                    <a:srgbClr val="000000"/>
                  </a:solidFill>
                  <a:latin typeface="맑은 고딕"/>
                  <a:ea typeface="맑은 고딕"/>
                </a:rPr>
                <a:t>자동차 수리</a:t>
              </a:r>
              <a:endParaRPr lang="ko-KR" altLang="en-US" sz="14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" name="가로 글상자 30"/>
            <p:cNvSpPr txBox="1"/>
            <p:nvPr/>
          </p:nvSpPr>
          <p:spPr>
            <a:xfrm>
              <a:off x="3082190" y="3525084"/>
              <a:ext cx="4572000" cy="81641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다음</a:t>
              </a:r>
              <a:r>
                <a:rPr xmlns:mc="http://schemas.openxmlformats.org/markup-compatibility/2006" xmlns:hp="http://schemas.haansoft.com/office/presentation/8.0" kumimoji="0" lang="en-US" altLang="ko-KR" sz="1200" b="1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(Daum)</a:t>
              </a:r>
              <a:r>
                <a: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 사내벤처조직 </a:t>
              </a:r>
              <a:r>
                <a:rPr xmlns:mc="http://schemas.openxmlformats.org/markup-compatibility/2006" xmlns:hp="http://schemas.haansoft.com/office/presentation/8.0" kumimoji="0" lang="en-US" altLang="ko-KR" sz="1200" b="1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NIS</a:t>
              </a:r>
              <a:r>
                <a: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에서 탄생한 카닥</a:t>
              </a:r>
              <a:r>
                <a:rPr xmlns:mc="http://schemas.openxmlformats.org/markup-compatibility/2006" xmlns:hp="http://schemas.haansoft.com/office/presentation/8.0" kumimoji="0" lang="en-US" altLang="ko-KR" sz="1200" b="1" i="0" u="none" strike="noStrike" kern="1200" cap="none" spc="0" normalizeH="0" baseline="0" mc:Ignorable="hp" hp:hslEmbossed="0">
                  <a:solidFill>
                    <a:srgbClr val="000000"/>
                  </a:solidFill>
                  <a:latin typeface="맑은 고딕"/>
                  <a:ea typeface="맑은 고딕"/>
                  <a:cs typeface="+mj-cs"/>
                </a:rPr>
                <a:t>(cardoc)</a:t>
              </a:r>
              <a:endParaRPr xmlns:mc="http://schemas.openxmlformats.org/markup-compatibility/2006" xmlns:hp="http://schemas.haansoft.com/office/presentation/8.0" kumimoji="0" lang="en-US" altLang="ko-KR" sz="1200" b="1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+mj-cs"/>
              </a:endParaRPr>
            </a:p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endParaRPr xmlns:mc="http://schemas.openxmlformats.org/markup-compatibility/2006" xmlns:hp="http://schemas.haansoft.com/office/presentation/8.0" kumimoji="0" lang="en-US" altLang="ko-KR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+mj-cs"/>
              </a:endParaRPr>
            </a:p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en-US" altLang="ko-KR" sz="12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ea typeface="맑은 고딕"/>
                  <a:cs typeface="+mj-cs"/>
                </a:rPr>
                <a:t>→ </a:t>
              </a:r>
              <a:r>
                <a: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ea typeface="맑은 고딕"/>
                  <a:cs typeface="+mj-cs"/>
                </a:rPr>
                <a:t>대기업 역시 빠르게 변화하는 사회에 적응하기 위해 </a:t>
              </a:r>
              <a:endPara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  <a:cs typeface="+mj-cs"/>
              </a:endParaRPr>
            </a:p>
            <a:p>
              <a:pPr marL="0" lvl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xmlns:mc="http://schemas.openxmlformats.org/markup-compatibility/2006" xmlns:hp="http://schemas.haansoft.com/office/presentation/8.0" kumimoji="0" lang="en-US" altLang="ko-KR" sz="12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ea typeface="맑은 고딕"/>
                  <a:cs typeface="+mj-cs"/>
                </a:rPr>
                <a:t>    </a:t>
              </a:r>
              <a:r>
                <a: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  <a:solidFill>
                    <a:srgbClr val="ff0000"/>
                  </a:solidFill>
                  <a:latin typeface="맑은 고딕"/>
                  <a:ea typeface="맑은 고딕"/>
                  <a:cs typeface="+mj-cs"/>
                </a:rPr>
                <a:t>린 스타트업 적극적 도입</a:t>
              </a:r>
              <a:endParaRPr xmlns:mc="http://schemas.openxmlformats.org/markup-compatibility/2006" xmlns:hp="http://schemas.haansoft.com/office/presentation/8.0" kumimoji="0" lang="ko-KR" altLang="en-US" sz="12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9674564"/>
      </p:ext>
    </p:extLst>
  </p:cSld>
  <p:clrMapOvr>
    <a:masterClrMapping/>
  </p:clrMapOvr>
</p:sld>
</file>

<file path=ppt/slides/slide8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439209" y="1085668"/>
            <a:ext cx="8265582" cy="3765528"/>
          </a:xfrm>
        </p:spPr>
        <p:txBody>
          <a:bodyPr/>
          <a:p>
            <a:pPr marL="214200" lvl="0" indent="-214200">
              <a:lnSpc>
                <a:spcPct val="150000"/>
              </a:lnSpc>
              <a:buFont typeface="Wingdings"/>
              <a:buChar char="§"/>
              <a:defRPr/>
            </a:pP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1.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altLang="ko-KR" sz="1500" b="1">
                <a:solidFill>
                  <a:srgbClr val="ff0000"/>
                </a:solidFill>
                <a:latin typeface="맑은 고딕"/>
                <a:ea typeface="맑은 고딕"/>
              </a:rPr>
              <a:t>MVT(</a:t>
            </a: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Minimum Viable Testing</a:t>
            </a:r>
            <a:r>
              <a:rPr lang="en-US" altLang="ko-KR" sz="1500" b="1">
                <a:solidFill>
                  <a:srgbClr val="ff0000"/>
                </a:solidFill>
                <a:latin typeface="맑은 고딕"/>
                <a:ea typeface="맑은 고딕"/>
              </a:rPr>
              <a:t>) 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최소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기능 검증 확인</a:t>
            </a:r>
            <a:b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</a:rPr>
              <a:t>2.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프로덕트 마켓 핏</a:t>
            </a:r>
            <a:r>
              <a:rPr lang="en-US" altLang="ko-KR" sz="1500" b="1">
                <a:solidFill>
                  <a:srgbClr val="ff0000"/>
                </a:solidFill>
                <a:latin typeface="맑은 고딕"/>
                <a:ea typeface="맑은 고딕"/>
              </a:rPr>
              <a:t>(Product Market Fit)</a:t>
            </a:r>
            <a: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  <a:t> 확인</a:t>
            </a:r>
            <a:br>
              <a:rPr lang="ko-KR" altLang="en-US" sz="1500" b="1">
                <a:solidFill>
                  <a:srgbClr val="ff0000"/>
                </a:solidFill>
                <a:latin typeface="맑은 고딕"/>
                <a:ea typeface="맑은 고딕"/>
              </a:rPr>
            </a:br>
            <a:br>
              <a:rPr lang="ko-KR" altLang="en-US" sz="1500">
                <a:solidFill>
                  <a:srgbClr val="000000"/>
                </a:solidFill>
                <a:ea typeface="맑은 고딕"/>
              </a:rPr>
            </a:br>
            <a:r>
              <a:rPr lang="en-US" altLang="ko-KR" sz="1500">
                <a:solidFill>
                  <a:srgbClr val="000000"/>
                </a:solidFill>
                <a:ea typeface="맑은 고딕"/>
              </a:rPr>
              <a:t>-</a:t>
            </a:r>
            <a:r>
              <a:rPr lang="ko-KR" altLang="en-US" sz="1500">
                <a:solidFill>
                  <a:srgbClr val="000000"/>
                </a:solidFill>
                <a:ea typeface="맑은 고딕"/>
              </a:rPr>
              <a:t> 기술 발전력이 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끊임없이 변화하고 있고 속도도 너무 빠르므로</a:t>
            </a:r>
            <a:r>
              <a:rPr lang="en-US" altLang="ko-KR" sz="1500">
                <a:solidFill>
                  <a:srgbClr val="000000"/>
                </a:solidFill>
                <a:ea typeface="맑은 고딕"/>
              </a:rPr>
              <a:t> </a:t>
            </a:r>
            <a:br>
              <a:rPr lang="ko-KR" altLang="en-US" sz="1500">
                <a:solidFill>
                  <a:srgbClr val="000000"/>
                </a:solidFill>
                <a:ea typeface="맑은 고딕"/>
              </a:rPr>
            </a:br>
            <a:r>
              <a:rPr lang="ko-KR" altLang="en-US" sz="1500">
                <a:solidFill>
                  <a:srgbClr val="000000"/>
                </a:solidFill>
                <a:ea typeface="맑은 고딕"/>
              </a:rPr>
              <a:t>  </a:t>
            </a:r>
            <a:r>
              <a:rPr lang="ko-KR" altLang="en-US" sz="1500" b="1" u="sng">
                <a:solidFill>
                  <a:srgbClr val="3a3c84"/>
                </a:solidFill>
                <a:latin typeface="맑은 고딕"/>
                <a:ea typeface="맑은 고딕"/>
              </a:rPr>
              <a:t>가상의 물건을 소비자에게 꼭 팔아봐야 한다</a:t>
            </a:r>
            <a:br>
              <a:rPr lang="ko-KR" altLang="en-US" sz="1500" b="1" u="sng">
                <a:solidFill>
                  <a:srgbClr val="3a3c84"/>
                </a:solidFill>
                <a:ea typeface="맑은 고딕"/>
              </a:rPr>
            </a:br>
            <a:br>
              <a:rPr lang="ko-KR" altLang="en-US" sz="1500">
                <a:solidFill>
                  <a:srgbClr val="000000"/>
                </a:solidFill>
                <a:ea typeface="맑은 고딕"/>
              </a:rPr>
            </a:br>
            <a:r>
              <a:rPr lang="en-US" altLang="ko-KR" sz="1500">
                <a:solidFill>
                  <a:srgbClr val="000000"/>
                </a:solidFill>
                <a:ea typeface="맑은 고딕"/>
              </a:rPr>
              <a:t>-</a:t>
            </a:r>
            <a:r>
              <a:rPr lang="ko-KR" altLang="en-US" sz="1500">
                <a:solidFill>
                  <a:srgbClr val="000000"/>
                </a:solidFill>
                <a:ea typeface="맑은 고딕"/>
              </a:rPr>
              <a:t> 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실제 팔아봐야 개발할 때 </a:t>
            </a:r>
            <a:r>
              <a:rPr lang="ko-KR" altLang="en-US" sz="1500" b="1">
                <a:solidFill>
                  <a:srgbClr val="ff6600"/>
                </a:solidFill>
                <a:latin typeface="맑은 고딕"/>
                <a:ea typeface="맑은 고딕"/>
              </a:rPr>
              <a:t>어떤 방식으로 개발을 최적화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 할 수 있을지 알 수 있다</a:t>
            </a:r>
            <a:br>
              <a:rPr lang="ko-KR" altLang="en-US" sz="1500">
                <a:solidFill>
                  <a:srgbClr val="000000"/>
                </a:solidFill>
                <a:ea typeface="맑은 고딕"/>
              </a:rPr>
            </a:br>
            <a:br>
              <a:rPr lang="ko-KR" altLang="en-US" sz="1500">
                <a:solidFill>
                  <a:srgbClr val="000000"/>
                </a:solidFill>
                <a:ea typeface="맑은 고딕"/>
              </a:rPr>
            </a:br>
            <a:r>
              <a:rPr lang="en-US" altLang="ko-KR" sz="1500">
                <a:solidFill>
                  <a:srgbClr val="000000"/>
                </a:solidFill>
                <a:ea typeface="맑은 고딕"/>
              </a:rPr>
              <a:t>-</a:t>
            </a:r>
            <a:r>
              <a:rPr lang="ko-KR" altLang="en-US" sz="1500">
                <a:solidFill>
                  <a:srgbClr val="000000"/>
                </a:solidFill>
                <a:ea typeface="맑은 고딕"/>
              </a:rPr>
              <a:t> 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상상과 현실의 갭이 줄어들어 </a:t>
            </a:r>
            <a:r>
              <a:rPr lang="ko-KR" altLang="en-US" sz="1500" b="1">
                <a:solidFill>
                  <a:schemeClr val="dk1"/>
                </a:solidFill>
                <a:latin typeface="맑은 고딕"/>
                <a:ea typeface="맑은 고딕"/>
              </a:rPr>
              <a:t>보다 현실적인 앱을 개발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</a:rPr>
              <a:t>할 수 있다</a:t>
            </a:r>
            <a:br>
              <a:rPr lang="ko-KR" altLang="en-US" sz="1500">
                <a:solidFill>
                  <a:srgbClr val="000000"/>
                </a:solidFill>
                <a:ea typeface="맑은 고딕"/>
              </a:rPr>
            </a:br>
            <a:endParaRPr lang="ko-KR" altLang="en-US" sz="1500">
              <a:solidFill>
                <a:srgbClr val="000000"/>
              </a:solidFill>
              <a:ea typeface="맑은 고딕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323849" y="178576"/>
            <a:ext cx="8477249" cy="704838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10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.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MVP 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만들기 전 꼭 해야 할 것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31491491"/>
      </p:ext>
    </p:extLst>
  </p:cSld>
  <p:clrMapOvr>
    <a:masterClrMapping/>
  </p:clrMapOvr>
</p:sld>
</file>

<file path=ppt/slides/slide8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"/>
          <p:cNvGrpSpPr/>
          <p:nvPr/>
        </p:nvGrpSpPr>
        <p:grpSpPr>
          <a:xfrm rot="0">
            <a:off x="567971" y="1198436"/>
            <a:ext cx="7935093" cy="3658810"/>
            <a:chOff x="567971" y="1198436"/>
            <a:chExt cx="7935093" cy="3658810"/>
          </a:xfrm>
        </p:grpSpPr>
        <p:sp>
          <p:nvSpPr>
            <p:cNvPr id="19" name="모서리가 둥근 직사각형 18"/>
            <p:cNvSpPr/>
            <p:nvPr/>
          </p:nvSpPr>
          <p:spPr>
            <a:xfrm>
              <a:off x="6577905" y="1823357"/>
              <a:ext cx="1925159" cy="3033889"/>
            </a:xfrm>
            <a:prstGeom prst="roundRect">
              <a:avLst>
                <a:gd name="adj" fmla="val 8854"/>
              </a:avLst>
            </a:prstGeom>
            <a:solidFill>
              <a:schemeClr val="lt1"/>
            </a:solidFill>
            <a:ln>
              <a:solidFill>
                <a:srgbClr val="783e94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5" name="오각형 19"/>
            <p:cNvSpPr/>
            <p:nvPr/>
          </p:nvSpPr>
          <p:spPr>
            <a:xfrm rot="5400000">
              <a:off x="7149909" y="3760072"/>
              <a:ext cx="781151" cy="1237519"/>
            </a:xfrm>
            <a:prstGeom prst="homePlate">
              <a:avLst>
                <a:gd name="adj" fmla="val 50000"/>
              </a:avLst>
            </a:prstGeom>
            <a:solidFill>
              <a:srgbClr val="ebdef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6" name="가로 글상자 20"/>
            <p:cNvSpPr txBox="1"/>
            <p:nvPr/>
          </p:nvSpPr>
          <p:spPr>
            <a:xfrm>
              <a:off x="6993566" y="4025175"/>
              <a:ext cx="1073452" cy="421095"/>
            </a:xfrm>
            <a:prstGeom prst="rect">
              <a:avLst/>
            </a:prstGeom>
            <a:solidFill>
              <a:srgbClr val="ebdef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1100" b="1">
                  <a:solidFill>
                    <a:schemeClr val="lt1"/>
                  </a:solidFill>
                  <a:latin typeface="맑은 고딕"/>
                  <a:ea typeface="맑은 고딕"/>
                </a:rPr>
                <a:t>3</a:t>
              </a:r>
              <a:r>
                <a:rPr lang="ko-KR" altLang="en-US" sz="1100" b="1">
                  <a:solidFill>
                    <a:schemeClr val="lt1"/>
                  </a:solidFill>
                  <a:latin typeface="맑은 고딕"/>
                  <a:ea typeface="맑은 고딕"/>
                </a:rPr>
                <a:t>차로 </a:t>
              </a:r>
              <a:endParaRPr lang="ko-KR" altLang="en-US" sz="1100" b="1">
                <a:solidFill>
                  <a:schemeClr val="lt1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100" b="1">
                  <a:solidFill>
                    <a:schemeClr val="lt1"/>
                  </a:solidFill>
                  <a:latin typeface="맑은 고딕"/>
                  <a:ea typeface="맑은 고딕"/>
                </a:rPr>
                <a:t>추려낸 리스크</a:t>
              </a:r>
              <a:endParaRPr lang="ko-KR" altLang="en-US" sz="1100" b="1">
                <a:solidFill>
                  <a:schemeClr val="lt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9" name="오각형 19"/>
            <p:cNvSpPr/>
            <p:nvPr/>
          </p:nvSpPr>
          <p:spPr>
            <a:xfrm rot="5400000">
              <a:off x="7147390" y="3045643"/>
              <a:ext cx="786190" cy="1237519"/>
            </a:xfrm>
            <a:prstGeom prst="homePlate">
              <a:avLst>
                <a:gd name="adj" fmla="val 50000"/>
              </a:avLst>
            </a:prstGeom>
            <a:solidFill>
              <a:srgbClr val="d8bee4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0" name="가로 글상자 20"/>
            <p:cNvSpPr txBox="1"/>
            <p:nvPr/>
          </p:nvSpPr>
          <p:spPr>
            <a:xfrm>
              <a:off x="6993567" y="3308465"/>
              <a:ext cx="1073452" cy="423430"/>
            </a:xfrm>
            <a:prstGeom prst="rect">
              <a:avLst/>
            </a:prstGeom>
            <a:solidFill>
              <a:srgbClr val="d8bee4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1100" b="1">
                  <a:solidFill>
                    <a:schemeClr val="lt1"/>
                  </a:solidFill>
                  <a:latin typeface="맑은 고딕"/>
                  <a:ea typeface="맑은 고딕"/>
                </a:rPr>
                <a:t>2</a:t>
              </a:r>
              <a:r>
                <a:rPr lang="ko-KR" altLang="en-US" sz="1100" b="1">
                  <a:solidFill>
                    <a:schemeClr val="lt1"/>
                  </a:solidFill>
                  <a:latin typeface="맑은 고딕"/>
                  <a:ea typeface="맑은 고딕"/>
                </a:rPr>
                <a:t>차로 </a:t>
              </a:r>
              <a:endParaRPr lang="ko-KR" altLang="en-US" sz="1100" b="1">
                <a:solidFill>
                  <a:schemeClr val="lt1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100" b="1">
                  <a:solidFill>
                    <a:schemeClr val="lt1"/>
                  </a:solidFill>
                  <a:latin typeface="맑은 고딕"/>
                  <a:ea typeface="맑은 고딕"/>
                </a:rPr>
                <a:t>추려낸 리스크</a:t>
              </a:r>
              <a:endParaRPr lang="ko-KR" altLang="en-US" sz="1100" b="1">
                <a:solidFill>
                  <a:schemeClr val="lt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2746324" y="1823357"/>
              <a:ext cx="3547937" cy="3033889"/>
            </a:xfrm>
            <a:prstGeom prst="roundRect">
              <a:avLst>
                <a:gd name="adj" fmla="val 7291"/>
              </a:avLst>
            </a:prstGeom>
            <a:solidFill>
              <a:schemeClr val="lt1"/>
            </a:solidFill>
            <a:ln>
              <a:solidFill>
                <a:srgbClr val="783e94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5" name="오각형 4"/>
            <p:cNvSpPr/>
            <p:nvPr/>
          </p:nvSpPr>
          <p:spPr>
            <a:xfrm>
              <a:off x="567971" y="1198436"/>
              <a:ext cx="1987029" cy="388055"/>
            </a:xfrm>
            <a:prstGeom prst="homePlate">
              <a:avLst>
                <a:gd name="adj" fmla="val 50000"/>
              </a:avLst>
            </a:prstGeom>
            <a:solidFill>
              <a:srgbClr val="783e94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ko-KR" altLang="en-US" sz="1500" b="1">
                  <a:solidFill>
                    <a:schemeClr val="lt1"/>
                  </a:solidFill>
                  <a:latin typeface="맑은 고딕"/>
                  <a:ea typeface="맑은 고딕"/>
                </a:rPr>
                <a:t>가치 제안</a:t>
              </a:r>
              <a:endParaRPr lang="ko-KR" altLang="en-US" sz="1500" b="1">
                <a:solidFill>
                  <a:schemeClr val="lt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" name="갈매기형 수장 5"/>
            <p:cNvSpPr/>
            <p:nvPr/>
          </p:nvSpPr>
          <p:spPr>
            <a:xfrm>
              <a:off x="2555001" y="1198436"/>
              <a:ext cx="3885626" cy="388055"/>
            </a:xfrm>
            <a:prstGeom prst="chevron">
              <a:avLst>
                <a:gd name="adj" fmla="val 50000"/>
              </a:avLst>
            </a:prstGeom>
            <a:solidFill>
              <a:srgbClr val="c49dd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r>
                <a:rPr lang="ko-KR" altLang="en-US" sz="1500" b="1">
                  <a:solidFill>
                    <a:schemeClr val="tx1"/>
                  </a:solidFill>
                  <a:latin typeface="맑은 고딕"/>
                  <a:ea typeface="맑은 고딕"/>
                </a:rPr>
                <a:t>리스크 검증</a:t>
              </a:r>
              <a:endParaRPr lang="ko-KR" altLang="en-US" sz="1500" b="1">
                <a:solidFill>
                  <a:schemeClr val="tx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" name="갈매기형 수장 6"/>
            <p:cNvSpPr/>
            <p:nvPr/>
          </p:nvSpPr>
          <p:spPr>
            <a:xfrm>
              <a:off x="6440627" y="1198436"/>
              <a:ext cx="2062437" cy="388055"/>
            </a:xfrm>
            <a:prstGeom prst="chevron">
              <a:avLst>
                <a:gd name="adj" fmla="val 50000"/>
              </a:avLst>
            </a:prstGeom>
            <a:solidFill>
              <a:srgbClr val="d8bee4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500" b="1">
                  <a:solidFill>
                    <a:schemeClr val="tx1"/>
                  </a:solidFill>
                  <a:latin typeface="맑은 고딕"/>
                  <a:ea typeface="맑은 고딕"/>
                </a:rPr>
                <a:t>최소 단위 검증</a:t>
              </a:r>
              <a:endParaRPr lang="ko-KR" altLang="en-US" sz="1500" b="1">
                <a:solidFill>
                  <a:schemeClr val="tx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567971" y="1823357"/>
              <a:ext cx="1925159" cy="3033889"/>
            </a:xfrm>
            <a:prstGeom prst="roundRect">
              <a:avLst>
                <a:gd name="adj" fmla="val 8854"/>
              </a:avLst>
            </a:prstGeom>
            <a:solidFill>
              <a:schemeClr val="lt1"/>
            </a:solidFill>
            <a:ln>
              <a:solidFill>
                <a:srgbClr val="783e94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29896" y="2052600"/>
              <a:ext cx="1597579" cy="443058"/>
            </a:xfrm>
            <a:prstGeom prst="roundRect">
              <a:avLst>
                <a:gd name="adj" fmla="val 16667"/>
              </a:avLst>
            </a:prstGeom>
            <a:solidFill>
              <a:srgbClr val="d3d3eb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400" b="1">
                  <a:solidFill>
                    <a:srgbClr val="000000"/>
                  </a:solidFill>
                  <a:latin typeface="맑은 고딕"/>
                  <a:ea typeface="맑은 고딕"/>
                </a:rPr>
                <a:t>핵심 가치</a:t>
              </a:r>
              <a:endParaRPr lang="ko-KR" altLang="en-US" sz="14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802360" y="2731282"/>
              <a:ext cx="443058" cy="443058"/>
            </a:xfrm>
            <a:prstGeom prst="rect">
              <a:avLst/>
            </a:prstGeom>
          </p:spPr>
        </p:pic>
        <p:sp>
          <p:nvSpPr>
            <p:cNvPr id="13" name="모서리가 둥근 직사각형 12"/>
            <p:cNvSpPr/>
            <p:nvPr/>
          </p:nvSpPr>
          <p:spPr>
            <a:xfrm>
              <a:off x="1378999" y="2731282"/>
              <a:ext cx="948477" cy="44305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100" b="1">
                  <a:solidFill>
                    <a:srgbClr val="000000"/>
                  </a:solidFill>
                  <a:latin typeface="맑은 고딕"/>
                  <a:ea typeface="맑은 고딕"/>
                </a:rPr>
                <a:t>메세지</a:t>
              </a:r>
              <a:endParaRPr lang="ko-KR" altLang="en-US" sz="11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100" b="1">
                  <a:solidFill>
                    <a:srgbClr val="000000"/>
                  </a:solidFill>
                  <a:latin typeface="맑은 고딕"/>
                  <a:ea typeface="맑은 고딕"/>
                </a:rPr>
                <a:t>전송</a:t>
              </a:r>
              <a:endParaRPr lang="ko-KR" altLang="en-US" sz="11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615596" y="3433425"/>
              <a:ext cx="873417" cy="423864"/>
            </a:xfrm>
            <a:prstGeom prst="rect">
              <a:avLst/>
            </a:prstGeom>
          </p:spPr>
        </p:pic>
        <p:sp>
          <p:nvSpPr>
            <p:cNvPr id="15" name="모서리가 둥근 직사각형 14"/>
            <p:cNvSpPr/>
            <p:nvPr/>
          </p:nvSpPr>
          <p:spPr>
            <a:xfrm>
              <a:off x="1378999" y="3414230"/>
              <a:ext cx="948477" cy="44305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100" b="1">
                  <a:solidFill>
                    <a:srgbClr val="000000"/>
                  </a:solidFill>
                  <a:latin typeface="맑은 고딕"/>
                  <a:ea typeface="맑은 고딕"/>
                </a:rPr>
                <a:t>비대면</a:t>
              </a:r>
              <a:endParaRPr lang="ko-KR" altLang="en-US" sz="11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100" b="1">
                  <a:solidFill>
                    <a:srgbClr val="000000"/>
                  </a:solidFill>
                  <a:latin typeface="맑은 고딕"/>
                  <a:ea typeface="맑은 고딕"/>
                </a:rPr>
                <a:t>렌트</a:t>
              </a:r>
              <a:endParaRPr lang="ko-KR" altLang="en-US" sz="11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850352" y="4092632"/>
              <a:ext cx="452680" cy="452680"/>
            </a:xfrm>
            <a:prstGeom prst="rect">
              <a:avLst/>
            </a:prstGeom>
          </p:spPr>
        </p:pic>
        <p:sp>
          <p:nvSpPr>
            <p:cNvPr id="17" name="모서리가 둥근 직사각형 16"/>
            <p:cNvSpPr/>
            <p:nvPr/>
          </p:nvSpPr>
          <p:spPr>
            <a:xfrm>
              <a:off x="1378999" y="4102254"/>
              <a:ext cx="948477" cy="44305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100" b="1">
                  <a:solidFill>
                    <a:srgbClr val="000000"/>
                  </a:solidFill>
                  <a:latin typeface="맑은 고딕"/>
                  <a:ea typeface="맑은 고딕"/>
                </a:rPr>
                <a:t>택시</a:t>
              </a:r>
              <a:endParaRPr lang="ko-KR" altLang="en-US" sz="1100" b="1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100" b="1">
                  <a:solidFill>
                    <a:srgbClr val="000000"/>
                  </a:solidFill>
                  <a:latin typeface="맑은 고딕"/>
                  <a:ea typeface="맑은 고딕"/>
                </a:rPr>
                <a:t>예약</a:t>
              </a:r>
              <a:endParaRPr lang="ko-KR" altLang="en-US" sz="11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0" name="오각형 19"/>
            <p:cNvSpPr/>
            <p:nvPr/>
          </p:nvSpPr>
          <p:spPr>
            <a:xfrm rot="5400000">
              <a:off x="7195267" y="2368005"/>
              <a:ext cx="690436" cy="1237519"/>
            </a:xfrm>
            <a:prstGeom prst="homePlate">
              <a:avLst>
                <a:gd name="adj" fmla="val 50000"/>
              </a:avLst>
            </a:prstGeom>
            <a:solidFill>
              <a:srgbClr val="9d5cbb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7" name="가로 글상자 20"/>
            <p:cNvSpPr txBox="1"/>
            <p:nvPr/>
          </p:nvSpPr>
          <p:spPr>
            <a:xfrm>
              <a:off x="6993567" y="2661594"/>
              <a:ext cx="1073452" cy="4226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1100" b="1">
                  <a:solidFill>
                    <a:schemeClr val="lt1"/>
                  </a:solidFill>
                  <a:latin typeface="맑은 고딕"/>
                  <a:ea typeface="맑은 고딕"/>
                </a:rPr>
                <a:t>1</a:t>
              </a:r>
              <a:r>
                <a:rPr lang="ko-KR" altLang="en-US" sz="1100" b="1">
                  <a:solidFill>
                    <a:schemeClr val="lt1"/>
                  </a:solidFill>
                  <a:latin typeface="맑은 고딕"/>
                  <a:ea typeface="맑은 고딕"/>
                </a:rPr>
                <a:t>차로 </a:t>
              </a:r>
              <a:endParaRPr lang="ko-KR" altLang="en-US" sz="1100" b="1">
                <a:solidFill>
                  <a:schemeClr val="lt1"/>
                </a:solidFill>
                <a:latin typeface="맑은 고딕"/>
                <a:ea typeface="맑은 고딕"/>
              </a:endParaRPr>
            </a:p>
            <a:p>
              <a:pPr lvl="0" algn="ctr">
                <a:defRPr/>
              </a:pPr>
              <a:r>
                <a:rPr lang="ko-KR" altLang="en-US" sz="1100" b="1">
                  <a:solidFill>
                    <a:schemeClr val="lt1"/>
                  </a:solidFill>
                  <a:latin typeface="맑은 고딕"/>
                  <a:ea typeface="맑은 고딕"/>
                </a:rPr>
                <a:t>추려낸 리스크</a:t>
              </a:r>
              <a:endParaRPr lang="ko-KR" altLang="en-US" sz="1100" b="1">
                <a:solidFill>
                  <a:schemeClr val="lt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" name="모서리가 둥근 직사각형 30"/>
            <p:cNvSpPr/>
            <p:nvPr/>
          </p:nvSpPr>
          <p:spPr>
            <a:xfrm>
              <a:off x="6731503" y="2052600"/>
              <a:ext cx="1597579" cy="443058"/>
            </a:xfrm>
            <a:prstGeom prst="roundRect">
              <a:avLst>
                <a:gd name="adj" fmla="val 16667"/>
              </a:avLst>
            </a:prstGeom>
            <a:solidFill>
              <a:srgbClr val="d3d3eb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ko-KR" altLang="en-US" sz="1400" b="1">
                  <a:solidFill>
                    <a:srgbClr val="000000"/>
                  </a:solidFill>
                  <a:latin typeface="맑은 고딕"/>
                  <a:ea typeface="맑은 고딕"/>
                </a:rPr>
                <a:t>실패를 최소화</a:t>
              </a:r>
              <a:endParaRPr lang="ko-KR" altLang="en-US" sz="14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4" name="Title 1"/>
          <p:cNvSpPr>
            <a:spLocks noGrp="1"/>
          </p:cNvSpPr>
          <p:nvPr/>
        </p:nvSpPr>
        <p:spPr>
          <a:xfrm>
            <a:off x="323849" y="178576"/>
            <a:ext cx="8477249" cy="704838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10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.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MVP 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만들기 전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MVT(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Minimum Viable Test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)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구축하기</a:t>
            </a:r>
            <a:endPara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2973295" y="1739511"/>
            <a:ext cx="3154871" cy="3579060"/>
          </a:xfrm>
        </p:spPr>
        <p:txBody>
          <a:bodyPr/>
          <a:p>
            <a:pPr marL="0" lvl="0" indent="0">
              <a:buNone/>
              <a:defRPr/>
            </a:pPr>
            <a:r>
              <a:rPr lang="en-US" altLang="ko-KR" sz="1000" b="1">
                <a:solidFill>
                  <a:srgbClr val="ff0000"/>
                </a:solidFill>
                <a:latin typeface="맑은 고딕"/>
                <a:ea typeface="맑은 고딕"/>
              </a:rPr>
              <a:t>1.</a:t>
            </a:r>
            <a:r>
              <a:rPr lang="ko-KR" altLang="en-US" sz="1000" b="1">
                <a:solidFill>
                  <a:srgbClr val="ff0000"/>
                </a:solidFill>
                <a:latin typeface="맑은 고딕"/>
                <a:ea typeface="맑은 고딕"/>
              </a:rPr>
              <a:t> 고객의 필요성 </a:t>
            </a: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  <a:t> 내가 원하는 서비스인지 고객이 원하는 서비스인지 명확히 해야 비전을 제대로 세울 수 있다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000" b="1">
                <a:solidFill>
                  <a:srgbClr val="ff0000"/>
                </a:solidFill>
                <a:latin typeface="맑은 고딕"/>
                <a:ea typeface="맑은 고딕"/>
              </a:rPr>
              <a:t>2.</a:t>
            </a:r>
            <a:r>
              <a:rPr lang="ko-KR" altLang="en-US" sz="1000" b="1">
                <a:solidFill>
                  <a:srgbClr val="ff0000"/>
                </a:solidFill>
                <a:latin typeface="맑은 고딕"/>
                <a:ea typeface="맑은 고딕"/>
              </a:rPr>
              <a:t> 기술적 실현성 여부</a:t>
            </a: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  <a:t>혁신을 잊어서는 안되지만 현실성도 반영해야 한다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000" b="1">
                <a:solidFill>
                  <a:srgbClr val="ff0000"/>
                </a:solidFill>
                <a:latin typeface="맑은 고딕"/>
                <a:ea typeface="맑은 고딕"/>
              </a:rPr>
              <a:t>3.</a:t>
            </a:r>
            <a:r>
              <a:rPr lang="ko-KR" altLang="en-US" sz="1000" b="1">
                <a:solidFill>
                  <a:srgbClr val="ff0000"/>
                </a:solidFill>
                <a:latin typeface="맑은 고딕"/>
                <a:ea typeface="맑은 고딕"/>
              </a:rPr>
              <a:t> 마케팅</a:t>
            </a: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  <a:t>누가 사고 어떻게 어디서 판매해야 하는지 꼭 확인해야 한다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000" b="1">
                <a:solidFill>
                  <a:srgbClr val="ff0000"/>
                </a:solidFill>
                <a:latin typeface="맑은 고딕"/>
                <a:ea typeface="맑은 고딕"/>
              </a:rPr>
              <a:t>4.</a:t>
            </a:r>
            <a:r>
              <a:rPr lang="ko-KR" altLang="en-US" sz="1000" b="1">
                <a:solidFill>
                  <a:srgbClr val="ff0000"/>
                </a:solidFill>
                <a:latin typeface="맑은 고딕"/>
                <a:ea typeface="맑은 고딕"/>
              </a:rPr>
              <a:t> 시장 규모</a:t>
            </a: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  <a:t> 시장에 없는 서비스라면 그럴만한 이유가 있다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000" b="1">
                <a:solidFill>
                  <a:srgbClr val="ff0000"/>
                </a:solidFill>
                <a:latin typeface="맑은 고딕"/>
                <a:ea typeface="맑은 고딕"/>
              </a:rPr>
              <a:t>5.</a:t>
            </a:r>
            <a:r>
              <a:rPr lang="ko-KR" altLang="en-US" sz="1000" b="1">
                <a:solidFill>
                  <a:srgbClr val="ff0000"/>
                </a:solidFill>
                <a:latin typeface="맑은 고딕"/>
                <a:ea typeface="맑은 고딕"/>
              </a:rPr>
              <a:t> 수익성</a:t>
            </a:r>
            <a:b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lang="ko-KR" altLang="en-US" sz="1000">
                <a:solidFill>
                  <a:srgbClr val="000000"/>
                </a:solidFill>
                <a:latin typeface="맑은 고딕"/>
                <a:ea typeface="맑은 고딕"/>
              </a:rPr>
              <a:t>고객이 실제 비용을 지불할 의사가 있는지 꼭 확인해야 한다</a:t>
            </a:r>
            <a:r>
              <a:rPr lang="en-US" altLang="ko-KR" sz="100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lang="ko-KR" altLang="en-US" sz="1300" b="1">
                <a:solidFill>
                  <a:srgbClr val="ff0000"/>
                </a:solidFill>
                <a:latin typeface="맑은 고딕"/>
                <a:ea typeface="맑은 고딕"/>
              </a:rPr>
            </a:br>
            <a:br>
              <a:rPr lang="ko-KR" altLang="en-US" sz="1300">
                <a:solidFill>
                  <a:srgbClr val="000000"/>
                </a:solidFill>
                <a:ea typeface="맑은 고딕"/>
              </a:rPr>
            </a:br>
            <a:endParaRPr lang="ko-KR" altLang="en-US" sz="1300">
              <a:solidFill>
                <a:srgbClr val="00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59528535"/>
      </p:ext>
    </p:extLst>
  </p:cSld>
  <p:clrMapOvr>
    <a:masterClrMapping/>
  </p:clrMapOvr>
</p:sld>
</file>

<file path=ppt/slides/slide8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323849" y="178576"/>
            <a:ext cx="8477249" cy="704838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10-1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. 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‘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요기요 그린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’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사용해보고 싶나요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?</a:t>
            </a:r>
            <a:endPara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5" name="모서리가 둥근 직사각형 4">
            <a:hlinkClick r:id="rId2"/>
          </p:cNvPr>
          <p:cNvSpPr/>
          <p:nvPr/>
        </p:nvSpPr>
        <p:spPr>
          <a:xfrm>
            <a:off x="6298771" y="1744887"/>
            <a:ext cx="1998497" cy="1223545"/>
          </a:xfrm>
          <a:prstGeom prst="roundRect">
            <a:avLst>
              <a:gd name="adj" fmla="val 16667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1000" b="1">
                <a:solidFill>
                  <a:srgbClr val="000000"/>
                </a:solidFill>
                <a:latin typeface="맑은 고딕"/>
                <a:ea typeface="맑은 고딕"/>
              </a:rPr>
              <a:t>미미미누 </a:t>
            </a:r>
            <a:endParaRPr lang="ko-KR" altLang="en-US" sz="10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ko-KR" altLang="en-US" sz="1000" b="1">
                <a:solidFill>
                  <a:srgbClr val="000000"/>
                </a:solidFill>
                <a:latin typeface="맑은 고딕"/>
                <a:ea typeface="맑은 고딕"/>
              </a:rPr>
              <a:t>요기요 그린 서비스</a:t>
            </a:r>
            <a:endParaRPr lang="ko-KR" altLang="en-US" sz="10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000" b="1">
                <a:solidFill>
                  <a:srgbClr val="000000"/>
                </a:solidFill>
                <a:latin typeface="맑은 고딕"/>
                <a:ea typeface="맑은 고딕"/>
              </a:rPr>
              <a:t>MVP</a:t>
            </a:r>
            <a:r>
              <a:rPr lang="ko-KR" altLang="en-US" sz="1000" b="1">
                <a:solidFill>
                  <a:srgbClr val="000000"/>
                </a:solidFill>
                <a:latin typeface="맑은 고딕"/>
                <a:ea typeface="맑은 고딕"/>
              </a:rPr>
              <a:t> 가능할까</a:t>
            </a:r>
            <a:r>
              <a:rPr lang="en-US" altLang="ko-KR" sz="1000" b="1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ko-KR" altLang="en-US" sz="1000" b="1">
                <a:solidFill>
                  <a:srgbClr val="000000"/>
                </a:solidFill>
                <a:latin typeface="맑은 고딕"/>
                <a:ea typeface="맑은 고딕"/>
                <a:hlinkClick r:id="rId2"/>
              </a:rPr>
              <a:t>요기요그린쇼츠</a:t>
            </a:r>
            <a:endParaRPr lang="ko-KR" altLang="en-US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8" name="직사각형 7"/>
          <p:cNvSpPr>
            <a:spLocks noGrp="1"/>
          </p:cNvSpPr>
          <p:nvPr/>
        </p:nvSpPr>
        <p:spPr>
          <a:xfrm>
            <a:off x="723523" y="883414"/>
            <a:ext cx="5434320" cy="4260086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 고객의 필요성 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내가 원하는 서비스인지 고객이 원하는 서비스인지 명확히 해야 비전을 제대로 세울 수 있다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 기술적 실현성 여부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혁신을 잊어서는 안되지만 현실성도 반영해야 한다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 마케팅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누가 사고 어떻게 어디서 판매해야 하는지 꼭 확인해야 한다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 시장 규모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시장에 없는 서비스라면 그럴만한 이유가 있다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5.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 수익성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고객이 실제 비용을 지불할 의사가 있는지 꼭 확인해야 한다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endParaRPr xmlns:mc="http://schemas.openxmlformats.org/markup-compatibility/2006" xmlns:hp="http://schemas.haansoft.com/office/presentation/8.0" kumimoji="0" lang="ko-KR" altLang="en-US" sz="1700" b="0" i="0" u="none" strike="noStrike" kern="1200" cap="none" spc="0" normalizeH="0" baseline="0" mc:Ignorable="hp" hp:hslEmbossed="0">
              <a:solidFill>
                <a:srgbClr val="00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165705528"/>
      </p:ext>
    </p:extLst>
  </p:cSld>
  <p:clrMapOvr>
    <a:masterClrMapping/>
  </p:clrMapOvr>
</p:sld>
</file>

<file path=ppt/slides/slide8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323849" y="178576"/>
            <a:ext cx="8477249" cy="704838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10-2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. 여러분은 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dk1"/>
                </a:solidFill>
                <a:latin typeface="맑은 고딕"/>
                <a:ea typeface="맑은 고딕"/>
              </a:rPr>
              <a:t>하나문철 카드</a:t>
            </a:r>
            <a:r>
              <a:rPr xmlns:mc="http://schemas.openxmlformats.org/markup-compatibility/2006" xmlns:hp="http://schemas.haansoft.com/office/presentation/8.0" kumimoji="0" lang="ko-KR" altLang="en-US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 만들고 싶나요</a:t>
            </a:r>
            <a:r>
              <a: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?</a:t>
            </a:r>
            <a:endParaRPr xmlns:mc="http://schemas.openxmlformats.org/markup-compatibility/2006" xmlns:hp="http://schemas.haansoft.com/office/presentation/8.0" kumimoji="0" lang="en-US" altLang="ko-KR" sz="28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sp>
        <p:nvSpPr>
          <p:cNvPr id="5" name="모서리가 둥근 직사각형 4">
            <a:hlinkClick r:id="rId2"/>
          </p:cNvPr>
          <p:cNvSpPr/>
          <p:nvPr/>
        </p:nvSpPr>
        <p:spPr>
          <a:xfrm>
            <a:off x="6298771" y="1744887"/>
            <a:ext cx="1998497" cy="1223545"/>
          </a:xfrm>
          <a:prstGeom prst="roundRect">
            <a:avLst>
              <a:gd name="adj" fmla="val 16667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1000" b="1">
                <a:solidFill>
                  <a:srgbClr val="000000"/>
                </a:solidFill>
                <a:latin typeface="맑은 고딕"/>
                <a:ea typeface="맑은 고딕"/>
              </a:rPr>
              <a:t>미미미누 </a:t>
            </a:r>
            <a:endParaRPr lang="ko-KR" altLang="en-US" sz="10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ko-KR" altLang="en-US" sz="1000" b="1">
                <a:solidFill>
                  <a:srgbClr val="000000"/>
                </a:solidFill>
                <a:latin typeface="맑은 고딕"/>
                <a:ea typeface="맑은 고딕"/>
              </a:rPr>
              <a:t>하나은행 콜라보 카드</a:t>
            </a:r>
            <a:endParaRPr lang="ko-KR" altLang="en-US" sz="10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000" b="1">
                <a:solidFill>
                  <a:srgbClr val="000000"/>
                </a:solidFill>
                <a:latin typeface="맑은 고딕"/>
                <a:ea typeface="맑은 고딕"/>
              </a:rPr>
              <a:t>‘</a:t>
            </a:r>
            <a:r>
              <a:rPr lang="ko-KR" altLang="en-US" sz="1000" b="1">
                <a:solidFill>
                  <a:srgbClr val="000000"/>
                </a:solidFill>
                <a:latin typeface="맑은 고딕"/>
                <a:ea typeface="맑은 고딕"/>
              </a:rPr>
              <a:t>하나문철 카드</a:t>
            </a:r>
            <a:r>
              <a:rPr lang="en-US" altLang="ko-KR" sz="1000" b="1">
                <a:solidFill>
                  <a:srgbClr val="000000"/>
                </a:solidFill>
                <a:latin typeface="맑은 고딕"/>
                <a:ea typeface="맑은 고딕"/>
              </a:rPr>
              <a:t>’</a:t>
            </a:r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000" b="1">
                <a:solidFill>
                  <a:srgbClr val="000000"/>
                </a:solidFill>
                <a:latin typeface="맑은 고딕"/>
                <a:ea typeface="맑은 고딕"/>
              </a:rPr>
              <a:t>MVP</a:t>
            </a:r>
            <a:r>
              <a:rPr lang="ko-KR" altLang="en-US" sz="1000" b="1">
                <a:solidFill>
                  <a:srgbClr val="000000"/>
                </a:solidFill>
                <a:latin typeface="맑은 고딕"/>
                <a:ea typeface="맑은 고딕"/>
              </a:rPr>
              <a:t> 성공할 수 있을까</a:t>
            </a:r>
            <a:r>
              <a:rPr lang="en-US" altLang="ko-KR" sz="1000" b="1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ctr">
              <a:defRPr/>
            </a:pPr>
            <a:r>
              <a:rPr lang="en-US" altLang="ko-KR" sz="1000" b="1">
                <a:solidFill>
                  <a:srgbClr val="000000"/>
                </a:solidFill>
                <a:latin typeface="맑은 고딕"/>
                <a:ea typeface="맑은 고딕"/>
                <a:hlinkClick r:id="rId3"/>
              </a:rPr>
              <a:t>12</a:t>
            </a:r>
            <a:r>
              <a:rPr lang="ko-KR" altLang="en-US" sz="1000" b="1">
                <a:solidFill>
                  <a:srgbClr val="000000"/>
                </a:solidFill>
                <a:latin typeface="맑은 고딕"/>
                <a:ea typeface="맑은 고딕"/>
                <a:hlinkClick r:id="rId3"/>
              </a:rPr>
              <a:t>분 </a:t>
            </a:r>
            <a:r>
              <a:rPr lang="en-US" altLang="ko-KR" sz="1000" b="1">
                <a:solidFill>
                  <a:srgbClr val="000000"/>
                </a:solidFill>
                <a:latin typeface="맑은 고딕"/>
                <a:ea typeface="맑은 고딕"/>
                <a:hlinkClick r:id="rId3"/>
              </a:rPr>
              <a:t>21</a:t>
            </a:r>
            <a:r>
              <a:rPr lang="ko-KR" altLang="en-US" sz="1000" b="1">
                <a:solidFill>
                  <a:srgbClr val="000000"/>
                </a:solidFill>
                <a:latin typeface="맑은 고딕"/>
                <a:ea typeface="맑은 고딕"/>
                <a:hlinkClick r:id="rId3"/>
              </a:rPr>
              <a:t>초 시작</a:t>
            </a:r>
            <a:endParaRPr lang="en-US" altLang="ko-KR" sz="1000" b="1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8" name="직사각형 7"/>
          <p:cNvSpPr>
            <a:spLocks noGrp="1"/>
          </p:cNvSpPr>
          <p:nvPr/>
        </p:nvSpPr>
        <p:spPr>
          <a:xfrm>
            <a:off x="598194" y="1114622"/>
            <a:ext cx="5593070" cy="3938336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1.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 고객의 필요성 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내가 원하는 서비스인지 고객이 원하는 서비스인지 명확히 해야 비전을 제대로 세울 수 있다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2.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 기술적 실현성 여부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혁신을 잊어서는 안되지만 현실성도 반영해야 한다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3.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 마케팅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누가 사고 어떻게 어디서 판매해야 하는지 꼭 확인해야 한다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4.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 시장 규모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 시장에 없는 서비스라면 그럴만한 이유가 있다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5.</a:t>
            </a:r>
            <a:r>
              <a:rPr xmlns:mc="http://schemas.openxmlformats.org/markup-compatibility/2006" xmlns:hp="http://schemas.haansoft.com/office/presentation/8.0" kumimoji="0" lang="ko-KR" altLang="en-US" sz="14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  <a:t> 수익성</a:t>
            </a:r>
            <a:b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고객이 실제 비용을 지불할 의사가 있는지 꼭 확인해야 한다</a:t>
            </a:r>
            <a:r>
              <a:rPr xmlns:mc="http://schemas.openxmlformats.org/markup-compatibility/2006" xmlns:hp="http://schemas.haansoft.com/office/presentation/8.0" kumimoji="0" lang="en-US" altLang="ko-KR" sz="1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  <a:br>
              <a:rPr xmlns:mc="http://schemas.openxmlformats.org/markup-compatibility/2006" xmlns:hp="http://schemas.haansoft.com/office/presentation/8.0" kumimoji="0" lang="ko-KR" altLang="en-US" sz="1300" b="1" i="0" u="none" strike="noStrike" kern="1200" cap="none" spc="0" normalizeH="0" baseline="0" mc:Ignorable="hp" hp:hslEmbossed="0">
                <a:solidFill>
                  <a:srgbClr val="ff0000"/>
                </a:solidFill>
                <a:latin typeface="맑은 고딕"/>
                <a:ea typeface="맑은 고딕"/>
              </a:rPr>
            </a:br>
            <a:br>
              <a: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  <a:solidFill>
                  <a:srgbClr val="000000"/>
                </a:solidFill>
                <a:ea typeface="맑은 고딕"/>
              </a:rPr>
            </a:br>
            <a:endParaRPr xmlns:mc="http://schemas.openxmlformats.org/markup-compatibility/2006" xmlns:hp="http://schemas.haansoft.com/office/presentation/8.0" kumimoji="0" lang="ko-KR" altLang="en-US" sz="1300" b="0" i="0" u="none" strike="noStrike" kern="1200" cap="none" spc="0" normalizeH="0" baseline="0" mc:Ignorable="hp" hp:hslEmbossed="0">
              <a:solidFill>
                <a:srgbClr val="000000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09209118"/>
      </p:ext>
    </p:extLst>
  </p:cSld>
  <p:clrMapOvr>
    <a:masterClrMapping/>
  </p:clrMapOvr>
</p:sld>
</file>

<file path=ppt/slides/slide8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06" y="390875"/>
            <a:ext cx="8320884" cy="476360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302720" lvl="0" indent="-342720">
              <a:lnSpc>
                <a:spcPct val="150000"/>
              </a:lnSpc>
              <a:buFont typeface="Wingdings"/>
              <a:buChar char="§"/>
              <a:defRPr/>
            </a:pPr>
            <a:r>
              <a:rPr lang="en-US" altLang="ko-KR" sz="1882" b="1">
                <a:solidFill>
                  <a:schemeClr val="accent1"/>
                </a:solidFill>
                <a:latin typeface="맑은 고딕"/>
                <a:ea typeface="맑은 고딕"/>
              </a:rPr>
              <a:t>UGC(User generated Content)</a:t>
            </a:r>
            <a:r>
              <a:rPr lang="en-US" altLang="ko-KR" sz="1600" b="1">
                <a:solidFill>
                  <a:schemeClr val="lt1"/>
                </a:solidFill>
                <a:latin typeface="맑은 고딕"/>
                <a:ea typeface="맑은 고딕"/>
              </a:rPr>
              <a:t>:</a:t>
            </a:r>
            <a:r>
              <a:rPr lang="ko-KR" altLang="en-US" sz="1600" b="1">
                <a:solidFill>
                  <a:schemeClr val="lt1"/>
                </a:solidFill>
                <a:latin typeface="맑은 고딕"/>
                <a:ea typeface="맑은 고딕"/>
              </a:rPr>
              <a:t> 사용자가 생성한 콘텐츠</a:t>
            </a:r>
            <a:endParaRPr lang="ko-KR" altLang="en-US" sz="1600" b="1">
              <a:solidFill>
                <a:schemeClr val="lt1"/>
              </a:solidFill>
              <a:latin typeface="맑은 고딕"/>
              <a:ea typeface="맑은 고딕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35170" y="1118868"/>
            <a:ext cx="2126387" cy="3416847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91509" y="1080768"/>
            <a:ext cx="2603055" cy="3490182"/>
          </a:xfrm>
          <a:prstGeom prst="rect">
            <a:avLst/>
          </a:prstGeom>
        </p:spPr>
      </p:pic>
      <p:sp>
        <p:nvSpPr>
          <p:cNvPr id="13" name="가로 글상자 12"/>
          <p:cNvSpPr txBox="1"/>
          <p:nvPr/>
        </p:nvSpPr>
        <p:spPr>
          <a:xfrm>
            <a:off x="1835170" y="4687469"/>
            <a:ext cx="2126388" cy="260551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1100" b="1">
                <a:latin typeface="맑은 고딕"/>
                <a:ea typeface="맑은 고딕"/>
              </a:rPr>
              <a:t>마켓컬리 </a:t>
            </a:r>
            <a:r>
              <a:rPr lang="en-US" altLang="ko-KR" sz="1100" b="1">
                <a:latin typeface="맑은 고딕"/>
                <a:ea typeface="맑은 고딕"/>
              </a:rPr>
              <a:t>:</a:t>
            </a:r>
            <a:r>
              <a:rPr lang="ko-KR" altLang="en-US" sz="1100" b="1">
                <a:latin typeface="맑은 고딕"/>
                <a:ea typeface="맑은 고딕"/>
              </a:rPr>
              <a:t> 컬리 로그</a:t>
            </a:r>
            <a:endParaRPr lang="ko-KR" altLang="en-US" sz="1100" b="1">
              <a:latin typeface="맑은 고딕"/>
              <a:ea typeface="맑은 고딕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4382762" y="4687469"/>
            <a:ext cx="2442608" cy="260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100" b="1">
                <a:latin typeface="맑은 고딕"/>
                <a:ea typeface="맑은 고딕"/>
              </a:rPr>
              <a:t>오늘의 집 크리에이터</a:t>
            </a:r>
            <a:endParaRPr lang="ko-KR" altLang="en-US" sz="1100" b="1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23648540"/>
      </p:ext>
    </p:extLst>
  </p:cSld>
  <p:clrMapOvr>
    <a:masterClrMapping/>
  </p:clrMapOvr>
</p:sld>
</file>

<file path=ppt/slides/slide8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>
          <a:xfrm>
            <a:off x="439209" y="1085668"/>
            <a:ext cx="8265582" cy="3765528"/>
          </a:xfrm>
        </p:spPr>
        <p:txBody>
          <a:bodyPr/>
          <a:p>
            <a:pPr marL="214200" lvl="0" indent="-214200">
              <a:lnSpc>
                <a:spcPct val="150000"/>
              </a:lnSpc>
              <a:buFont typeface="Wingdings"/>
              <a:buChar char="§"/>
              <a:defRPr/>
            </a:pP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</a:rPr>
              <a:t>1.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 고객의 니즈를 담은 </a:t>
            </a:r>
            <a:r>
              <a:rPr lang="ko-KR" altLang="en-US" sz="1400" b="1" u="sng">
                <a:solidFill>
                  <a:schemeClr val="dk1"/>
                </a:solidFill>
                <a:latin typeface="맑은 고딕"/>
                <a:ea typeface="맑은 고딕"/>
              </a:rPr>
              <a:t>프로덕트핏 인사이트를 무시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하고 개발사의 비전만을 중시한 것</a:t>
            </a: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</a:rPr>
              <a:t>2.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 고객의 피드백을 </a:t>
            </a:r>
            <a:r>
              <a:rPr lang="ko-KR" altLang="en-US" sz="1400" b="1" u="sng">
                <a:solidFill>
                  <a:schemeClr val="dk1"/>
                </a:solidFill>
                <a:latin typeface="맑은 고딕"/>
                <a:ea typeface="맑은 고딕"/>
              </a:rPr>
              <a:t>지나치게 반영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할 때</a:t>
            </a: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</a:rPr>
              <a:t>3.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 마켓 핏 찾기 전 이미 </a:t>
            </a:r>
            <a:r>
              <a:rPr lang="ko-KR" altLang="en-US" sz="1400" b="1" u="sng">
                <a:solidFill>
                  <a:srgbClr val="000000"/>
                </a:solidFill>
                <a:latin typeface="맑은 고딕"/>
                <a:ea typeface="맑은 고딕"/>
              </a:rPr>
              <a:t>조직이 불필요하게 커졌을 때</a:t>
            </a: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</a:rPr>
              <a:t>4.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 제품의 최소 가치 기능</a:t>
            </a: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최소 핵심 기능</a:t>
            </a: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 외 </a:t>
            </a:r>
            <a:r>
              <a:rPr lang="ko-KR" altLang="en-US" sz="1400" b="1" u="sng">
                <a:solidFill>
                  <a:srgbClr val="000000"/>
                </a:solidFill>
                <a:latin typeface="맑은 고딕"/>
                <a:ea typeface="맑은 고딕"/>
              </a:rPr>
              <a:t>다른 부가적 요소가 커졌을 때</a:t>
            </a:r>
            <a:br>
              <a:rPr lang="ko-KR" altLang="en-US" sz="1400" b="1" u="sng">
                <a:solidFill>
                  <a:srgbClr val="000000"/>
                </a:solidFill>
                <a:latin typeface="맑은 고딕"/>
                <a:ea typeface="맑은 고딕"/>
              </a:rPr>
            </a:br>
            <a:b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</a:b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</a:rPr>
              <a:t>5.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</a:rPr>
              <a:t>MVP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 개발 시 </a:t>
            </a:r>
            <a:r>
              <a:rPr lang="ko-KR" altLang="en-US" sz="1400" b="1" u="sng">
                <a:solidFill>
                  <a:srgbClr val="000000"/>
                </a:solidFill>
                <a:latin typeface="맑은 고딕"/>
                <a:ea typeface="맑은 고딕"/>
              </a:rPr>
              <a:t>과한 기술 부채</a:t>
            </a: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기존에 사용된 코드</a:t>
            </a:r>
            <a:r>
              <a:rPr lang="en-US" altLang="ko-KR" sz="140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  <a:r>
              <a:rPr lang="ko-KR" altLang="en-US" sz="1400">
                <a:solidFill>
                  <a:srgbClr val="000000"/>
                </a:solidFill>
                <a:latin typeface="맑은 고딕"/>
                <a:ea typeface="맑은 고딕"/>
              </a:rPr>
              <a:t>가 많아 차라리 다시 만드는게 더 빠를 때</a:t>
            </a:r>
            <a:br>
              <a:rPr lang="ko-KR" altLang="en-US" sz="1400">
                <a:solidFill>
                  <a:srgbClr val="000000"/>
                </a:solidFill>
                <a:ea typeface="맑은 고딕"/>
              </a:rPr>
            </a:br>
            <a:endParaRPr lang="ko-KR" altLang="en-US" sz="1400">
              <a:solidFill>
                <a:srgbClr val="000000"/>
              </a:solidFill>
              <a:ea typeface="맑은 고딕"/>
            </a:endParaRP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323849" y="283351"/>
            <a:ext cx="8477249" cy="704838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11</a:t>
            </a:r>
            <a:r>
              <a:rPr xmlns:mc="http://schemas.openxmlformats.org/markup-compatibility/2006" xmlns:hp="http://schemas.haansoft.com/office/presentation/8.0" kumimoji="0" lang="ko-KR" altLang="en-US" sz="30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. 잘못된 </a:t>
            </a:r>
            <a:r>
              <a: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  <a:solidFill>
                  <a:schemeClr val="accent6"/>
                </a:solidFill>
                <a:latin typeface="맑은 고딕"/>
                <a:ea typeface="맑은 고딕"/>
              </a:rPr>
              <a:t>MVP </a:t>
            </a:r>
            <a:endParaRPr xmlns:mc="http://schemas.openxmlformats.org/markup-compatibility/2006" xmlns:hp="http://schemas.haansoft.com/office/presentation/8.0" kumimoji="0" lang="en-US" altLang="ko-KR" sz="3000" b="1" i="0" u="none" strike="noStrike" kern="1200" cap="none" spc="0" normalizeH="0" baseline="0" mc:Ignorable="hp" hp:hslEmbossed="0">
              <a:solidFill>
                <a:schemeClr val="accent6"/>
              </a:solidFill>
              <a:latin typeface="맑은 고딕"/>
              <a:ea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887849">
            <a:off x="6921394" y="425337"/>
            <a:ext cx="1913756" cy="95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8639"/>
      </p:ext>
    </p:extLst>
  </p:cSld>
  <p:clrMapOvr>
    <a:masterClrMapping/>
  </p:clrMapOvr>
</p:sld>
</file>

<file path=ppt/slides/slide8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 sz="3000" b="1">
                <a:latin typeface="맑은 고딕"/>
                <a:ea typeface="맑은 고딕"/>
              </a:rPr>
              <a:t>성공하는 서비스를 위한 </a:t>
            </a:r>
            <a:br>
              <a:rPr lang="en-US" altLang="ko-KR" sz="3000" b="1">
                <a:latin typeface="맑은 고딕"/>
                <a:ea typeface="맑은 고딕"/>
              </a:rPr>
            </a:br>
            <a:r>
              <a:rPr lang="ko-KR" altLang="en-US" sz="3000" b="1">
                <a:latin typeface="맑은 고딕"/>
                <a:ea typeface="맑은 고딕"/>
              </a:rPr>
              <a:t>리서치</a:t>
            </a:r>
            <a:endParaRPr lang="ko-KR" altLang="en-US" sz="3000" b="1">
              <a:latin typeface="맑은 고딕"/>
              <a:ea typeface="맑은 고딕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sld>
</file>

<file path=ppt/slides/slide8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33375" y="452684"/>
            <a:ext cx="8477249" cy="704838"/>
          </a:xfrm>
        </p:spPr>
        <p:txBody>
          <a:bodyPr>
            <a:normAutofit/>
          </a:bodyPr>
          <a:p>
            <a:pPr lvl="0">
              <a:defRPr/>
            </a:pPr>
            <a:r>
              <a:rPr lang="en-US" altLang="ko-KR" sz="2800" b="1">
                <a:latin typeface="맑은 고딕"/>
                <a:ea typeface="맑은 고딕"/>
              </a:rPr>
              <a:t>1.</a:t>
            </a:r>
            <a:r>
              <a:rPr lang="ko-KR" altLang="en-US" sz="2800" b="1">
                <a:latin typeface="맑은 고딕"/>
                <a:ea typeface="맑은 고딕"/>
              </a:rPr>
              <a:t> 비즈니스 목표와 시장 이해하기</a:t>
            </a:r>
            <a:endParaRPr lang="ko-KR" altLang="en-US" sz="2800" b="1">
              <a:latin typeface="맑은 고딕"/>
              <a:ea typeface="맑은 고딕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5" y="1642533"/>
            <a:ext cx="8477249" cy="3720704"/>
          </a:xfrm>
        </p:spPr>
        <p:txBody>
          <a:bodyPr>
            <a:normAutofit/>
          </a:bodyPr>
          <a:p>
            <a:pPr marL="266700" lvl="0" indent="-30670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100">
                <a:latin typeface="맑은 고딕"/>
                <a:ea typeface="맑은 고딕"/>
              </a:rPr>
              <a:t>훌륭한 </a:t>
            </a:r>
            <a:r>
              <a:rPr lang="en-US" altLang="ko-KR" sz="2100">
                <a:latin typeface="맑은 고딕"/>
                <a:ea typeface="맑은 고딕"/>
              </a:rPr>
              <a:t>UX(</a:t>
            </a:r>
            <a:r>
              <a:rPr lang="ko-KR" altLang="en-US" sz="2100">
                <a:latin typeface="맑은 고딕"/>
                <a:ea typeface="맑은 고딕"/>
              </a:rPr>
              <a:t>사용자</a:t>
            </a:r>
            <a:r>
              <a:rPr lang="en-US" altLang="ko-KR" sz="2100">
                <a:latin typeface="맑은 고딕"/>
                <a:ea typeface="맑은 고딕"/>
              </a:rPr>
              <a:t> </a:t>
            </a:r>
            <a:r>
              <a:rPr lang="ko-KR" altLang="en-US" sz="2100">
                <a:latin typeface="맑은 고딕"/>
                <a:ea typeface="맑은 고딕"/>
              </a:rPr>
              <a:t>경험</a:t>
            </a:r>
            <a:r>
              <a:rPr lang="en-US" altLang="ko-KR" sz="2100">
                <a:latin typeface="맑은 고딕"/>
                <a:ea typeface="맑은 고딕"/>
              </a:rPr>
              <a:t>)</a:t>
            </a:r>
            <a:r>
              <a:rPr lang="ko-KR" altLang="en-US" sz="2100">
                <a:latin typeface="맑은 고딕"/>
                <a:ea typeface="맑은 고딕"/>
              </a:rPr>
              <a:t>은</a:t>
            </a:r>
            <a:r>
              <a:rPr lang="en-US" altLang="ko-KR" sz="2100">
                <a:latin typeface="맑은 고딕"/>
                <a:ea typeface="맑은 고딕"/>
              </a:rPr>
              <a:t> </a:t>
            </a:r>
            <a:r>
              <a:rPr lang="ko-KR" altLang="en-US" sz="2100">
                <a:latin typeface="맑은 고딕"/>
                <a:ea typeface="맑은 고딕"/>
              </a:rPr>
              <a:t> </a:t>
            </a:r>
            <a:r>
              <a:rPr lang="ko-KR" altLang="en-US" sz="2100" b="1">
                <a:solidFill>
                  <a:srgbClr val="ff0000"/>
                </a:solidFill>
                <a:latin typeface="맑은 고딕"/>
                <a:ea typeface="맑은 고딕"/>
              </a:rPr>
              <a:t>사용자의 니즈만족 </a:t>
            </a:r>
            <a:r>
              <a:rPr lang="en-US" altLang="ko-KR" sz="2100" b="1">
                <a:solidFill>
                  <a:srgbClr val="ff0000"/>
                </a:solidFill>
                <a:latin typeface="맑은 고딕"/>
                <a:ea typeface="맑은 고딕"/>
              </a:rPr>
              <a:t>+</a:t>
            </a:r>
            <a:r>
              <a:rPr lang="ko-KR" altLang="en-US" sz="2100" b="1">
                <a:solidFill>
                  <a:srgbClr val="ff0000"/>
                </a:solidFill>
                <a:latin typeface="맑은 고딕"/>
                <a:ea typeface="맑은 고딕"/>
              </a:rPr>
              <a:t> 이익의 원천</a:t>
            </a:r>
            <a:endParaRPr lang="ko-KR" altLang="en-US" sz="2100" b="1">
              <a:solidFill>
                <a:srgbClr val="ff0000"/>
              </a:solidFill>
              <a:latin typeface="맑은 고딕"/>
              <a:ea typeface="맑은 고딕"/>
            </a:endParaRPr>
          </a:p>
          <a:p>
            <a:pPr marL="266700" lvl="0" indent="-30670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100" u="sng">
                <a:latin typeface="맑은 고딕"/>
                <a:ea typeface="맑은 고딕"/>
              </a:rPr>
              <a:t>사용자를 만족시키면서 조직의 이익을 이끌어 내는 것</a:t>
            </a:r>
            <a:r>
              <a:rPr lang="ko-KR" altLang="en-US" sz="2100">
                <a:latin typeface="맑은 고딕"/>
                <a:ea typeface="맑은 고딕"/>
              </a:rPr>
              <a:t>이 서비스 기획자의 역할</a:t>
            </a:r>
            <a:endParaRPr lang="ko-KR" altLang="en-US" sz="2100">
              <a:latin typeface="맑은 고딕"/>
              <a:ea typeface="맑은 고딕"/>
            </a:endParaRPr>
          </a:p>
          <a:p>
            <a:pPr marL="266700" lvl="0" indent="-30670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100">
                <a:latin typeface="맑은 고딕"/>
                <a:ea typeface="맑은 고딕"/>
              </a:rPr>
              <a:t>명확한 프로젝트 목표 </a:t>
            </a:r>
            <a:r>
              <a:rPr lang="en-US" altLang="ko-KR" sz="2100">
                <a:latin typeface="맑은 고딕"/>
                <a:ea typeface="맑은 고딕"/>
              </a:rPr>
              <a:t>=</a:t>
            </a:r>
            <a:r>
              <a:rPr lang="ko-KR" altLang="en-US" sz="2100">
                <a:latin typeface="맑은 고딕"/>
                <a:ea typeface="맑은 고딕"/>
              </a:rPr>
              <a:t> </a:t>
            </a:r>
            <a:r>
              <a:rPr lang="ko-KR" altLang="en-US" sz="2100" b="1">
                <a:latin typeface="맑은 고딕"/>
                <a:ea typeface="맑은 고딕"/>
              </a:rPr>
              <a:t>타깃</a:t>
            </a:r>
            <a:r>
              <a:rPr lang="en-US" altLang="ko-KR" sz="2100" b="1">
                <a:latin typeface="맑은 고딕"/>
                <a:ea typeface="맑은 고딕"/>
              </a:rPr>
              <a:t>,</a:t>
            </a:r>
            <a:r>
              <a:rPr lang="ko-KR" altLang="en-US" sz="2100" b="1">
                <a:latin typeface="맑은 고딕"/>
                <a:ea typeface="맑은 고딕"/>
              </a:rPr>
              <a:t> 서비스 요구사항</a:t>
            </a:r>
            <a:r>
              <a:rPr lang="en-US" altLang="ko-KR" sz="2100" b="1">
                <a:latin typeface="맑은 고딕"/>
                <a:ea typeface="맑은 고딕"/>
              </a:rPr>
              <a:t>,</a:t>
            </a:r>
            <a:r>
              <a:rPr lang="ko-KR" altLang="en-US" sz="2100" b="1">
                <a:latin typeface="맑은 고딕"/>
                <a:ea typeface="맑은 고딕"/>
              </a:rPr>
              <a:t> 일정</a:t>
            </a:r>
            <a:r>
              <a:rPr lang="en-US" altLang="ko-KR" sz="2100" b="1">
                <a:latin typeface="맑은 고딕"/>
                <a:ea typeface="맑은 고딕"/>
              </a:rPr>
              <a:t>,</a:t>
            </a:r>
            <a:r>
              <a:rPr lang="ko-KR" altLang="en-US" sz="2100" b="1">
                <a:latin typeface="맑은 고딕"/>
                <a:ea typeface="맑은 고딕"/>
              </a:rPr>
              <a:t> 리스크 요소를 정의했을 때 가능</a:t>
            </a:r>
            <a:endParaRPr lang="ko-KR" altLang="en-US" sz="2100" b="1">
              <a:latin typeface="맑은 고딕"/>
              <a:ea typeface="맑은 고딕"/>
            </a:endParaRPr>
          </a:p>
          <a:p>
            <a:pPr marL="266700" lvl="0" indent="-306700">
              <a:lnSpc>
                <a:spcPct val="150000"/>
              </a:lnSpc>
              <a:buFont typeface="Wingdings"/>
              <a:buChar char="§"/>
              <a:defRPr/>
            </a:pPr>
            <a:r>
              <a:rPr lang="ko-KR" altLang="en-US" sz="2100">
                <a:latin typeface="맑은 고딕"/>
                <a:ea typeface="맑은 고딕"/>
              </a:rPr>
              <a:t>위의 모든 것은 </a:t>
            </a:r>
            <a:r>
              <a:rPr lang="ko-KR" altLang="en-US" sz="2100" b="1">
                <a:solidFill>
                  <a:srgbClr val="ff0000"/>
                </a:solidFill>
                <a:latin typeface="맑은 고딕"/>
                <a:ea typeface="맑은 고딕"/>
              </a:rPr>
              <a:t>리서치</a:t>
            </a:r>
            <a:r>
              <a:rPr lang="ko-KR" altLang="en-US" sz="2100">
                <a:latin typeface="맑은 고딕"/>
                <a:ea typeface="맑은 고딕"/>
              </a:rPr>
              <a:t>를 통해 수립 가능</a:t>
            </a:r>
            <a:endParaRPr lang="ko-KR" altLang="en-US" sz="2100"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33375" y="182809"/>
            <a:ext cx="8477249" cy="704838"/>
          </a:xfrm>
        </p:spPr>
        <p:txBody>
          <a:bodyPr/>
          <a:p>
            <a:pPr lvl="0">
              <a:defRPr/>
            </a:pPr>
            <a:r>
              <a:rPr lang="en-US" altLang="ko-KR" b="1">
                <a:latin typeface="맑은 고딕"/>
                <a:ea typeface="맑은 고딕"/>
              </a:rPr>
              <a:t>1-1</a:t>
            </a:r>
            <a:r>
              <a:rPr lang="ko-KR" altLang="en-US" b="1">
                <a:latin typeface="맑은 고딕"/>
                <a:ea typeface="맑은 고딕"/>
              </a:rPr>
              <a:t> 효과적 정보 수집을 위한 구분</a:t>
            </a:r>
            <a:endParaRPr lang="ko-KR" altLang="en-US" b="1">
              <a:latin typeface="맑은 고딕"/>
              <a:ea typeface="맑은 고딕"/>
            </a:endParaRPr>
          </a:p>
        </p:txBody>
      </p:sp>
      <p:grpSp>
        <p:nvGrpSpPr>
          <p:cNvPr id="15" name=""/>
          <p:cNvGrpSpPr/>
          <p:nvPr/>
        </p:nvGrpSpPr>
        <p:grpSpPr>
          <a:xfrm rot="0">
            <a:off x="715252" y="1426412"/>
            <a:ext cx="1980966" cy="3447699"/>
            <a:chOff x="715252" y="1426412"/>
            <a:chExt cx="1980966" cy="3447699"/>
          </a:xfrm>
        </p:grpSpPr>
        <p:sp>
          <p:nvSpPr>
            <p:cNvPr id="6" name="오각형 5"/>
            <p:cNvSpPr/>
            <p:nvPr/>
          </p:nvSpPr>
          <p:spPr>
            <a:xfrm rot="16200000">
              <a:off x="358794" y="2536689"/>
              <a:ext cx="2693880" cy="1980966"/>
            </a:xfrm>
            <a:prstGeom prst="homePlate">
              <a:avLst>
                <a:gd name="adj" fmla="val 30078"/>
              </a:avLst>
            </a:prstGeom>
            <a:solidFill>
              <a:srgbClr val="d3d3eb"/>
            </a:solidFill>
            <a:ln w="0"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 sz="1700"/>
            </a:p>
          </p:txBody>
        </p:sp>
        <p:sp>
          <p:nvSpPr>
            <p:cNvPr id="8" name="타원 7"/>
            <p:cNvSpPr/>
            <p:nvPr/>
          </p:nvSpPr>
          <p:spPr>
            <a:xfrm>
              <a:off x="1149837" y="1426412"/>
              <a:ext cx="1092745" cy="1040153"/>
            </a:xfrm>
            <a:prstGeom prst="ellipse">
              <a:avLst/>
            </a:prstGeom>
            <a:solidFill>
              <a:srgbClr val="d3d3eb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 sz="1700"/>
            </a:p>
          </p:txBody>
        </p:sp>
        <p:sp>
          <p:nvSpPr>
            <p:cNvPr id="12" name="가로 글상자 11"/>
            <p:cNvSpPr txBox="1"/>
            <p:nvPr/>
          </p:nvSpPr>
          <p:spPr>
            <a:xfrm>
              <a:off x="1322573" y="1805355"/>
              <a:ext cx="975874" cy="26919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sz="1200" b="1">
                  <a:solidFill>
                    <a:srgbClr val="000000"/>
                  </a:solidFill>
                  <a:latin typeface="맑은 고딕"/>
                  <a:ea typeface="맑은 고딕"/>
                </a:rPr>
                <a:t>비즈니스</a:t>
              </a:r>
              <a:endParaRPr lang="ko-KR" altLang="en-US" sz="12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778770" y="2805492"/>
              <a:ext cx="1834879" cy="1910843"/>
            </a:xfrm>
            <a:prstGeom prst="roundRect">
              <a:avLst>
                <a:gd name="adj" fmla="val 6770"/>
              </a:avLst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 sz="1700"/>
            </a:p>
          </p:txBody>
        </p:sp>
        <p:sp>
          <p:nvSpPr>
            <p:cNvPr id="13" name="가로 글상자 12"/>
            <p:cNvSpPr txBox="1"/>
            <p:nvPr/>
          </p:nvSpPr>
          <p:spPr>
            <a:xfrm>
              <a:off x="807345" y="3045294"/>
              <a:ext cx="1834879" cy="130572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lvl="0" indent="0">
                <a:buFont typeface="Arial"/>
                <a:buNone/>
                <a:defRPr/>
              </a:pP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프로젝트 성공의 정의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?</a:t>
              </a: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257040" lvl="0" indent="-257040">
                <a:buFont typeface="Arial"/>
                <a:buChar char="•"/>
                <a:defRPr/>
              </a:pP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핵심 성과지표는 무엇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?</a:t>
              </a: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257040" lvl="0" indent="-257040">
                <a:buFont typeface="Arial"/>
                <a:buChar char="•"/>
                <a:defRPr/>
              </a:pP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비즈니스적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,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기술적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,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    </a:t>
              </a:r>
              <a:endParaRPr lang="ko-KR" altLang="en-US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 사업적 제약은 없는지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?</a:t>
              </a: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257040" lvl="0" indent="-257040">
                <a:buFont typeface="Arial"/>
                <a:buChar char="•"/>
                <a:defRPr/>
              </a:pP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사업적 기회가 있는지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?</a:t>
              </a: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16" name="그룹 15"/>
          <p:cNvGrpSpPr/>
          <p:nvPr/>
        </p:nvGrpSpPr>
        <p:grpSpPr>
          <a:xfrm rot="0">
            <a:off x="3094047" y="1426412"/>
            <a:ext cx="1980966" cy="3447699"/>
            <a:chOff x="715252" y="1426412"/>
            <a:chExt cx="1980966" cy="3447699"/>
          </a:xfrm>
          <a:solidFill>
            <a:srgbClr val="d8bee4"/>
          </a:solidFill>
        </p:grpSpPr>
        <p:sp>
          <p:nvSpPr>
            <p:cNvPr id="17" name="오각형 5"/>
            <p:cNvSpPr/>
            <p:nvPr/>
          </p:nvSpPr>
          <p:spPr>
            <a:xfrm rot="16200000">
              <a:off x="358794" y="2536689"/>
              <a:ext cx="2693880" cy="1980966"/>
            </a:xfrm>
            <a:prstGeom prst="homePlate">
              <a:avLst>
                <a:gd name="adj" fmla="val 30078"/>
              </a:avLst>
            </a:prstGeom>
            <a:grpFill/>
            <a:ln w="0"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8" name="타원 7"/>
            <p:cNvSpPr/>
            <p:nvPr/>
          </p:nvSpPr>
          <p:spPr>
            <a:xfrm>
              <a:off x="1149837" y="1426412"/>
              <a:ext cx="1092745" cy="10401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9" name="가로 글상자 11"/>
            <p:cNvSpPr txBox="1"/>
            <p:nvPr/>
          </p:nvSpPr>
          <p:spPr>
            <a:xfrm>
              <a:off x="1322572" y="1805355"/>
              <a:ext cx="736289" cy="28824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300" b="1">
                  <a:solidFill>
                    <a:srgbClr val="000000"/>
                  </a:solidFill>
                  <a:latin typeface="맑은 고딕"/>
                  <a:ea typeface="맑은 고딕"/>
                </a:rPr>
                <a:t>경쟁자</a:t>
              </a:r>
              <a:endParaRPr lang="ko-KR" altLang="en-US" sz="13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0" name="모서리가 둥근 직사각형 13"/>
            <p:cNvSpPr/>
            <p:nvPr/>
          </p:nvSpPr>
          <p:spPr>
            <a:xfrm>
              <a:off x="778770" y="2805492"/>
              <a:ext cx="1834879" cy="1910843"/>
            </a:xfrm>
            <a:prstGeom prst="roundRect">
              <a:avLst>
                <a:gd name="adj" fmla="val 67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1" name="가로 글상자 12"/>
            <p:cNvSpPr txBox="1"/>
            <p:nvPr/>
          </p:nvSpPr>
          <p:spPr>
            <a:xfrm>
              <a:off x="826395" y="3045294"/>
              <a:ext cx="1700477" cy="100092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marL="0" lvl="0" indent="0">
                <a:buFont typeface="Arial"/>
                <a:buNone/>
                <a:defRPr/>
              </a:pP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경쟁 서비스에는    </a:t>
              </a:r>
              <a:endParaRPr lang="ko-KR" altLang="en-US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 어떤것이 있는지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?</a:t>
              </a: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257040" lvl="0" indent="-257040">
                <a:buFont typeface="Arial"/>
                <a:buChar char="•"/>
                <a:defRPr/>
              </a:pP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본 서비스가 경쟁사와</a:t>
              </a:r>
              <a:endParaRPr lang="ko-KR" altLang="en-US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 비교했을 때 어떤 점이</a:t>
              </a:r>
              <a:endParaRPr lang="ko-KR" altLang="en-US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 차별점이 되는지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?</a:t>
              </a: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 rot="0">
            <a:off x="5554653" y="1426412"/>
            <a:ext cx="3097085" cy="3447699"/>
            <a:chOff x="715252" y="1426412"/>
            <a:chExt cx="1980966" cy="3447699"/>
          </a:xfrm>
          <a:solidFill>
            <a:srgbClr val="ecd174"/>
          </a:solidFill>
        </p:grpSpPr>
        <p:sp>
          <p:nvSpPr>
            <p:cNvPr id="23" name="오각형 5"/>
            <p:cNvSpPr/>
            <p:nvPr/>
          </p:nvSpPr>
          <p:spPr>
            <a:xfrm rot="16200000">
              <a:off x="358794" y="2536689"/>
              <a:ext cx="2693880" cy="1980966"/>
            </a:xfrm>
            <a:prstGeom prst="homePlate">
              <a:avLst>
                <a:gd name="adj" fmla="val 16918"/>
              </a:avLst>
            </a:prstGeom>
            <a:grpFill/>
            <a:ln w="0"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4" name="타원 7"/>
            <p:cNvSpPr/>
            <p:nvPr/>
          </p:nvSpPr>
          <p:spPr>
            <a:xfrm>
              <a:off x="1344196" y="1426412"/>
              <a:ext cx="644225" cy="10401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5" name="가로 글상자 11"/>
            <p:cNvSpPr txBox="1"/>
            <p:nvPr/>
          </p:nvSpPr>
          <p:spPr>
            <a:xfrm>
              <a:off x="1429387" y="1805354"/>
              <a:ext cx="516139" cy="28824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300" b="1">
                  <a:solidFill>
                    <a:srgbClr val="000000"/>
                  </a:solidFill>
                  <a:latin typeface="맑은 고딕"/>
                  <a:ea typeface="맑은 고딕"/>
                </a:rPr>
                <a:t> 사용자</a:t>
              </a:r>
              <a:endParaRPr lang="ko-KR" altLang="en-US" sz="1300" b="1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6" name="모서리가 둥근 직사각형 13"/>
            <p:cNvSpPr/>
            <p:nvPr/>
          </p:nvSpPr>
          <p:spPr>
            <a:xfrm>
              <a:off x="790954" y="2706153"/>
              <a:ext cx="1834879" cy="2091994"/>
            </a:xfrm>
            <a:prstGeom prst="roundRect">
              <a:avLst>
                <a:gd name="adj" fmla="val 677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7" name="가로 글상자 12"/>
            <p:cNvSpPr txBox="1"/>
            <p:nvPr/>
          </p:nvSpPr>
          <p:spPr>
            <a:xfrm>
              <a:off x="874984" y="2880388"/>
              <a:ext cx="1737700" cy="176590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marL="0" lvl="0" indent="0">
                <a:buFont typeface="Arial"/>
                <a:buNone/>
                <a:defRPr/>
              </a:pP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서비스를 사용하게 될 사용자는 누구이고</a:t>
              </a:r>
              <a:endParaRPr lang="ko-KR" altLang="en-US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 어떤 특성을 가지는지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?</a:t>
              </a: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사용자가 우리 서비스에 관심을 가지는</a:t>
              </a:r>
              <a:endParaRPr lang="ko-KR" altLang="en-US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 이유는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?</a:t>
              </a: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사용자에게 제공하고자 하는 궁극적</a:t>
              </a:r>
              <a:endParaRPr lang="ko-KR" altLang="en-US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 가치는 무엇인지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?</a:t>
              </a: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-</a:t>
              </a: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사용자가 본 서비스 사용 시 어떻게</a:t>
              </a:r>
              <a:endParaRPr lang="ko-KR" altLang="en-US" sz="100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marL="0" lvl="0" indent="0">
                <a:buFont typeface="Arial"/>
                <a:buNone/>
                <a:defRPr/>
              </a:pPr>
              <a:r>
                <a:rPr lang="ko-KR" altLang="en-US" sz="1000">
                  <a:solidFill>
                    <a:srgbClr val="000000"/>
                  </a:solidFill>
                  <a:latin typeface="맑은 고딕"/>
                  <a:ea typeface="맑은 고딕"/>
                </a:rPr>
                <a:t>  행동하기를 바라는지</a:t>
              </a:r>
              <a:r>
                <a:rPr lang="en-US" altLang="ko-KR" sz="1000">
                  <a:solidFill>
                    <a:srgbClr val="000000"/>
                  </a:solidFill>
                  <a:latin typeface="맑은 고딕"/>
                  <a:ea typeface="맑은 고딕"/>
                </a:rPr>
                <a:t>?</a:t>
              </a:r>
              <a:endParaRPr lang="en-US" altLang="ko-KR" sz="1000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</p:grpSp>
    </p:spTree>
  </p:cSld>
  <p:clrMapOvr>
    <a:masterClrMapping/>
  </p:clrMapOvr>
</p:sld>
</file>

<file path=ppt/slides/slide9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333375" y="294234"/>
            <a:ext cx="8477249" cy="704838"/>
          </a:xfrm>
        </p:spPr>
        <p:txBody>
          <a:bodyPr/>
          <a:p>
            <a:pPr lvl="0">
              <a:defRPr/>
            </a:pPr>
            <a:r>
              <a:rPr lang="en-US" altLang="ko-KR"/>
              <a:t>1-1.</a:t>
            </a:r>
            <a:r>
              <a:rPr lang="ko-KR" altLang="en-US"/>
              <a:t>이해관계자 인터뷰</a:t>
            </a:r>
            <a:endParaRPr lang="ko-KR" altLang="en-US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333375" y="1332155"/>
            <a:ext cx="8477249" cy="3387621"/>
          </a:xfrm>
          <a:prstGeom prst="rect">
            <a:avLst/>
          </a:prstGeom>
        </p:spPr>
        <p:txBody>
          <a:bodyPr vert="horz" lIns="91440" tIns="45720" rIns="91440" bIns="45720"/>
          <a:p>
            <a:pPr marL="214200" lvl="0" indent="-214200" algn="l" defTabSz="914400" rtl="0" eaLnBrk="1" latinLnBrk="1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"/>
              <a:buChar char="§"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리서치의 첫단계는 프로젝트 이해관계자 인터뷰부터 시작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sym typeface="Wingdings 3"/>
            </a:endParaRPr>
          </a:p>
          <a:p>
            <a:pPr marL="214200" lvl="0" indent="-214200" algn="l" defTabSz="914400" rtl="0" eaLnBrk="1" latinLnBrk="1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"/>
              <a:buChar char="§"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목표 고객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 해결하고자 하는 문제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 조직과 프로젝트의 목표는 무엇인가</a:t>
            </a:r>
            <a:r>
              <a:rPr xmlns:mc="http://schemas.openxmlformats.org/markup-compatibility/2006" xmlns:hp="http://schemas.haansoft.com/office/presentation/8.0" kumimoji="0" lang="en-US" altLang="ko-KR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?</a:t>
            </a: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 파악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sym typeface="Wingdings 3"/>
            </a:endParaRPr>
          </a:p>
          <a:p>
            <a:pPr marL="214200" lvl="0" indent="-214200" algn="l" defTabSz="914400" rtl="0" eaLnBrk="1" latinLnBrk="1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>
                <a:schemeClr val="bg2">
                  <a:lumMod val="25000"/>
                </a:schemeClr>
              </a:buClr>
              <a:buSzPct val="80000"/>
              <a:buFont typeface="Wingdings"/>
              <a:buChar char="§"/>
              <a:defRPr/>
            </a:pPr>
            <a:r>
              <a: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이해관계자마다 관점이 다르므로 모두 인터뷰를 해봐야 함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sym typeface="Wingdings 3"/>
            </a:endParaRPr>
          </a:p>
          <a:p>
            <a:pPr marL="214200" lvl="0" indent="-21420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요구사항을 효과적으로 수집</a:t>
            </a:r>
            <a:r>
              <a:rPr lang="en-US" altLang="ko-KR" sz="150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,</a:t>
            </a: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 우선순위를 명확히 이해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  <a:sym typeface="Wingdings 3"/>
            </a:endParaRPr>
          </a:p>
          <a:p>
            <a:pPr marL="214200" lvl="0" indent="-21420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이해관계자들과 긍정적 관계 형성</a:t>
            </a:r>
            <a:endParaRPr lang="ko-KR" altLang="en-US" sz="1500">
              <a:solidFill>
                <a:srgbClr val="000000"/>
              </a:solidFill>
              <a:latin typeface="맑은 고딕"/>
              <a:ea typeface="맑은 고딕"/>
              <a:sym typeface="Wingdings 3"/>
            </a:endParaRPr>
          </a:p>
          <a:p>
            <a:pPr marL="214200" lvl="0" indent="-214200">
              <a:lnSpc>
                <a:spcPct val="200000"/>
              </a:lnSpc>
              <a:buFont typeface="Wingdings"/>
              <a:buChar char="§"/>
              <a:defRPr/>
            </a:pPr>
            <a:r>
              <a:rPr lang="ko-KR" altLang="en-US" sz="1500">
                <a:solidFill>
                  <a:srgbClr val="000000"/>
                </a:solidFill>
                <a:latin typeface="맑은 고딕"/>
                <a:ea typeface="맑은 고딕"/>
                <a:sym typeface="Wingdings 3"/>
              </a:rPr>
              <a:t>이해관계자간 대립 발생시 중재 가능</a:t>
            </a:r>
            <a:endParaRPr xmlns:mc="http://schemas.openxmlformats.org/markup-compatibility/2006" xmlns:hp="http://schemas.haansoft.com/office/presentation/8.0" kumimoji="0" lang="ko-KR" altLang="en-US" sz="15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sym typeface="Wingdings 3"/>
            </a:endParaRPr>
          </a:p>
        </p:txBody>
      </p:sp>
    </p:spTree>
  </p:cSld>
  <p:clrMapOvr>
    <a:masterClrMapping/>
  </p:clrMapOvr>
</p:sld>
</file>

<file path=ppt/slides/slide9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1-1</a:t>
            </a:r>
            <a:r>
              <a:rPr lang="ko-KR" altLang="en-US"/>
              <a:t> 이해관계자 인터뷰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/>
              <a:t>어떤 문제를 해결하려고 하나요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사용자는 누구인가요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사용자는 왜 불편을 느끼고 무엇을 필요로 하나요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사용자는 이 문제를 어떤 식으로 해결하고 있나요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문제를 해결하는 데 가장 큰 장애물은 무엇인가요</a:t>
            </a:r>
            <a:r>
              <a:rPr lang="en-US" altLang="ko-KR"/>
              <a:t>?</a:t>
            </a:r>
            <a:endParaRPr lang="en-US" altLang="ko-KR"/>
          </a:p>
        </p:txBody>
      </p:sp>
    </p:spTree>
  </p:cSld>
  <p:clrMapOvr>
    <a:masterClrMapping/>
  </p:clrMapOvr>
</p:sld>
</file>

<file path=ppt/slides/slide9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1-2</a:t>
            </a:r>
            <a:r>
              <a:rPr lang="ko-KR" altLang="en-US"/>
              <a:t> 데스크 리서치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서비스와 관련된 트랜드</a:t>
            </a:r>
            <a:r>
              <a:rPr lang="en-US" altLang="ko-KR"/>
              <a:t>,</a:t>
            </a:r>
            <a:r>
              <a:rPr lang="ko-KR" altLang="en-US"/>
              <a:t> 시장과 같은 외부 상황과 조직 내부 상황등 전체적인 맥락을 파악하고 분석하는 조사</a:t>
            </a:r>
            <a:endParaRPr lang="ko-KR" altLang="en-US"/>
          </a:p>
        </p:txBody>
      </p:sp>
    </p:spTree>
  </p:cSld>
  <p:clrMapOvr>
    <a:masterClrMapping/>
  </p:clrMapOvr>
</p:sld>
</file>

<file path=ppt/slides/slide9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1-2-1</a:t>
            </a:r>
            <a:r>
              <a:rPr lang="ko-KR" altLang="en-US"/>
              <a:t> 시장 흐름 살펴보기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sns, </a:t>
            </a:r>
            <a:r>
              <a:rPr lang="ko-KR" altLang="en-US"/>
              <a:t>사용자</a:t>
            </a:r>
            <a:r>
              <a:rPr lang="en-US" altLang="ko-KR"/>
              <a:t> </a:t>
            </a:r>
            <a:r>
              <a:rPr lang="ko-KR" altLang="en-US"/>
              <a:t>리뷰</a:t>
            </a:r>
            <a:r>
              <a:rPr lang="en-US" altLang="ko-KR"/>
              <a:t>,</a:t>
            </a:r>
            <a:r>
              <a:rPr lang="ko-KR" altLang="en-US"/>
              <a:t> 앱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0" y="1278355"/>
            <a:ext cx="4193096" cy="38651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3848" y="909405"/>
            <a:ext cx="4248151" cy="4234094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1-2-2</a:t>
            </a:r>
            <a:r>
              <a:rPr lang="ko-KR" altLang="en-US"/>
              <a:t> 포지셔닝맵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cxnSp>
        <p:nvCxnSpPr>
          <p:cNvPr id="4" name="선 3"/>
          <p:cNvCxnSpPr/>
          <p:nvPr/>
        </p:nvCxnSpPr>
        <p:spPr>
          <a:xfrm>
            <a:off x="969543" y="2734678"/>
            <a:ext cx="74030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선 4"/>
          <p:cNvCxnSpPr/>
          <p:nvPr/>
        </p:nvCxnSpPr>
        <p:spPr>
          <a:xfrm rot="16200000">
            <a:off x="2641463" y="2827302"/>
            <a:ext cx="40592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가로 글상자 5"/>
          <p:cNvSpPr txBox="1"/>
          <p:nvPr/>
        </p:nvSpPr>
        <p:spPr>
          <a:xfrm>
            <a:off x="130808" y="2416543"/>
            <a:ext cx="838735" cy="636270"/>
          </a:xfrm>
          <a:prstGeom prst="rect">
            <a:avLst/>
          </a:prstGeom>
        </p:spPr>
        <p:txBody>
          <a:bodyPr wrap="none">
            <a:spAutoFit/>
          </a:bodyPr>
          <a:p>
            <a:pPr lvl="0" algn="ctr">
              <a:defRPr/>
            </a:pPr>
            <a:r>
              <a:rPr lang="ko-KR" altLang="en-US"/>
              <a:t>사용성</a:t>
            </a:r>
            <a:endParaRPr lang="ko-KR" altLang="en-US"/>
          </a:p>
          <a:p>
            <a:pPr lvl="0" algn="ctr">
              <a:defRPr/>
            </a:pPr>
            <a:r>
              <a:rPr lang="ko-KR" altLang="en-US"/>
              <a:t>속도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4161406" y="159013"/>
            <a:ext cx="1019341" cy="639182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/>
              <a:t>서비스 통합도</a:t>
            </a:r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31676" y="798195"/>
            <a:ext cx="659027" cy="65902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331676" y="3330549"/>
            <a:ext cx="587573" cy="58757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811163" y="3132326"/>
            <a:ext cx="396445" cy="39644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485635" y="3665194"/>
            <a:ext cx="505855" cy="50585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69543" y="4244225"/>
            <a:ext cx="612690" cy="61269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832919" y="4171050"/>
            <a:ext cx="592930" cy="59293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473170" y="4244225"/>
            <a:ext cx="675985" cy="67598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1-2-3</a:t>
            </a:r>
            <a:r>
              <a:rPr lang="ko-KR" altLang="en-US"/>
              <a:t> 경쟁분석</a:t>
            </a:r>
            <a:endParaRPr lang="ko-KR" altLang="en-US"/>
          </a:p>
        </p:txBody>
      </p:sp>
      <p:graphicFrame>
        <p:nvGraphicFramePr>
          <p:cNvPr id="5" name="표 4"/>
          <p:cNvGraphicFramePr/>
          <p:nvPr/>
        </p:nvGraphicFramePr>
        <p:xfrm>
          <a:off x="336887" y="929312"/>
          <a:ext cx="8470224" cy="3882544"/>
        </p:xfrm>
        <a:graphic>
          <a:graphicData uri="http://schemas.openxmlformats.org/drawingml/2006/table">
            <a:tbl>
              <a:tblPr firstRow="1" bandRow="1"/>
              <a:tblGrid>
                <a:gridCol w="2034402"/>
                <a:gridCol w="919403"/>
                <a:gridCol w="919403"/>
                <a:gridCol w="919403"/>
                <a:gridCol w="919403"/>
                <a:gridCol w="919403"/>
                <a:gridCol w="919403"/>
                <a:gridCol w="919403"/>
              </a:tblGrid>
              <a:tr h="777752">
                <a:tc>
                  <a:txBody>
                    <a:bodyPr vert="horz" lIns="91440" tIns="45720" rIns="91440" bIns="45720" anchor="t" anchorCtr="0"/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blipFill rotWithShape="1">
                      <a:blip r:embed="rId2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blipFill rotWithShape="1">
                      <a:blip r:embed="rId3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blipFill rotWithShape="1">
                      <a:blip r:embed="rId4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blipFill rotWithShape="1">
                      <a:blip r:embed="rId5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blipFill rotWithShape="1">
                      <a:blip r:embed="rId6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blipFill rotWithShape="1">
                      <a:blip r:embed="rId7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blipFill rotWithShape="1">
                      <a:blip r:embed="rId8">
                        <a:alphaModFix/>
                        <a:lum/>
                      </a:blip>
                      <a:srcRect/>
                      <a:stretch>
                        <a:fillRect/>
                      </a:stretch>
                    </a:blipFill>
                  </a:tcPr>
                </a:tc>
              </a:tr>
              <a:tr h="443541">
                <a:tc>
                  <a:txBody>
                    <a:bodyPr vert="horz" lIns="91440" tIns="45720" rIns="91440" bIns="45720" anchor="ctr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고딕"/>
                          <a:ea typeface="나눔고딕"/>
                        </a:rPr>
                        <a:t>접속 인증 방식</a:t>
                      </a:r>
                      <a:endParaRPr xmlns:mc="http://schemas.openxmlformats.org/markup-compatibility/2006" xmlns:hp="http://schemas.haansoft.com/office/presentation/8.0" b="1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4.56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4.55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4.22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4.24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4.21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4.18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4.11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43541">
                <a:tc>
                  <a:txBody>
                    <a:bodyPr vert="horz" lIns="91440" tIns="45720" rIns="91440" bIns="45720" anchor="ctr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고딕"/>
                          <a:ea typeface="나눔고딕"/>
                        </a:rPr>
                        <a:t>화면구성</a:t>
                      </a:r>
                      <a:endParaRPr xmlns:mc="http://schemas.openxmlformats.org/markup-compatibility/2006" xmlns:hp="http://schemas.haansoft.com/office/presentation/8.0" b="1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4.39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4.44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3.92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4.02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3.9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3.95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3.95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43541">
                <a:tc>
                  <a:txBody>
                    <a:bodyPr vert="horz" lIns="91440" tIns="45720" rIns="91440" bIns="45720" anchor="ctr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고딕"/>
                          <a:ea typeface="나눔고딕"/>
                        </a:rPr>
                        <a:t>비대면 금융거래</a:t>
                      </a:r>
                      <a:endParaRPr xmlns:mc="http://schemas.openxmlformats.org/markup-compatibility/2006" xmlns:hp="http://schemas.haansoft.com/office/presentation/8.0" b="1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4.41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4.31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3.92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3.99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3.79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3.82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3.74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43541">
                <a:tc>
                  <a:txBody>
                    <a:bodyPr vert="horz" lIns="91440" tIns="45720" rIns="91440" bIns="45720" anchor="ctr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고딕"/>
                          <a:ea typeface="나눔고딕"/>
                        </a:rPr>
                        <a:t>상품 찾기</a:t>
                      </a:r>
                      <a:endParaRPr xmlns:mc="http://schemas.openxmlformats.org/markup-compatibility/2006" xmlns:hp="http://schemas.haansoft.com/office/presentation/8.0" b="1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4.17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4.06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3.61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3.66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3.75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3.61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3.61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43541">
                <a:tc>
                  <a:txBody>
                    <a:bodyPr vert="horz" lIns="91440" tIns="45720" rIns="91440" bIns="45720" anchor="ctr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고딕"/>
                          <a:ea typeface="나눔고딕"/>
                        </a:rPr>
                        <a:t>이벤트 및 혜택</a:t>
                      </a:r>
                      <a:endParaRPr xmlns:mc="http://schemas.openxmlformats.org/markup-compatibility/2006" xmlns:hp="http://schemas.haansoft.com/office/presentation/8.0" b="1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4.33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3.8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3.44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3.34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3.42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3.21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3.17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43541">
                <a:tc>
                  <a:txBody>
                    <a:bodyPr vert="horz" lIns="91440" tIns="45720" rIns="91440" bIns="45720" anchor="ctr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고딕"/>
                          <a:ea typeface="나눔고딕"/>
                        </a:rPr>
                        <a:t>실행 속도</a:t>
                      </a:r>
                      <a:endParaRPr xmlns:mc="http://schemas.openxmlformats.org/markup-compatibility/2006" xmlns:hp="http://schemas.haansoft.com/office/presentation/8.0" b="1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4.35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4.28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3.93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3.7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3.83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3.73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3.85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43541">
                <a:tc>
                  <a:txBody>
                    <a:bodyPr vert="horz" lIns="91440" tIns="45720" rIns="91440" bIns="45720" anchor="ctr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b="1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나눔고딕"/>
                          <a:ea typeface="나눔고딕"/>
                        </a:rPr>
                        <a:t>자산관리</a:t>
                      </a:r>
                      <a:endParaRPr xmlns:mc="http://schemas.openxmlformats.org/markup-compatibility/2006" xmlns:hp="http://schemas.haansoft.com/office/presentation/8.0" b="1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나눔고딕"/>
                        <a:ea typeface="나눔고딕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4.25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3.8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3.72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3.65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3.58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3.58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vl="0" algn="ctr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3.61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가로 글상자 5"/>
          <p:cNvSpPr txBox="1"/>
          <p:nvPr/>
        </p:nvSpPr>
        <p:spPr>
          <a:xfrm>
            <a:off x="3550652" y="4855911"/>
            <a:ext cx="5342185" cy="28568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1300"/>
              <a:t>출처</a:t>
            </a:r>
            <a:r>
              <a:rPr lang="en-US" altLang="ko-KR" sz="1300"/>
              <a:t>:</a:t>
            </a:r>
            <a:r>
              <a:rPr lang="ko-KR" altLang="en-US" sz="1300"/>
              <a:t> </a:t>
            </a:r>
            <a:r>
              <a:rPr lang="en-US" altLang="ko-KR" sz="1300">
                <a:hlinkClick r:id="rId9"/>
              </a:rPr>
              <a:t>https://magazine.hankyung.com/business/article/202404049163b</a:t>
            </a:r>
            <a:endParaRPr lang="en-US" altLang="ko-KR" sz="1300"/>
          </a:p>
        </p:txBody>
      </p:sp>
    </p:spTree>
    <p:extLst>
      <p:ext uri="{BB962C8B-B14F-4D97-AF65-F5344CB8AC3E}">
        <p14:creationId xmlns:p14="http://schemas.microsoft.com/office/powerpoint/2010/main" val="340290570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교차">
  <a:themeElements>
    <a:clrScheme name="교차">
      <a:dk1>
        <a:srgbClr val="264c72"/>
      </a:dk1>
      <a:lt1>
        <a:srgbClr val="ffffff"/>
      </a:lt1>
      <a:dk2>
        <a:srgbClr val="347775"/>
      </a:dk2>
      <a:lt2>
        <a:srgbClr val="d7d7d7"/>
      </a:lt2>
      <a:accent1>
        <a:srgbClr val="63a6a4"/>
      </a:accent1>
      <a:accent2>
        <a:srgbClr val="323232"/>
      </a:accent2>
      <a:accent3>
        <a:srgbClr val="9d9c9c"/>
      </a:accent3>
      <a:accent4>
        <a:srgbClr val="c1c0c0"/>
      </a:accent4>
      <a:accent5>
        <a:srgbClr val="e5e4e4"/>
      </a:accent5>
      <a:accent6>
        <a:srgbClr val="716340"/>
      </a:accent6>
      <a:hlink>
        <a:srgbClr val="4a45ff"/>
      </a:hlink>
      <a:folHlink>
        <a:srgbClr val="be27bb"/>
      </a:folHlink>
    </a:clrScheme>
    <a:fontScheme name="교차">
      <a:majorFont>
        <a:latin typeface="Arial"/>
        <a:ea typeface=""/>
        <a:cs typeface=""/>
        <a:font script="Jpan" typeface="MS PGothic"/>
        <a:font script="Hang" typeface="한컴 윤고딕 24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MS PGothic"/>
        <a:font script="Hang" typeface="한컴 윤고딕 230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교차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path path="rect">
            <a:fillToRect l="100000" t="100000" r="100000" b="100000"/>
          </a:path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reflection blurRad="12700" stA="26000" endPos="28000" dist="381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hueMod val="100000"/>
                <a:satMod val="100000"/>
              </a:schemeClr>
            </a:gs>
            <a:gs pos="100000">
              <a:schemeClr val="phClr">
                <a:shade val="30000"/>
                <a:satMod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atMod val="100000"/>
              </a:schemeClr>
            </a:gs>
            <a:gs pos="100000">
              <a:schemeClr val="phClr">
                <a:shade val="50000"/>
                <a:satMod val="7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2997</ep:Words>
  <ep:PresentationFormat>화면 슬라이드 쇼(16:9)</ep:PresentationFormat>
  <ep:Paragraphs>624</ep:Paragraphs>
  <ep:Slides>96</ep:Slides>
  <ep:Notes>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96</vt:i4>
      </vt:variant>
    </vt:vector>
  </ep:HeadingPairs>
  <ep:TitlesOfParts>
    <vt:vector size="97" baseType="lpstr">
      <vt:lpstr>교차</vt:lpstr>
      <vt:lpstr>핀테크 서비스 기획  - PM 역할과 전략</vt:lpstr>
      <vt:lpstr>사용자 중심 기획</vt:lpstr>
      <vt:lpstr>1. 핀테크 PM의 역할</vt:lpstr>
      <vt:lpstr>슬라이드 4</vt:lpstr>
      <vt:lpstr>슬라이드 5</vt:lpstr>
      <vt:lpstr>2-2. 데이터 모델링 / 피처 기획</vt:lpstr>
      <vt:lpstr>2-3. 와이어프레임 (Wireframe)</vt:lpstr>
      <vt:lpstr>슬라이드 8</vt:lpstr>
      <vt:lpstr>슬라이드 9</vt:lpstr>
      <vt:lpstr>2-6. 백오피스 기획</vt:lpstr>
      <vt:lpstr>슬라이드 11</vt:lpstr>
      <vt:lpstr>슬라이드 12</vt:lpstr>
      <vt:lpstr>3. 핀테크 PM의 협업 구조</vt:lpstr>
      <vt:lpstr>4. 핀테크 서비스 기획: 사용자 이해</vt:lpstr>
      <vt:lpstr>4-1. 프로덕트 핏 (Product Fit)</vt:lpstr>
      <vt:lpstr>4-1. 프로덕트 핏 (Product Fit)</vt:lpstr>
      <vt:lpstr>4-2. 마켓 핏 (Market Fit)</vt:lpstr>
      <vt:lpstr>4-2. 마켓 핏 (Market Fit)</vt:lpstr>
      <vt:lpstr>4-3. 실패 이유: 시장 부적합</vt:lpstr>
      <vt:lpstr>4-4. 사용자 니즈 파악법</vt:lpstr>
      <vt:lpstr>4-5. 사용자 관찰의 5가지 요소</vt:lpstr>
      <vt:lpstr>4-6. 실사례: 팬심 기반 피처 설계</vt:lpstr>
      <vt:lpstr>4-7. 사용자 경험 라이브러리 구축</vt:lpstr>
      <vt:lpstr>슬라이드 24</vt:lpstr>
      <vt:lpstr>4-9. 문제 해결 도구: 더블 다이아몬드 모델</vt:lpstr>
      <vt:lpstr>슬라이드 26</vt:lpstr>
      <vt:lpstr>4-10. 사용자 중심 사고의 중요성</vt:lpstr>
      <vt:lpstr>문제 해결을 위한        생각 도구들</vt:lpstr>
      <vt:lpstr>1. 5 Whys</vt:lpstr>
      <vt:lpstr>1. 5 Whys</vt:lpstr>
      <vt:lpstr>Toss가 제시한 해결책</vt:lpstr>
      <vt:lpstr>2. 2x2 매트릭스</vt:lpstr>
      <vt:lpstr>2. 2x2 매트릭스(피처크립 대응하기)</vt:lpstr>
      <vt:lpstr>2. 2x2 매트릭스(관리자로서 권한 위임하기)</vt:lpstr>
      <vt:lpstr>3. 골든 서클 (Golden Circle)</vt:lpstr>
      <vt:lpstr>3. 토스 골든 서클</vt:lpstr>
      <vt:lpstr>3. 애플(APPLE)의 골든 서클</vt:lpstr>
      <vt:lpstr>서비스 기획을 위한 실무용어</vt:lpstr>
      <vt:lpstr>1. 실무 용어 정리</vt:lpstr>
      <vt:lpstr>1. 실무 용어 정리</vt:lpstr>
      <vt:lpstr>1. 실무 용어 정리</vt:lpstr>
      <vt:lpstr>1-1. CTA (Call To Action)</vt:lpstr>
      <vt:lpstr>슬라이드 43</vt:lpstr>
      <vt:lpstr>1-2. IA (Information Architecture)</vt:lpstr>
      <vt:lpstr>슬라이드 45</vt:lpstr>
      <vt:lpstr>1-3. UGC (User Generated Content)</vt:lpstr>
      <vt:lpstr>1-4. VOC (Voice of Customer)</vt:lpstr>
      <vt:lpstr>슬라이드 48</vt:lpstr>
      <vt:lpstr>1-5. 사용성 (Usability)</vt:lpstr>
      <vt:lpstr>슬라이드 50</vt:lpstr>
      <vt:lpstr>1-6. 스토리보드 (Storyboard)</vt:lpstr>
      <vt:lpstr>슬라이드 52</vt:lpstr>
      <vt:lpstr>1-7. 어포던스 (Affordance)</vt:lpstr>
      <vt:lpstr>슬라이드 54</vt:lpstr>
      <vt:lpstr>1-8. 와이어프레임(Wireframe)</vt:lpstr>
      <vt:lpstr>1-8. 와이어프레임(Wireframe)</vt:lpstr>
      <vt:lpstr>슬라이드 57</vt:lpstr>
      <vt:lpstr>1-8. 와이어프레임과 스토리보드의 차이</vt:lpstr>
      <vt:lpstr>1-9. 피델리티 (Fidelity)</vt:lpstr>
      <vt:lpstr>슬라이드 60</vt:lpstr>
      <vt:lpstr>1-10. 피처 (Feature)</vt:lpstr>
      <vt:lpstr>슬라이드 62</vt:lpstr>
      <vt:lpstr>1-11. 피저빌리티 (Feasibility)</vt:lpstr>
      <vt:lpstr>5-12. 프로토타입 (Prototype)</vt:lpstr>
      <vt:lpstr>슬라이드 65</vt:lpstr>
      <vt:lpstr>슬라이드 66</vt:lpstr>
      <vt:lpstr>개발 방법론</vt:lpstr>
      <vt:lpstr>1. 워터폴(waterfall)</vt:lpstr>
      <vt:lpstr>2. 애자일(Agile)</vt:lpstr>
      <vt:lpstr>3. 워터폴 vs 애자일</vt:lpstr>
      <vt:lpstr>4. 워터폴 vs 애자일</vt:lpstr>
      <vt:lpstr>5. 스크럼(Scrum)</vt:lpstr>
      <vt:lpstr>5. 스크럼(Scrum)</vt:lpstr>
      <vt:lpstr>슬라이드 74</vt:lpstr>
      <vt:lpstr>슬라이드 75</vt:lpstr>
      <vt:lpstr>6. 워터폴 vs 애자일</vt:lpstr>
      <vt:lpstr>6. 칸반(애자일의 할 일 관리 기법)</vt:lpstr>
      <vt:lpstr>7. 린 스타트업과 MVP</vt:lpstr>
      <vt:lpstr>8. 린 스타트업의 필요성</vt:lpstr>
      <vt:lpstr>9-1. 성공한 MVP 사례</vt:lpstr>
      <vt:lpstr>9-2. 성공한 MVP 사례</vt:lpstr>
      <vt:lpstr>1. MVT(Minimum Viable Testing) : 최소 기능 검증 확인  2. 프로덕트 마켓 핏(Product Market Fit) 확인  - 기술 발전력이 끊임없이 변화하고 있고 속도도 너무 빠르므로    가상의 물건을 소비자에게 꼭 팔아봐야 한다  - 실제 팔아봐야 개발할 때 어떤 방식으로 개발을 최적화 할 수 있을지 알 수 있다  - 상상과 현실의 갭이 줄어들어 보다 현실적인 앱을 개발할 수 있다</vt:lpstr>
      <vt:lpstr>1. 고객의 필요성  : 내가 원하는 서비스인지 고객이 원하는 서비스인지 명확히 해야 비전을 제대로 세울 수 있다.    2. 기술적 실현성 여부 혁신을 잊어서는 안되지만 현실성도 반영해야 한다.  3. 마케팅 누가 사고 어떻게 어디서 판매해야 하는지 꼭 확인해야 한다.  4. 시장 규모 : 시장에 없는 서비스라면 그럴만한 이유가 있다.  5. 수익성 :고객이 실제 비용을 지불할 의사가 있는지 꼭 확인해야 한다.</vt:lpstr>
      <vt:lpstr>슬라이드 84</vt:lpstr>
      <vt:lpstr>슬라이드 85</vt:lpstr>
      <vt:lpstr>슬라이드 86</vt:lpstr>
      <vt:lpstr>1. 고객의 니즈를 담은 프로덕트핏 인사이트를 무시하고 개발사의 비전만을 중시한 것  2. 고객의 피드백을 지나치게 반영할 때  3. 마켓 핏 찾기 전 이미 조직이 불필요하게 커졌을 때  4. 제품의 최소 가치 기능(최소 핵심 기능) 외 다른 부가적 요소가 커졌을 때  5. MVP 개발 시 과한 기술 부채(기존에 사용된 코드)가 많아 차라리 다시 만드는게 더 빠를 때</vt:lpstr>
      <vt:lpstr>성공하는 서비스를 위한  리서치</vt:lpstr>
      <vt:lpstr>1. 비즈니스 목표와 시장 이해하기</vt:lpstr>
      <vt:lpstr>1-1 효과적 정보 수집을 위한 구분</vt:lpstr>
      <vt:lpstr>1-1.이해관계자 인터뷰</vt:lpstr>
      <vt:lpstr>1-1 이해관계자 인터뷰</vt:lpstr>
      <vt:lpstr>1-2 데스크 리서치</vt:lpstr>
      <vt:lpstr>1-2-1 시장 흐름 살펴보기</vt:lpstr>
      <vt:lpstr>1-2-2 포지셔닝맵</vt:lpstr>
      <vt:lpstr>1-2-3 경쟁분석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haram</cp:lastModifiedBy>
  <dcterms:modified xsi:type="dcterms:W3CDTF">2026-03-31T02:43:24.436</dcterms:modified>
  <cp:revision>343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